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28"/>
    <p:sldId id="261" r:id="rId6"/>
    <p:sldId id="262" r:id="rId7"/>
    <p:sldId id="263" r:id="rId8"/>
    <p:sldId id="264" r:id="rId9"/>
    <p:sldId id="265" r:id="rId10"/>
    <p:sldId id="266" r:id="rId11"/>
    <p:sldId id="267" r:id="rId12"/>
    <p:sldId id="268" r:id="rId13"/>
    <p:sldId id="269" r:id="rId14"/>
    <p:sldId id="270" r:id="rId15"/>
    <p:sldId id="271" r:id="rId29"/>
    <p:sldId id="272" r:id="rId16"/>
    <p:sldId id="273" r:id="rId17"/>
    <p:sldId id="274" r:id="rId30"/>
    <p:sldId id="275" r:id="rId18"/>
    <p:sldId id="276" r:id="rId19"/>
    <p:sldId id="277" r:id="rId20"/>
    <p:sldId id="278" r:id="rId21"/>
    <p:sldId id="279" r:id="rId31"/>
    <p:sldId id="280"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52"/>
    <p:restoredTop sz="94610"/>
  </p:normalViewPr>
  <p:slideViewPr>
    <p:cSldViewPr snapToGrid="0" snapToObjects="1">
      <p:cViewPr varScale="1">
        <p:scale>
          <a:sx n="119" d="100"/>
          <a:sy n="119" d="100"/>
        </p:scale>
        <p:origin x="216"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  <Relationship Id="rId28" Type="http://schemas.openxmlformats.org/officeDocument/2006/relationships/slide" Target="slides/slide22.xml"/>
  <Relationship Id="rId29" Type="http://schemas.openxmlformats.org/officeDocument/2006/relationships/slide" Target="slides/slide23.xml"/>
  <Relationship Id="rId30" Type="http://schemas.openxmlformats.org/officeDocument/2006/relationships/slide" Target="slides/slide24.xml"/>
  <Relationship Id="rId31" Type="http://schemas.openxmlformats.org/officeDocument/2006/relationships/slide" Target="slides/slide25.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0501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one-sentence framing: SAP handed MSITEK two Customer Checkout spreadsheets from the unstaffed Walldorf campus store and asked what could be built. In ~2 weeks we produced a working, HANA-deployed retail AI application with six scenarios. This is a company deliverable — the MSITEK cover and tagline "Enabling the Intelligent Enterprise" set that frame. Keep the open to 30 seconds; the story is the hook.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to make one point unmistakable to Gopi: we consumed the S-Mart data SAP handed us, we did not go build something adjacent. Say it plainly — "we took your S-Mart export and built directly on it." The reconciliation-to-the-cent is the credibility anchor: it proves we did not lose or fudge a single row. The provenance fields matter because when someone asks "is this number real or made up?", the app answers on screen.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one-line version to say out loud: the SAP export tells you what was SOLD; enrichment adds what the thing IS — cost, shelf life, whether it can be tagged, who supplies it. Point at the two boxes: 13 columns of money that already moved (backward-looking accounting) becomes 15 columns an engine can reason forward with. Then the key point using the four cards: each field we added switches ON a scenario — no unitCost means no margin and no markdown; no shelfLifeDays means Fresh Waste Guard literally cannot exist; no isRfidTagged means the integrity engine can’t tell a gate misread from an untaggable item like the Leergut deposit. Close on honesty: three kinds of enrichment with different credibility, and every article carries isFromSapExport so you can answer “did you make this up?” row by row. This is also the manual version of what SAP BDC does at enterprise scale.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Audience is Gopi (SAP India solutioning lead) — if he likes it, he puts us in front of live retail customers. So this whole session is the "would I show this to AEON?" test. Flow: open with a quick look at the earlier baseline version (~5 min), then move into our solution. Half the remaining time is the live app. Underline early that we built on the S-Mart data SAP gave us. Hold questions to the walkthrough and roadmap where possible.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emotional core of the pitch. Land it slowly: half the value of sales was voided. In a staffed store that is noise; in an unstaffed store it is the whole risk surface. We built the Checkout Integrity scenario around this gap first, and the other five fill out the picture. Everything downstream traces back to this one number.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of the whole system in one slide. Do not read every card — point to the pipeline (left) and say everything flows left to right: SAP export in, dashboards and HANA out. The one line to stress: the scenario engines are shared between the build pipeline and the running service, so seeded data and a live re-run can never disagree. Move quickly; the live app is where you spend real time.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emphasise. First: no hand-written SQL and no HANA-specific artifacts, so the identical CDS model runs on SQLite locally and HANA in production — and we proved it, it compiled with zero warnings. Second: the engines are pure functions with no database dependency, which is why they are unit-testable in milliseconds and why the pipeline and the live recalculate share one codebase. This is the credibility slide for the technical audience.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narrate all eight. Say: six scenarios plus cold chain, and a feed that collapses them into one queue a store manager actually reads — ranked by euros at stake weighted by how much the model trusts its own call. Checkout Integrity is the headline because it is the one the data demanded. You will show three or four of these live, so keep this slide short.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here. If connectivity is uncertain, lead with the self-contained Command Centre and Workbench — they render with no internet. Keep the Fiori elements apps for last and only if ui5.sap.com is reachable. The demo script is on the next slide as your safety net; you should not need to look at it, but it is there.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fallback if you lose your place. The single most powerful moment is step 3 — reading the evidence string on the top alert: "cancelled value implies €31.80/unit but master price is €0.99 (factor 32)." That one sentence shows the system reasoning, not just listing. If time is tight, do steps 1, 3 and 5 only.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a business audience lean in. The value of an anomaly engine is not that it shouts, but that it classifies correctly — it distinguished a pricing/master-data error from theft and told you exactly what to do about it. This is the top-ranked insight in the whole feed and it is genuinely in the SAP export.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lesson here is the value of the join, not the alert. Looking at the cancellation report alone tells you nothing actionable. Joining it to the article master and the terminal master turns "cancelled a lot" into a diagnosis you can take to operations. This is also a natural bridge to the roadmap: harmonised data is what makes findings like this possible — which is exactly the BDC argument.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credibility: this is not a slideware claim, the database is actually on HANA Cloud and we ran the app against it. Then show intellectual honesty with the efficiency finding — we measured a real bottleneck and we know the fix. Auditors and architects trust teams that report their own performance gaps. Instance is s-mart-hanadb, AWS US East.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in the room knows forecasting, this slide earns their respect. The headline is store-day WAPE of 28.8%, which is planning-grade. We deliberately do NOT lead with a flattering SKU-hour number. The two-bugs story shows we stress-tested our own measurement. WAPE not MAPE because demand is intermittent — most hours sell nothing.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into the forward-looking half. This directly answers the follow-up email: connect BTP and BDC, position under SAP’s Autonomous ERP narrative, and add a mobile surface. Frame the next three slides as one consolidated proposal, not three separate asks.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written straight from the follow-up email — use their language: "harmonise the SAP and non-SAP landscape", "Data Products on BDC", "Databricks ML sold in conjunction with BDC". The concrete, ownable next step is the box on the right of the flow: our six scenarios already take arrays, so repointing them from a seeded extract to BDC data products is a contained change, not a rewrite. That is the demo-able BDC story.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your manager specifically asked for — innovative ideas, with automatic replenishment named first. Frame it as a progression: we already SHIPPED autonomous replenishment as a proposal engine; the leap is letting it act within guardrails. The auto-block idea is powerful because it solves a problem THIS demo already surfaced (Leergut deposits, the banana-chips price error) — that shows we do not just detect, we close the loop. The copilot ties us to SAP Autonomous ERP / Joule, which is exactly what Vishal’s org is selling. Keep it to these three; offer dynamic pricing verbally if asked.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light and confident — it is a direction, not a committed build. The strongest point: the insight feed is already a phone-shaped, ranked list with inline actions, and the self-contained screens already run offline, which suits a back-of-store environment with a weak signal. The mock on the right is illustrative. We are not rebuilding; we are reflowing and putting a thin mobile client on the same OData services.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a clear recommendation, not a menu. Option C: keep the Fiori elements apps for BTP where variant management and personalisation come for free, and build self-contained equivalents for offline demos — the launchpad already distinguishes the two, so it is mostly additive. If time or budget is tight, Option B alone is defensible. Option A only if connectivity is guaranteed. This is a genuine ask — get a decision in the room.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working session with owned, concrete actions split into "this fortnight" and "the bigger BTP+BDC proposal". The near-term column is what you personally can move on immediately. The far column is the joint MSITEK–SAP proposal that ties the demo to the Autonomous ERP and BDC narrative. End by asking for the Fiori decision and agreement to scope the BDC slice.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three-part promise: real SAP data, honest models, actually deployed. This is the MSITEK corporate close — logo, "Thank you", and the info@msitekus.com contact matching the company template. Invite questions; keep the findings slides (9, 10) and accuracy (12) ready to jump back to.</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2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0.png"/><Relationship Id="rId7"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7.png"/><Relationship Id="rId11" Type="http://schemas.openxmlformats.org/officeDocument/2006/relationships/image" Target="../media/image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7.png"/><Relationship Id="rId7"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0.png"/><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20.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45.jpg"/></Relationships>
</file>

<file path=ppt/slides/_rels/slide2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png"/></Relationships>
</file>

<file path=ppt/slides/_rels/slide2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png"/></Relationships>
</file>

<file path=ppt/slides/_rels/slide2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png"/></Relationships>
</file>

<file path=ppt/slides/_rels/slide2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B32"/>
        </a:solidFill>
        <a:effectLst/>
      </p:bgPr>
    </p:bg>
    <p:spTree>
      <p:nvGrpSpPr>
        <p:cNvPr id="1" name=""/>
        <p:cNvGrpSpPr/>
        <p:nvPr/>
      </p:nvGrpSpPr>
      <p:grpSpPr>
        <a:xfrm>
          <a:off x="0" y="0"/>
          <a:ext cx="0" cy="0"/>
          <a:chOff x="0" y="0"/>
          <a:chExt cx="0" cy="0"/>
        </a:xfrm>
      </p:grpSpPr>
      <p:pic>
        <p:nvPicPr>
          <p:cNvPr id="2" name="Image 0" descr="/home/claude/cover_dark.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4160520"/>
            <a:ext cx="12191695" cy="960120"/>
          </a:xfrm>
          <a:prstGeom prst="rect">
            <a:avLst/>
          </a:prstGeom>
          <a:solidFill>
            <a:srgbClr val="1E578D">
              <a:alpha val="92000"/>
            </a:srgbClr>
          </a:solidFill>
          <a:ln/>
        </p:spPr>
        <p:txBody>
          <a:bodyPr/>
          <a:lstStyle/>
          <a:p>
            <a:endParaRPr lang="en-US"/>
          </a:p>
        </p:txBody>
      </p:sp>
      <p:sp>
        <p:nvSpPr>
          <p:cNvPr id="4" name="Shape 1"/>
          <p:cNvSpPr/>
          <p:nvPr/>
        </p:nvSpPr>
        <p:spPr>
          <a:xfrm>
            <a:off x="0" y="5120640"/>
            <a:ext cx="12191695" cy="41148"/>
          </a:xfrm>
          <a:prstGeom prst="rect">
            <a:avLst/>
          </a:prstGeom>
          <a:solidFill>
            <a:srgbClr val="DE0024"/>
          </a:solidFill>
          <a:ln/>
        </p:spPr>
        <p:txBody>
          <a:bodyPr/>
          <a:lstStyle/>
          <a:p>
            <a:endParaRPr lang="en-US"/>
          </a:p>
        </p:txBody>
      </p:sp>
      <p:sp>
        <p:nvSpPr>
          <p:cNvPr id="5" name="Text 2"/>
          <p:cNvSpPr/>
          <p:nvPr/>
        </p:nvSpPr>
        <p:spPr>
          <a:xfrm>
            <a:off x="685800" y="4160520"/>
            <a:ext cx="7772400" cy="960120"/>
          </a:xfrm>
          <a:prstGeom prst="rect">
            <a:avLst/>
          </a:prstGeom>
          <a:noFill/>
          <a:ln/>
        </p:spPr>
        <p:txBody>
          <a:bodyPr wrap="square" lIns="0" tIns="0" rIns="0" bIns="0" rtlCol="0" anchor="ctr"/>
          <a:lstStyle/>
          <a:p>
            <a:pPr marL="0" indent="0">
              <a:buNone/>
            </a:pPr>
            <a:r>
              <a:rPr lang="en-US" sz="2600" b="1" dirty="0">
                <a:solidFill>
                  <a:srgbClr val="FFFFFF"/>
                </a:solidFill>
                <a:latin typeface="Bookman Old Style" pitchFamily="34" charset="0"/>
                <a:ea typeface="Bookman Old Style" pitchFamily="34" charset="-122"/>
                <a:cs typeface="Bookman Old Style" pitchFamily="34" charset="-120"/>
              </a:rPr>
              <a:t>Enabling the Intelligent Enterprise</a:t>
            </a:r>
            <a:endParaRPr lang="en-US" sz="2600" dirty="0"/>
          </a:p>
        </p:txBody>
      </p:sp>
      <p:sp>
        <p:nvSpPr>
          <p:cNvPr id="6" name="Shape 3"/>
          <p:cNvSpPr/>
          <p:nvPr/>
        </p:nvSpPr>
        <p:spPr>
          <a:xfrm>
            <a:off x="548640" y="502920"/>
            <a:ext cx="2880360" cy="713232"/>
          </a:xfrm>
          <a:prstGeom prst="roundRect">
            <a:avLst>
              <a:gd name="adj" fmla="val 10256"/>
            </a:avLst>
          </a:prstGeom>
          <a:solidFill>
            <a:srgbClr val="FFFFFF"/>
          </a:solidFill>
          <a:ln/>
          <a:effectLst>
            <a:outerShdw blurRad="88900" dist="25400" dir="5400000" algn="bl" rotWithShape="0">
              <a:srgbClr val="10294A">
                <a:alpha val="12000"/>
              </a:srgbClr>
            </a:outerShdw>
          </a:effectLst>
        </p:spPr>
        <p:txBody>
          <a:bodyPr/>
          <a:lstStyle/>
          <a:p>
            <a:endParaRPr lang="en-US"/>
          </a:p>
        </p:txBody>
      </p:sp>
      <p:pic>
        <p:nvPicPr>
          <p:cNvPr id="7" name="Image 1" descr="/home/claude/logo_wide_trim.png"/>
          <p:cNvPicPr>
            <a:picLocks noChangeAspect="1"/>
          </p:cNvPicPr>
          <p:nvPr/>
        </p:nvPicPr>
        <p:blipFill>
          <a:blip r:embed="rId4"/>
          <a:stretch>
            <a:fillRect/>
          </a:stretch>
        </p:blipFill>
        <p:spPr>
          <a:xfrm>
            <a:off x="713232" y="576072"/>
            <a:ext cx="2560320" cy="499342"/>
          </a:xfrm>
          <a:prstGeom prst="rect">
            <a:avLst/>
          </a:prstGeom>
        </p:spPr>
      </p:pic>
      <p:sp>
        <p:nvSpPr>
          <p:cNvPr id="8" name="Text 4"/>
          <p:cNvSpPr/>
          <p:nvPr/>
        </p:nvSpPr>
        <p:spPr>
          <a:xfrm>
            <a:off x="685800" y="1965960"/>
            <a:ext cx="10058400" cy="914400"/>
          </a:xfrm>
          <a:prstGeom prst="rect">
            <a:avLst/>
          </a:prstGeom>
          <a:noFill/>
          <a:ln/>
        </p:spPr>
        <p:txBody>
          <a:bodyPr wrap="square" lIns="0" tIns="0" rIns="0" bIns="0" rtlCol="0" anchor="ctr"/>
          <a:lstStyle/>
          <a:p>
            <a:pPr marL="0" indent="0">
              <a:buNone/>
            </a:pPr>
            <a:r>
              <a:rPr lang="en-US" sz="5000" b="1" dirty="0">
                <a:solidFill>
                  <a:srgbClr val="FFFFFF"/>
                </a:solidFill>
                <a:latin typeface="Bookman Old Style" pitchFamily="34" charset="0"/>
                <a:ea typeface="Bookman Old Style" pitchFamily="34" charset="-122"/>
                <a:cs typeface="Bookman Old Style" pitchFamily="34" charset="-120"/>
              </a:rPr>
              <a:t>S.Mart Retail AI</a:t>
            </a:r>
            <a:endParaRPr lang="en-US" sz="5000" dirty="0"/>
          </a:p>
        </p:txBody>
      </p:sp>
      <p:sp>
        <p:nvSpPr>
          <p:cNvPr id="9" name="Text 5"/>
          <p:cNvSpPr/>
          <p:nvPr/>
        </p:nvSpPr>
        <p:spPr>
          <a:xfrm>
            <a:off x="713232" y="2971800"/>
            <a:ext cx="9601200" cy="457200"/>
          </a:xfrm>
          <a:prstGeom prst="rect">
            <a:avLst/>
          </a:prstGeom>
          <a:noFill/>
          <a:ln/>
        </p:spPr>
        <p:txBody>
          <a:bodyPr wrap="square" lIns="0" tIns="0" rIns="0" bIns="0" rtlCol="0" anchor="ctr"/>
          <a:lstStyle/>
          <a:p>
            <a:pPr marL="0" indent="0">
              <a:buNone/>
            </a:pPr>
            <a:r>
              <a:rPr lang="en-US" sz="1700" dirty="0">
                <a:solidFill>
                  <a:srgbClr val="D6E4F2"/>
                </a:solidFill>
                <a:latin typeface="Calibri" pitchFamily="34" charset="0"/>
                <a:ea typeface="Calibri" pitchFamily="34" charset="-122"/>
                <a:cs typeface="Calibri" pitchFamily="34" charset="-120"/>
              </a:rPr>
              <a:t>Autonomous store intelligence on SAP CAP, OData V4 and SAP HANA Cloud</a:t>
            </a:r>
            <a:endParaRPr lang="en-US" sz="1700" dirty="0"/>
          </a:p>
        </p:txBody>
      </p:sp>
      <p:sp>
        <p:nvSpPr>
          <p:cNvPr id="10" name="Text 6"/>
          <p:cNvSpPr/>
          <p:nvPr/>
        </p:nvSpPr>
        <p:spPr>
          <a:xfrm>
            <a:off x="685800" y="5989320"/>
            <a:ext cx="8229600" cy="320040"/>
          </a:xfrm>
          <a:prstGeom prst="rect">
            <a:avLst/>
          </a:prstGeom>
          <a:noFill/>
          <a:ln/>
        </p:spPr>
        <p:txBody>
          <a:bodyPr wrap="square" lIns="0" tIns="0" rIns="0" bIns="0" rtlCol="0" anchor="ctr"/>
          <a:lstStyle/>
          <a:p>
            <a:pPr marL="0" indent="0">
              <a:buNone/>
            </a:pPr>
            <a:r>
              <a:rPr lang="en-US" sz="1300" dirty="0">
                <a:solidFill>
                  <a:srgbClr val="A6B6CC"/>
                </a:solidFill>
                <a:latin typeface="Calibri" pitchFamily="34" charset="0"/>
                <a:ea typeface="Calibri" pitchFamily="34" charset="-122"/>
                <a:cs typeface="Calibri" pitchFamily="34" charset="-120"/>
              </a:rPr>
              <a:t>S.Mart Retail AI demo   ·   MSITEK for SAP Solutioning   ·   August 12,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294A"/>
        </a:solidFill>
        <a:effectLst/>
      </p:bgPr>
    </p:bg>
    <p:spTree>
      <p:nvGrpSpPr>
        <p:cNvPr id="1" name=""/>
        <p:cNvGrpSpPr/>
        <p:nvPr/>
      </p:nvGrpSpPr>
      <p:grpSpPr>
        <a:xfrm>
          <a:off x="0" y="0"/>
          <a:ext cx="0" cy="0"/>
          <a:chOff x="0" y="0"/>
          <a:chExt cx="0" cy="0"/>
        </a:xfrm>
      </p:grpSpPr>
      <p:sp>
        <p:nvSpPr>
          <p:cNvPr id="2" name="Text 0"/>
          <p:cNvSpPr/>
          <p:nvPr/>
        </p:nvSpPr>
        <p:spPr>
          <a:xfrm>
            <a:off x="685800" y="548640"/>
            <a:ext cx="7315200" cy="274320"/>
          </a:xfrm>
          <a:prstGeom prst="rect">
            <a:avLst/>
          </a:prstGeom>
          <a:noFill/>
          <a:ln/>
        </p:spPr>
        <p:txBody>
          <a:bodyPr wrap="square" lIns="0" tIns="0" rIns="0" bIns="0" rtlCol="0" anchor="ctr"/>
          <a:lstStyle/>
          <a:p>
            <a:pPr marL="0" indent="0">
              <a:buNone/>
            </a:pPr>
            <a:r>
              <a:rPr lang="en-US" sz="1200" b="1" kern="0" spc="300" dirty="0">
                <a:solidFill>
                  <a:srgbClr val="5B9BD5"/>
                </a:solidFill>
                <a:latin typeface="Calibri" pitchFamily="34" charset="0"/>
                <a:ea typeface="Calibri" pitchFamily="34" charset="-122"/>
                <a:cs typeface="Calibri" pitchFamily="34" charset="-120"/>
              </a:rPr>
              <a:t>WE BUILT DIRECTLY ON THE DATA SAP GAVE US</a:t>
            </a:r>
            <a:endParaRPr lang="en-US" sz="1200" dirty="0"/>
          </a:p>
        </p:txBody>
      </p:sp>
      <p:sp>
        <p:nvSpPr>
          <p:cNvPr id="3" name="Text 1"/>
          <p:cNvSpPr/>
          <p:nvPr/>
        </p:nvSpPr>
        <p:spPr>
          <a:xfrm>
            <a:off x="658368" y="841248"/>
            <a:ext cx="10789920" cy="640080"/>
          </a:xfrm>
          <a:prstGeom prst="rect">
            <a:avLst/>
          </a:prstGeom>
          <a:noFill/>
          <a:ln/>
        </p:spPr>
        <p:txBody>
          <a:bodyPr wrap="square" lIns="0" tIns="0" rIns="0" bIns="0" rtlCol="0" anchor="ctr"/>
          <a:lstStyle/>
          <a:p>
            <a:pPr marL="0" indent="0">
              <a:buNone/>
            </a:pPr>
            <a:r>
              <a:rPr lang="en-US" sz="3200" b="1" dirty="0">
                <a:solidFill>
                  <a:srgbClr val="FFFFFF"/>
                </a:solidFill>
                <a:latin typeface="Bookman Old Style" pitchFamily="34" charset="0"/>
                <a:ea typeface="Bookman Old Style" pitchFamily="34" charset="-122"/>
                <a:cs typeface="Bookman Old Style" pitchFamily="34" charset="-120"/>
              </a:rPr>
              <a:t>Built on your S-Mart dataset</a:t>
            </a:r>
            <a:endParaRPr lang="en-US" sz="3200" dirty="0"/>
          </a:p>
        </p:txBody>
      </p:sp>
      <p:sp>
        <p:nvSpPr>
          <p:cNvPr id="4" name="Text 2"/>
          <p:cNvSpPr/>
          <p:nvPr/>
        </p:nvSpPr>
        <p:spPr>
          <a:xfrm>
            <a:off x="685800" y="1600200"/>
            <a:ext cx="10607040" cy="777240"/>
          </a:xfrm>
          <a:prstGeom prst="rect">
            <a:avLst/>
          </a:prstGeom>
          <a:noFill/>
          <a:ln/>
        </p:spPr>
        <p:txBody>
          <a:bodyPr wrap="square" lIns="0" tIns="0" rIns="0" bIns="0" rtlCol="0" anchor="ctr"/>
          <a:lstStyle/>
          <a:p>
            <a:pPr marL="0" indent="0">
              <a:lnSpc>
                <a:spcPts val="2200"/>
              </a:lnSpc>
              <a:buNone/>
            </a:pPr>
            <a:r>
              <a:rPr lang="en-US" sz="1500" dirty="0">
                <a:solidFill>
                  <a:srgbClr val="D6E4F2"/>
                </a:solidFill>
                <a:latin typeface="Calibri" pitchFamily="34" charset="0"/>
                <a:ea typeface="Calibri" pitchFamily="34" charset="-122"/>
                <a:cs typeface="Calibri" pitchFamily="34" charset="-120"/>
              </a:rPr>
              <a:t>The two SAP Customer Checkout exports from the S-Mart Walldorf campus store were our seed — read, reconciled to the cent, and enriched outward into a six-store network. Every real figure in the app traces back to your data.</a:t>
            </a:r>
            <a:endParaRPr lang="en-US" sz="1500" dirty="0"/>
          </a:p>
        </p:txBody>
      </p:sp>
      <p:sp>
        <p:nvSpPr>
          <p:cNvPr id="5" name="Shape 3"/>
          <p:cNvSpPr/>
          <p:nvPr/>
        </p:nvSpPr>
        <p:spPr>
          <a:xfrm>
            <a:off x="685800" y="2514600"/>
            <a:ext cx="3474720" cy="2011680"/>
          </a:xfrm>
          <a:prstGeom prst="roundRect">
            <a:avLst>
              <a:gd name="adj" fmla="val 4091"/>
            </a:avLst>
          </a:prstGeom>
          <a:solidFill>
            <a:srgbClr val="183A61"/>
          </a:solidFill>
          <a:ln w="12700">
            <a:solidFill>
              <a:srgbClr val="1E578D"/>
            </a:solidFill>
            <a:prstDash val="solid"/>
          </a:ln>
          <a:effectLst>
            <a:outerShdw blurRad="88900" dist="25400" dir="5400000" algn="bl" rotWithShape="0">
              <a:srgbClr val="10294A">
                <a:alpha val="12000"/>
              </a:srgbClr>
            </a:outerShdw>
          </a:effectLst>
        </p:spPr>
        <p:txBody>
          <a:bodyPr/>
          <a:lstStyle/>
          <a:p>
            <a:endParaRPr lang="en-US"/>
          </a:p>
        </p:txBody>
      </p:sp>
      <p:sp>
        <p:nvSpPr>
          <p:cNvPr id="6" name="Shape 4"/>
          <p:cNvSpPr/>
          <p:nvPr/>
        </p:nvSpPr>
        <p:spPr>
          <a:xfrm>
            <a:off x="960120" y="2788920"/>
            <a:ext cx="530352" cy="530352"/>
          </a:xfrm>
          <a:prstGeom prst="ellipse">
            <a:avLst/>
          </a:prstGeom>
          <a:solidFill>
            <a:srgbClr val="0E2C4E"/>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87404" y="2916204"/>
            <a:ext cx="275783" cy="275783"/>
          </a:xfrm>
          <a:prstGeom prst="rect">
            <a:avLst/>
          </a:prstGeom>
        </p:spPr>
      </p:pic>
      <p:sp>
        <p:nvSpPr>
          <p:cNvPr id="8" name="Text 5"/>
          <p:cNvSpPr/>
          <p:nvPr/>
        </p:nvSpPr>
        <p:spPr>
          <a:xfrm>
            <a:off x="1618488" y="2807208"/>
            <a:ext cx="2377440" cy="5029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Your S-Mart export</a:t>
            </a:r>
            <a:endParaRPr lang="en-US" sz="1500" dirty="0"/>
          </a:p>
        </p:txBody>
      </p:sp>
      <p:sp>
        <p:nvSpPr>
          <p:cNvPr id="9" name="Text 6"/>
          <p:cNvSpPr/>
          <p:nvPr/>
        </p:nvSpPr>
        <p:spPr>
          <a:xfrm>
            <a:off x="960120" y="3474720"/>
            <a:ext cx="2926080" cy="960120"/>
          </a:xfrm>
          <a:prstGeom prst="rect">
            <a:avLst/>
          </a:prstGeom>
          <a:noFill/>
          <a:ln/>
        </p:spPr>
        <p:txBody>
          <a:bodyPr wrap="square" lIns="0" tIns="0" rIns="0" bIns="0" rtlCol="0" anchor="ctr"/>
          <a:lstStyle/>
          <a:p>
            <a:pPr marL="0" indent="0">
              <a:lnSpc>
                <a:spcPts val="1700"/>
              </a:lnSpc>
              <a:buNone/>
            </a:pPr>
            <a:r>
              <a:rPr lang="en-US" sz="1200" dirty="0">
                <a:solidFill>
                  <a:srgbClr val="D6E4F2"/>
                </a:solidFill>
                <a:latin typeface="Calibri" pitchFamily="34" charset="0"/>
                <a:ea typeface="Calibri" pitchFamily="34" charset="-122"/>
                <a:cs typeface="Calibri" pitchFamily="34" charset="-120"/>
              </a:rPr>
              <a:t>2 SAP Customer Checkout workbooks · 19 report sheets · Jan–Jul 2026, 179 trading days</a:t>
            </a:r>
            <a:endParaRPr lang="en-US" sz="1200" dirty="0"/>
          </a:p>
        </p:txBody>
      </p:sp>
      <p:sp>
        <p:nvSpPr>
          <p:cNvPr id="10" name="Text 7"/>
          <p:cNvSpPr/>
          <p:nvPr/>
        </p:nvSpPr>
        <p:spPr>
          <a:xfrm>
            <a:off x="4178808" y="3200400"/>
            <a:ext cx="310896" cy="457200"/>
          </a:xfrm>
          <a:prstGeom prst="rect">
            <a:avLst/>
          </a:prstGeom>
          <a:noFill/>
          <a:ln/>
        </p:spPr>
        <p:txBody>
          <a:bodyPr wrap="square" lIns="0" tIns="0" rIns="0" bIns="0" rtlCol="0" anchor="ctr"/>
          <a:lstStyle/>
          <a:p>
            <a:pPr marL="0" indent="0" algn="ctr">
              <a:buNone/>
            </a:pPr>
            <a:r>
              <a:rPr lang="en-US" sz="2400" b="1" dirty="0">
                <a:solidFill>
                  <a:srgbClr val="5B9BD5"/>
                </a:solidFill>
                <a:latin typeface="Calibri" pitchFamily="34" charset="0"/>
                <a:ea typeface="Calibri" pitchFamily="34" charset="-122"/>
                <a:cs typeface="Calibri" pitchFamily="34" charset="-120"/>
              </a:rPr>
              <a:t>→</a:t>
            </a:r>
            <a:endParaRPr lang="en-US" sz="2400" dirty="0"/>
          </a:p>
        </p:txBody>
      </p:sp>
      <p:sp>
        <p:nvSpPr>
          <p:cNvPr id="11" name="Shape 8"/>
          <p:cNvSpPr/>
          <p:nvPr/>
        </p:nvSpPr>
        <p:spPr>
          <a:xfrm>
            <a:off x="4480560" y="2514600"/>
            <a:ext cx="3474720" cy="2011680"/>
          </a:xfrm>
          <a:prstGeom prst="roundRect">
            <a:avLst>
              <a:gd name="adj" fmla="val 4091"/>
            </a:avLst>
          </a:prstGeom>
          <a:solidFill>
            <a:srgbClr val="183A61"/>
          </a:solidFill>
          <a:ln w="12700">
            <a:solidFill>
              <a:srgbClr val="1E578D"/>
            </a:solidFill>
            <a:prstDash val="solid"/>
          </a:ln>
          <a:effectLst>
            <a:outerShdw blurRad="88900" dist="25400" dir="5400000" algn="bl" rotWithShape="0">
              <a:srgbClr val="10294A">
                <a:alpha val="12000"/>
              </a:srgbClr>
            </a:outerShdw>
          </a:effectLst>
        </p:spPr>
        <p:txBody>
          <a:bodyPr/>
          <a:lstStyle/>
          <a:p>
            <a:endParaRPr lang="en-US"/>
          </a:p>
        </p:txBody>
      </p:sp>
      <p:sp>
        <p:nvSpPr>
          <p:cNvPr id="12" name="Shape 9"/>
          <p:cNvSpPr/>
          <p:nvPr/>
        </p:nvSpPr>
        <p:spPr>
          <a:xfrm>
            <a:off x="4754880" y="2788920"/>
            <a:ext cx="530352" cy="530352"/>
          </a:xfrm>
          <a:prstGeom prst="ellipse">
            <a:avLst/>
          </a:prstGeom>
          <a:solidFill>
            <a:srgbClr val="0E2C4E"/>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882164" y="2916204"/>
            <a:ext cx="275783" cy="275783"/>
          </a:xfrm>
          <a:prstGeom prst="rect">
            <a:avLst/>
          </a:prstGeom>
        </p:spPr>
      </p:pic>
      <p:sp>
        <p:nvSpPr>
          <p:cNvPr id="14" name="Text 10"/>
          <p:cNvSpPr/>
          <p:nvPr/>
        </p:nvSpPr>
        <p:spPr>
          <a:xfrm>
            <a:off x="5413248" y="2807208"/>
            <a:ext cx="2377440" cy="5029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Reconciled to the cent</a:t>
            </a:r>
            <a:endParaRPr lang="en-US" sz="1500" dirty="0"/>
          </a:p>
        </p:txBody>
      </p:sp>
      <p:sp>
        <p:nvSpPr>
          <p:cNvPr id="15" name="Text 11"/>
          <p:cNvSpPr/>
          <p:nvPr/>
        </p:nvSpPr>
        <p:spPr>
          <a:xfrm>
            <a:off x="4754880" y="3474720"/>
            <a:ext cx="2926080" cy="960120"/>
          </a:xfrm>
          <a:prstGeom prst="rect">
            <a:avLst/>
          </a:prstGeom>
          <a:noFill/>
          <a:ln/>
        </p:spPr>
        <p:txBody>
          <a:bodyPr wrap="square" lIns="0" tIns="0" rIns="0" bIns="0" rtlCol="0" anchor="ctr"/>
          <a:lstStyle/>
          <a:p>
            <a:pPr marL="0" indent="0">
              <a:lnSpc>
                <a:spcPts val="1700"/>
              </a:lnSpc>
              <a:buNone/>
            </a:pPr>
            <a:r>
              <a:rPr lang="en-US" sz="1200" dirty="0">
                <a:solidFill>
                  <a:srgbClr val="D6E4F2"/>
                </a:solidFill>
                <a:latin typeface="Calibri" pitchFamily="34" charset="0"/>
                <a:ea typeface="Calibri" pitchFamily="34" charset="-122"/>
                <a:cs typeface="Calibri" pitchFamily="34" charset="-120"/>
              </a:rPr>
              <a:t>6,452 units · €10,588.86 gross — extraction matches SAP’s own printed totals exactly</a:t>
            </a:r>
            <a:endParaRPr lang="en-US" sz="1200" dirty="0"/>
          </a:p>
        </p:txBody>
      </p:sp>
      <p:sp>
        <p:nvSpPr>
          <p:cNvPr id="16" name="Text 12"/>
          <p:cNvSpPr/>
          <p:nvPr/>
        </p:nvSpPr>
        <p:spPr>
          <a:xfrm>
            <a:off x="7973568" y="3200400"/>
            <a:ext cx="310896" cy="457200"/>
          </a:xfrm>
          <a:prstGeom prst="rect">
            <a:avLst/>
          </a:prstGeom>
          <a:noFill/>
          <a:ln/>
        </p:spPr>
        <p:txBody>
          <a:bodyPr wrap="square" lIns="0" tIns="0" rIns="0" bIns="0" rtlCol="0" anchor="ctr"/>
          <a:lstStyle/>
          <a:p>
            <a:pPr marL="0" indent="0" algn="ctr">
              <a:buNone/>
            </a:pPr>
            <a:r>
              <a:rPr lang="en-US" sz="2400" b="1" dirty="0">
                <a:solidFill>
                  <a:srgbClr val="5B9BD5"/>
                </a:solidFill>
                <a:latin typeface="Calibri" pitchFamily="34" charset="0"/>
                <a:ea typeface="Calibri" pitchFamily="34" charset="-122"/>
                <a:cs typeface="Calibri" pitchFamily="34" charset="-120"/>
              </a:rPr>
              <a:t>→</a:t>
            </a:r>
            <a:endParaRPr lang="en-US" sz="2400" dirty="0"/>
          </a:p>
        </p:txBody>
      </p:sp>
      <p:sp>
        <p:nvSpPr>
          <p:cNvPr id="17" name="Shape 13"/>
          <p:cNvSpPr/>
          <p:nvPr/>
        </p:nvSpPr>
        <p:spPr>
          <a:xfrm>
            <a:off x="8275320" y="2514600"/>
            <a:ext cx="3474720" cy="2011680"/>
          </a:xfrm>
          <a:prstGeom prst="roundRect">
            <a:avLst>
              <a:gd name="adj" fmla="val 4091"/>
            </a:avLst>
          </a:prstGeom>
          <a:solidFill>
            <a:srgbClr val="183A61"/>
          </a:solidFill>
          <a:ln w="12700">
            <a:solidFill>
              <a:srgbClr val="1E578D"/>
            </a:solidFill>
            <a:prstDash val="solid"/>
          </a:ln>
          <a:effectLst>
            <a:outerShdw blurRad="88900" dist="25400" dir="5400000" algn="bl" rotWithShape="0">
              <a:srgbClr val="10294A">
                <a:alpha val="12000"/>
              </a:srgbClr>
            </a:outerShdw>
          </a:effectLst>
        </p:spPr>
        <p:txBody>
          <a:bodyPr/>
          <a:lstStyle/>
          <a:p>
            <a:endParaRPr lang="en-US"/>
          </a:p>
        </p:txBody>
      </p:sp>
      <p:sp>
        <p:nvSpPr>
          <p:cNvPr id="18" name="Shape 14"/>
          <p:cNvSpPr/>
          <p:nvPr/>
        </p:nvSpPr>
        <p:spPr>
          <a:xfrm>
            <a:off x="8549640" y="2788920"/>
            <a:ext cx="530352" cy="530352"/>
          </a:xfrm>
          <a:prstGeom prst="ellipse">
            <a:avLst/>
          </a:prstGeom>
          <a:solidFill>
            <a:srgbClr val="0E2C4E"/>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8676924" y="2916204"/>
            <a:ext cx="275783" cy="275783"/>
          </a:xfrm>
          <a:prstGeom prst="rect">
            <a:avLst/>
          </a:prstGeom>
        </p:spPr>
      </p:pic>
      <p:sp>
        <p:nvSpPr>
          <p:cNvPr id="20" name="Text 15"/>
          <p:cNvSpPr/>
          <p:nvPr/>
        </p:nvSpPr>
        <p:spPr>
          <a:xfrm>
            <a:off x="9208008" y="2807208"/>
            <a:ext cx="2377440" cy="5029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Enriched, not invented</a:t>
            </a:r>
            <a:endParaRPr lang="en-US" sz="1500" dirty="0"/>
          </a:p>
        </p:txBody>
      </p:sp>
      <p:sp>
        <p:nvSpPr>
          <p:cNvPr id="21" name="Text 16"/>
          <p:cNvSpPr/>
          <p:nvPr/>
        </p:nvSpPr>
        <p:spPr>
          <a:xfrm>
            <a:off x="8549640" y="3474720"/>
            <a:ext cx="2926080" cy="960120"/>
          </a:xfrm>
          <a:prstGeom prst="rect">
            <a:avLst/>
          </a:prstGeom>
          <a:noFill/>
          <a:ln/>
        </p:spPr>
        <p:txBody>
          <a:bodyPr wrap="square" lIns="0" tIns="0" rIns="0" bIns="0" rtlCol="0" anchor="ctr"/>
          <a:lstStyle/>
          <a:p>
            <a:pPr marL="0" indent="0">
              <a:lnSpc>
                <a:spcPts val="1700"/>
              </a:lnSpc>
              <a:buNone/>
            </a:pPr>
            <a:r>
              <a:rPr lang="en-US" sz="1200" dirty="0">
                <a:solidFill>
                  <a:srgbClr val="D6E4F2"/>
                </a:solidFill>
                <a:latin typeface="Calibri" pitchFamily="34" charset="0"/>
                <a:ea typeface="Calibri" pitchFamily="34" charset="-122"/>
                <a:cs typeface="Calibri" pitchFamily="34" charset="-120"/>
              </a:rPr>
              <a:t>Walldorf keeps its real numbers; 5 more stores derived from its measured curves</a:t>
            </a:r>
            <a:endParaRPr lang="en-US" sz="1200" dirty="0"/>
          </a:p>
        </p:txBody>
      </p:sp>
      <p:sp>
        <p:nvSpPr>
          <p:cNvPr id="22" name="Shape 17"/>
          <p:cNvSpPr/>
          <p:nvPr/>
        </p:nvSpPr>
        <p:spPr>
          <a:xfrm>
            <a:off x="685800" y="4754880"/>
            <a:ext cx="10835640" cy="914400"/>
          </a:xfrm>
          <a:prstGeom prst="roundRect">
            <a:avLst>
              <a:gd name="adj" fmla="val 9000"/>
            </a:avLst>
          </a:prstGeom>
          <a:solidFill>
            <a:srgbClr val="1E578D"/>
          </a:solidFill>
          <a:ln/>
          <a:effectLst>
            <a:outerShdw blurRad="88900" dist="25400" dir="5400000" algn="bl" rotWithShape="0">
              <a:srgbClr val="10294A">
                <a:alpha val="12000"/>
              </a:srgbClr>
            </a:outerShdw>
          </a:effectLst>
        </p:spPr>
        <p:txBody>
          <a:bodyPr/>
          <a:lstStyle/>
          <a:p>
            <a:endParaRPr lang="en-US"/>
          </a:p>
        </p:txBody>
      </p:sp>
      <p:pic>
        <p:nvPicPr>
          <p:cNvPr id="23" name="Image 3" descr="preencoded.png"/>
          <p:cNvPicPr>
            <a:picLocks noChangeAspect="1"/>
          </p:cNvPicPr>
          <p:nvPr/>
        </p:nvPicPr>
        <p:blipFill>
          <a:blip r:embed="rId6"/>
          <a:stretch>
            <a:fillRect/>
          </a:stretch>
        </p:blipFill>
        <p:spPr>
          <a:xfrm>
            <a:off x="960120" y="4983480"/>
            <a:ext cx="411480" cy="411480"/>
          </a:xfrm>
          <a:prstGeom prst="rect">
            <a:avLst/>
          </a:prstGeom>
        </p:spPr>
      </p:pic>
      <p:sp>
        <p:nvSpPr>
          <p:cNvPr id="24" name="Text 18"/>
          <p:cNvSpPr/>
          <p:nvPr/>
        </p:nvSpPr>
        <p:spPr>
          <a:xfrm>
            <a:off x="1463040" y="4892040"/>
            <a:ext cx="9875520" cy="685800"/>
          </a:xfrm>
          <a:prstGeom prst="rect">
            <a:avLst/>
          </a:prstGeom>
          <a:noFill/>
          <a:ln/>
        </p:spPr>
        <p:txBody>
          <a:bodyPr wrap="square" lIns="0" tIns="0" rIns="0" bIns="0" rtlCol="0" anchor="ctr"/>
          <a:lstStyle/>
          <a:p>
            <a:pPr marL="0" indent="0">
              <a:lnSpc>
                <a:spcPts val="1800"/>
              </a:lnSpc>
              <a:buNone/>
            </a:pPr>
            <a:r>
              <a:rPr lang="en-US" sz="1350" dirty="0">
                <a:solidFill>
                  <a:srgbClr val="FFFFFF"/>
                </a:solidFill>
                <a:latin typeface="Calibri" pitchFamily="34" charset="0"/>
                <a:ea typeface="Calibri" pitchFamily="34" charset="-122"/>
                <a:cs typeface="Calibri" pitchFamily="34" charset="-120"/>
              </a:rPr>
              <a:t>Provenance is carried in the data, not a footnote — every screen can state which numbers are real. isReferenceStore and isFromSapExport mark exactly what came from your S-Mart export.</a:t>
            </a:r>
            <a:endParaRPr lang="en-US" sz="1350" dirty="0"/>
          </a:p>
        </p:txBody>
      </p:sp>
      <p:sp>
        <p:nvSpPr>
          <p:cNvPr id="25" name="Text 19"/>
          <p:cNvSpPr/>
          <p:nvPr/>
        </p:nvSpPr>
        <p:spPr>
          <a:xfrm>
            <a:off x="11414455" y="6400800"/>
            <a:ext cx="457200" cy="274320"/>
          </a:xfrm>
          <a:prstGeom prst="rect">
            <a:avLst/>
          </a:prstGeom>
          <a:noFill/>
          <a:ln/>
        </p:spPr>
        <p:txBody>
          <a:bodyPr wrap="square" rtlCol="0" anchor="ctr"/>
          <a:lstStyle/>
          <a:p>
            <a:pPr marL="0" indent="0" algn="r">
              <a:buNone/>
            </a:pPr>
            <a:r>
              <a:rPr lang="en-US" sz="900" dirty="0">
                <a:solidFill>
                  <a:srgbClr val="A6B6CC"/>
                </a:solidFill>
                <a:latin typeface="Calibri" pitchFamily="34" charset="0"/>
                <a:ea typeface="Calibri" pitchFamily="34" charset="-122"/>
                <a:cs typeface="Calibri" pitchFamily="34" charset="-120"/>
              </a:rPr>
              <a:t>02</a:t>
            </a:r>
            <a:endParaRPr lang="en-US" sz="900" dirty="0"/>
          </a:p>
        </p:txBody>
      </p:sp>
      <p:pic>
        <p:nvPicPr>
          <p:cNvPr id="26" name="Image 4" descr="/home/claude/mark_white.png"/>
          <p:cNvPicPr>
            <a:picLocks noChangeAspect="1"/>
          </p:cNvPicPr>
          <p:nvPr/>
        </p:nvPicPr>
        <p:blipFill>
          <a:blip r:embed="rId7"/>
          <a:stretch>
            <a:fillRect/>
          </a:stretch>
        </p:blipFill>
        <p:spPr>
          <a:xfrm>
            <a:off x="457200" y="6355080"/>
            <a:ext cx="457200" cy="302412"/>
          </a:xfrm>
          <a:prstGeom prst="rect">
            <a:avLst/>
          </a:prstGeom>
        </p:spPr>
      </p:pic>
      <p:sp>
        <p:nvSpPr>
          <p:cNvPr id="27" name="Text 20"/>
          <p:cNvSpPr/>
          <p:nvPr/>
        </p:nvSpPr>
        <p:spPr>
          <a:xfrm>
            <a:off x="960120" y="6400800"/>
            <a:ext cx="1828800" cy="274320"/>
          </a:xfrm>
          <a:prstGeom prst="rect">
            <a:avLst/>
          </a:prstGeom>
          <a:noFill/>
          <a:ln/>
        </p:spPr>
        <p:txBody>
          <a:bodyPr wrap="square" lIns="0" tIns="0" rIns="0" bIns="0" rtlCol="0" anchor="ctr"/>
          <a:lstStyle/>
          <a:p>
            <a:pPr marL="0" indent="0">
              <a:buNone/>
            </a:pPr>
            <a:r>
              <a:rPr lang="en-US" sz="850" b="1" kern="0" spc="200" dirty="0">
                <a:solidFill>
                  <a:srgbClr val="A6B6CC"/>
                </a:solidFill>
                <a:latin typeface="Calibri" pitchFamily="34" charset="0"/>
                <a:ea typeface="Calibri" pitchFamily="34" charset="-122"/>
                <a:cs typeface="Calibri" pitchFamily="34" charset="-120"/>
              </a:rPr>
              <a:t>MSITEK</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7FB"/>
        </a:solidFill>
        <a:effectLst/>
      </p:bgPr>
    </p:bg>
    <p:spTree>
      <p:nvGrpSpPr>
        <p:cNvPr id="1" name=""/>
        <p:cNvGrpSpPr/>
        <p:nvPr/>
      </p:nvGrpSpPr>
      <p:grpSpPr>
        <a:xfrm>
          <a:off x="0" y="0"/>
          <a:ext cx="0" cy="0"/>
          <a:chOff x="0" y="0"/>
          <a:chExt cx="0" cy="0"/>
        </a:xfrm>
      </p:grpSpPr>
      <p:sp>
        <p:nvSpPr>
          <p:cNvPr id="2" name="Text 0"/>
          <p:cNvSpPr/>
          <p:nvPr/>
        </p:nvSpPr>
        <p:spPr>
          <a:xfrm>
            <a:off x="685800" y="502920"/>
            <a:ext cx="7315200" cy="274320"/>
          </a:xfrm>
          <a:prstGeom prst="rect">
            <a:avLst/>
          </a:prstGeom>
          <a:noFill/>
          <a:ln/>
        </p:spPr>
        <p:txBody>
          <a:bodyPr wrap="square" lIns="0" tIns="0" rIns="0" bIns="0" rtlCol="0" anchor="ctr"/>
          <a:lstStyle/>
          <a:p>
            <a:pPr marL="0" indent="0">
              <a:buNone/>
            </a:pPr>
            <a:r>
              <a:rPr lang="en-US" sz="1200" b="1" kern="0" spc="300" dirty="0">
                <a:solidFill>
                  <a:srgbClr val="1E578D"/>
                </a:solidFill>
                <a:latin typeface="Calibri" pitchFamily="34" charset="0"/>
                <a:ea typeface="Calibri" pitchFamily="34" charset="-122"/>
                <a:cs typeface="Calibri" pitchFamily="34" charset="-120"/>
              </a:rPr>
              <a:t>DATA ENRICHMENT</a:t>
            </a:r>
            <a:endParaRPr lang="en-US" sz="1200" dirty="0"/>
          </a:p>
        </p:txBody>
      </p:sp>
      <p:sp>
        <p:nvSpPr>
          <p:cNvPr id="3" name="Text 1"/>
          <p:cNvSpPr/>
          <p:nvPr/>
        </p:nvSpPr>
        <p:spPr>
          <a:xfrm>
            <a:off x="658368" y="795528"/>
            <a:ext cx="10972800" cy="502920"/>
          </a:xfrm>
          <a:prstGeom prst="rect">
            <a:avLst/>
          </a:prstGeom>
          <a:noFill/>
          <a:ln/>
        </p:spPr>
        <p:txBody>
          <a:bodyPr wrap="square" lIns="0" tIns="0" rIns="0" bIns="0" rtlCol="0" anchor="ctr"/>
          <a:lstStyle/>
          <a:p>
            <a:pPr marL="0" indent="0">
              <a:buNone/>
            </a:pPr>
            <a:r>
              <a:rPr lang="en-US" sz="2600" b="1" dirty="0">
                <a:solidFill>
                  <a:srgbClr val="10294A"/>
                </a:solidFill>
                <a:latin typeface="Bookman Old Style" pitchFamily="34" charset="0"/>
                <a:ea typeface="Bookman Old Style" pitchFamily="34" charset="-122"/>
                <a:cs typeface="Bookman Old Style" pitchFamily="34" charset="-120"/>
              </a:rPr>
              <a:t>The export gives the sale. Enrichment gives the product.</a:t>
            </a:r>
            <a:endParaRPr lang="en-US" sz="2600" dirty="0"/>
          </a:p>
        </p:txBody>
      </p:sp>
      <p:sp>
        <p:nvSpPr>
          <p:cNvPr id="4" name="Text 2"/>
          <p:cNvSpPr/>
          <p:nvPr/>
        </p:nvSpPr>
        <p:spPr>
          <a:xfrm>
            <a:off x="685800" y="1298448"/>
            <a:ext cx="10972800" cy="274320"/>
          </a:xfrm>
          <a:prstGeom prst="rect">
            <a:avLst/>
          </a:prstGeom>
          <a:noFill/>
          <a:ln/>
        </p:spPr>
        <p:txBody>
          <a:bodyPr wrap="square" lIns="0" tIns="0" rIns="0" bIns="0" rtlCol="0" anchor="ctr"/>
          <a:lstStyle/>
          <a:p>
            <a:pPr marL="0" indent="0">
              <a:buNone/>
            </a:pPr>
            <a:r>
              <a:rPr lang="en-US" sz="1150" dirty="0">
                <a:solidFill>
                  <a:srgbClr val="54657E"/>
                </a:solidFill>
                <a:latin typeface="Calibri" pitchFamily="34" charset="0"/>
                <a:ea typeface="Calibri" pitchFamily="34" charset="-122"/>
                <a:cs typeface="Calibri" pitchFamily="34" charset="-120"/>
              </a:rPr>
              <a:t>Same 327 article IDs, completely different columns — because every engine reasons about the product, not the receipt.</a:t>
            </a:r>
            <a:endParaRPr lang="en-US" sz="1150" dirty="0"/>
          </a:p>
        </p:txBody>
      </p:sp>
      <p:sp>
        <p:nvSpPr>
          <p:cNvPr id="5" name="Shape 3"/>
          <p:cNvSpPr/>
          <p:nvPr/>
        </p:nvSpPr>
        <p:spPr>
          <a:xfrm>
            <a:off x="685800" y="1691640"/>
            <a:ext cx="5257800" cy="1783080"/>
          </a:xfrm>
          <a:prstGeom prst="roundRect">
            <a:avLst>
              <a:gd name="adj" fmla="val 4615"/>
            </a:avLst>
          </a:prstGeom>
          <a:solidFill>
            <a:srgbClr val="183A61"/>
          </a:solidFill>
          <a:ln/>
          <a:effectLst>
            <a:outerShdw blurRad="88900" dist="25400" dir="5400000" algn="bl" rotWithShape="0">
              <a:srgbClr val="10294A">
                <a:alpha val="12000"/>
              </a:srgbClr>
            </a:outerShdw>
          </a:effectLst>
        </p:spPr>
        <p:txBody>
          <a:bodyPr/>
          <a:lstStyle/>
          <a:p>
            <a:endParaRPr lang="en-US"/>
          </a:p>
        </p:txBody>
      </p:sp>
      <p:sp>
        <p:nvSpPr>
          <p:cNvPr id="6" name="Text 4"/>
          <p:cNvSpPr/>
          <p:nvPr/>
        </p:nvSpPr>
        <p:spPr>
          <a:xfrm>
            <a:off x="960120" y="1856232"/>
            <a:ext cx="470916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WHAT SAP GAVE US  </a:t>
            </a:r>
            <a:r>
              <a:rPr lang="en-US" sz="1100" dirty="0">
                <a:solidFill>
                  <a:srgbClr val="A6B6CC"/>
                </a:solidFill>
                <a:latin typeface="Calibri" pitchFamily="34" charset="0"/>
                <a:ea typeface="Calibri" pitchFamily="34" charset="-122"/>
                <a:cs typeface="Calibri" pitchFamily="34" charset="-120"/>
              </a:rPr>
              <a:t>· 13 columns</a:t>
            </a:r>
            <a:endParaRPr lang="en-US" sz="1250" dirty="0"/>
          </a:p>
        </p:txBody>
      </p:sp>
      <p:sp>
        <p:nvSpPr>
          <p:cNvPr id="7" name="Text 5"/>
          <p:cNvSpPr/>
          <p:nvPr/>
        </p:nvSpPr>
        <p:spPr>
          <a:xfrm>
            <a:off x="960120" y="2148840"/>
            <a:ext cx="4709160" cy="228600"/>
          </a:xfrm>
          <a:prstGeom prst="rect">
            <a:avLst/>
          </a:prstGeom>
          <a:noFill/>
          <a:ln/>
        </p:spPr>
        <p:txBody>
          <a:bodyPr wrap="square" lIns="0" tIns="0" rIns="0" bIns="0" rtlCol="0" anchor="ctr"/>
          <a:lstStyle/>
          <a:p>
            <a:pPr marL="0" indent="0">
              <a:buNone/>
            </a:pPr>
            <a:r>
              <a:rPr lang="en-US" sz="950" i="1" dirty="0">
                <a:solidFill>
                  <a:srgbClr val="D6E4F2"/>
                </a:solidFill>
                <a:latin typeface="Calibri" pitchFamily="34" charset="0"/>
                <a:ea typeface="Calibri" pitchFamily="34" charset="-122"/>
                <a:cs typeface="Calibri" pitchFamily="34" charset="-120"/>
              </a:rPr>
              <a:t>An accounting report — money that already moved</a:t>
            </a:r>
            <a:endParaRPr lang="en-US" sz="950" dirty="0"/>
          </a:p>
        </p:txBody>
      </p:sp>
      <p:sp>
        <p:nvSpPr>
          <p:cNvPr id="8" name="Text 6"/>
          <p:cNvSpPr/>
          <p:nvPr/>
        </p:nvSpPr>
        <p:spPr>
          <a:xfrm>
            <a:off x="960120" y="2441448"/>
            <a:ext cx="4709160" cy="914400"/>
          </a:xfrm>
          <a:prstGeom prst="rect">
            <a:avLst/>
          </a:prstGeom>
          <a:noFill/>
          <a:ln/>
        </p:spPr>
        <p:txBody>
          <a:bodyPr wrap="square" lIns="0" tIns="0" rIns="0" bIns="0" rtlCol="0" anchor="ctr"/>
          <a:lstStyle/>
          <a:p>
            <a:pPr marL="0" indent="0">
              <a:lnSpc>
                <a:spcPts val="1600"/>
              </a:lnSpc>
              <a:buNone/>
            </a:pPr>
            <a:r>
              <a:rPr lang="en-US" sz="1050" dirty="0">
                <a:solidFill>
                  <a:srgbClr val="D6E4F2"/>
                </a:solidFill>
                <a:latin typeface="Consolas" pitchFamily="34" charset="0"/>
                <a:ea typeface="Consolas" pitchFamily="34" charset="-122"/>
                <a:cs typeface="Consolas" pitchFamily="34" charset="-120"/>
              </a:rPr>
              <a:t>articleId · articleName · quantitySold · grossSales · grossDiscount · netRevenue · vatAmount · dueAmount · unitPriceGross · vatRatePct …</a:t>
            </a:r>
            <a:endParaRPr lang="en-US" sz="1050" dirty="0"/>
          </a:p>
        </p:txBody>
      </p:sp>
      <p:sp>
        <p:nvSpPr>
          <p:cNvPr id="9" name="Text 7"/>
          <p:cNvSpPr/>
          <p:nvPr/>
        </p:nvSpPr>
        <p:spPr>
          <a:xfrm>
            <a:off x="5513832" y="2313432"/>
            <a:ext cx="502920" cy="548640"/>
          </a:xfrm>
          <a:prstGeom prst="rect">
            <a:avLst/>
          </a:prstGeom>
          <a:noFill/>
          <a:ln/>
        </p:spPr>
        <p:txBody>
          <a:bodyPr wrap="square" lIns="0" tIns="0" rIns="0" bIns="0" rtlCol="0" anchor="ctr"/>
          <a:lstStyle/>
          <a:p>
            <a:pPr marL="0" indent="0" algn="ctr">
              <a:buNone/>
            </a:pPr>
            <a:r>
              <a:rPr lang="en-US" sz="2800" b="1" dirty="0">
                <a:solidFill>
                  <a:srgbClr val="DE0024"/>
                </a:solidFill>
                <a:latin typeface="Calibri" pitchFamily="34" charset="0"/>
                <a:ea typeface="Calibri" pitchFamily="34" charset="-122"/>
                <a:cs typeface="Calibri" pitchFamily="34" charset="-120"/>
              </a:rPr>
              <a:t>→</a:t>
            </a:r>
            <a:endParaRPr lang="en-US" sz="2800" dirty="0"/>
          </a:p>
        </p:txBody>
      </p:sp>
      <p:sp>
        <p:nvSpPr>
          <p:cNvPr id="10" name="Shape 8"/>
          <p:cNvSpPr/>
          <p:nvPr/>
        </p:nvSpPr>
        <p:spPr>
          <a:xfrm>
            <a:off x="6245352" y="1691640"/>
            <a:ext cx="5257800" cy="1783080"/>
          </a:xfrm>
          <a:prstGeom prst="roundRect">
            <a:avLst>
              <a:gd name="adj" fmla="val 4615"/>
            </a:avLst>
          </a:prstGeom>
          <a:solidFill>
            <a:srgbClr val="1E578D"/>
          </a:solidFill>
          <a:ln/>
          <a:effectLst>
            <a:outerShdw blurRad="88900" dist="25400" dir="5400000" algn="bl" rotWithShape="0">
              <a:srgbClr val="10294A">
                <a:alpha val="12000"/>
              </a:srgbClr>
            </a:outerShdw>
          </a:effectLst>
        </p:spPr>
        <p:txBody>
          <a:bodyPr/>
          <a:lstStyle/>
          <a:p>
            <a:endParaRPr lang="en-US"/>
          </a:p>
        </p:txBody>
      </p:sp>
      <p:sp>
        <p:nvSpPr>
          <p:cNvPr id="11" name="Text 9"/>
          <p:cNvSpPr/>
          <p:nvPr/>
        </p:nvSpPr>
        <p:spPr>
          <a:xfrm>
            <a:off x="6519672" y="1856232"/>
            <a:ext cx="470916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WHAT THE MODEL HAS  </a:t>
            </a:r>
            <a:r>
              <a:rPr lang="en-US" sz="1100" dirty="0">
                <a:solidFill>
                  <a:srgbClr val="D6E4F2"/>
                </a:solidFill>
                <a:latin typeface="Calibri" pitchFamily="34" charset="0"/>
                <a:ea typeface="Calibri" pitchFamily="34" charset="-122"/>
                <a:cs typeface="Calibri" pitchFamily="34" charset="-120"/>
              </a:rPr>
              <a:t>· 15 columns</a:t>
            </a:r>
            <a:endParaRPr lang="en-US" sz="1250" dirty="0"/>
          </a:p>
        </p:txBody>
      </p:sp>
      <p:sp>
        <p:nvSpPr>
          <p:cNvPr id="12" name="Text 10"/>
          <p:cNvSpPr/>
          <p:nvPr/>
        </p:nvSpPr>
        <p:spPr>
          <a:xfrm>
            <a:off x="6519672" y="2148840"/>
            <a:ext cx="4709160" cy="228600"/>
          </a:xfrm>
          <a:prstGeom prst="rect">
            <a:avLst/>
          </a:prstGeom>
          <a:noFill/>
          <a:ln/>
        </p:spPr>
        <p:txBody>
          <a:bodyPr wrap="square" lIns="0" tIns="0" rIns="0" bIns="0" rtlCol="0" anchor="ctr"/>
          <a:lstStyle/>
          <a:p>
            <a:pPr marL="0" indent="0">
              <a:buNone/>
            </a:pPr>
            <a:r>
              <a:rPr lang="en-US" sz="950" i="1" dirty="0">
                <a:solidFill>
                  <a:srgbClr val="D6E4F2"/>
                </a:solidFill>
                <a:latin typeface="Calibri" pitchFamily="34" charset="0"/>
                <a:ea typeface="Calibri" pitchFamily="34" charset="-122"/>
                <a:cs typeface="Calibri" pitchFamily="34" charset="-120"/>
              </a:rPr>
              <a:t>The fields an engine can reason forward with</a:t>
            </a:r>
            <a:endParaRPr lang="en-US" sz="950" dirty="0"/>
          </a:p>
        </p:txBody>
      </p:sp>
      <p:sp>
        <p:nvSpPr>
          <p:cNvPr id="13" name="Text 11"/>
          <p:cNvSpPr/>
          <p:nvPr/>
        </p:nvSpPr>
        <p:spPr>
          <a:xfrm>
            <a:off x="6519672" y="2441448"/>
            <a:ext cx="4709160" cy="914400"/>
          </a:xfrm>
          <a:prstGeom prst="rect">
            <a:avLst/>
          </a:prstGeom>
          <a:noFill/>
          <a:ln/>
        </p:spPr>
        <p:txBody>
          <a:bodyPr wrap="square" lIns="0" tIns="0" rIns="0" bIns="0" rtlCol="0" anchor="ctr"/>
          <a:lstStyle/>
          <a:p>
            <a:pPr marL="0" indent="0">
              <a:lnSpc>
                <a:spcPts val="1600"/>
              </a:lnSpc>
              <a:buNone/>
            </a:pPr>
            <a:r>
              <a:rPr lang="en-US" sz="1050" dirty="0">
                <a:solidFill>
                  <a:srgbClr val="D6E4F2"/>
                </a:solidFill>
                <a:latin typeface="Consolas" pitchFamily="34" charset="0"/>
                <a:ea typeface="Consolas" pitchFamily="34" charset="-122"/>
                <a:cs typeface="Consolas" pitchFamily="34" charset="-120"/>
              </a:rPr>
              <a:t>ID · name · group · supplier · unitPriceGross · vatRatePct · </a:t>
            </a:r>
            <a:r>
              <a:rPr lang="en-US" sz="1050" b="1" dirty="0">
                <a:solidFill>
                  <a:srgbClr val="FFFFFF"/>
                </a:solidFill>
                <a:latin typeface="Consolas" pitchFamily="34" charset="0"/>
                <a:ea typeface="Consolas" pitchFamily="34" charset="-122"/>
                <a:cs typeface="Consolas" pitchFamily="34" charset="-120"/>
              </a:rPr>
              <a:t>unitCost</a:t>
            </a:r>
            <a:r>
              <a:rPr lang="en-US" sz="1050" dirty="0">
                <a:solidFill>
                  <a:srgbClr val="D6E4F2"/>
                </a:solidFill>
                <a:latin typeface="Consolas" pitchFamily="34" charset="0"/>
                <a:ea typeface="Consolas" pitchFamily="34" charset="-122"/>
                <a:cs typeface="Consolas" pitchFamily="34" charset="-120"/>
              </a:rPr>
              <a:t> · </a:t>
            </a:r>
            <a:r>
              <a:rPr lang="en-US" sz="1050" b="1" dirty="0">
                <a:solidFill>
                  <a:srgbClr val="FFFFFF"/>
                </a:solidFill>
                <a:latin typeface="Consolas" pitchFamily="34" charset="0"/>
                <a:ea typeface="Consolas" pitchFamily="34" charset="-122"/>
                <a:cs typeface="Consolas" pitchFamily="34" charset="-120"/>
              </a:rPr>
              <a:t>isDeposit</a:t>
            </a:r>
            <a:r>
              <a:rPr lang="en-US" sz="1050" dirty="0">
                <a:solidFill>
                  <a:srgbClr val="D6E4F2"/>
                </a:solidFill>
                <a:latin typeface="Consolas" pitchFamily="34" charset="0"/>
                <a:ea typeface="Consolas" pitchFamily="34" charset="-122"/>
                <a:cs typeface="Consolas" pitchFamily="34" charset="-120"/>
              </a:rPr>
              <a:t> · </a:t>
            </a:r>
            <a:r>
              <a:rPr lang="en-US" sz="1050" b="1" dirty="0">
                <a:solidFill>
                  <a:srgbClr val="FFFFFF"/>
                </a:solidFill>
                <a:latin typeface="Consolas" pitchFamily="34" charset="0"/>
                <a:ea typeface="Consolas" pitchFamily="34" charset="-122"/>
                <a:cs typeface="Consolas" pitchFamily="34" charset="-120"/>
              </a:rPr>
              <a:t>isRfidTagged</a:t>
            </a:r>
            <a:r>
              <a:rPr lang="en-US" sz="1050" dirty="0">
                <a:solidFill>
                  <a:srgbClr val="D6E4F2"/>
                </a:solidFill>
                <a:latin typeface="Consolas" pitchFamily="34" charset="0"/>
                <a:ea typeface="Consolas" pitchFamily="34" charset="-122"/>
                <a:cs typeface="Consolas" pitchFamily="34" charset="-120"/>
              </a:rPr>
              <a:t> · </a:t>
            </a:r>
            <a:r>
              <a:rPr lang="en-US" sz="1050" b="1" dirty="0">
                <a:solidFill>
                  <a:srgbClr val="FFFFFF"/>
                </a:solidFill>
                <a:latin typeface="Consolas" pitchFamily="34" charset="0"/>
                <a:ea typeface="Consolas" pitchFamily="34" charset="-122"/>
                <a:cs typeface="Consolas" pitchFamily="34" charset="-120"/>
              </a:rPr>
              <a:t>shelfLifeDays</a:t>
            </a:r>
            <a:r>
              <a:rPr lang="en-US" sz="1050" dirty="0">
                <a:solidFill>
                  <a:srgbClr val="D6E4F2"/>
                </a:solidFill>
                <a:latin typeface="Consolas" pitchFamily="34" charset="0"/>
                <a:ea typeface="Consolas" pitchFamily="34" charset="-122"/>
                <a:cs typeface="Consolas" pitchFamily="34" charset="-120"/>
              </a:rPr>
              <a:t> · </a:t>
            </a:r>
            <a:r>
              <a:rPr lang="en-US" sz="1050" b="1" dirty="0">
                <a:solidFill>
                  <a:srgbClr val="FFFFFF"/>
                </a:solidFill>
                <a:latin typeface="Consolas" pitchFamily="34" charset="0"/>
                <a:ea typeface="Consolas" pitchFamily="34" charset="-122"/>
                <a:cs typeface="Consolas" pitchFamily="34" charset="-120"/>
              </a:rPr>
              <a:t>abcClass</a:t>
            </a:r>
            <a:r>
              <a:rPr lang="en-US" sz="1050" dirty="0">
                <a:solidFill>
                  <a:srgbClr val="D6E4F2"/>
                </a:solidFill>
                <a:latin typeface="Consolas" pitchFamily="34" charset="0"/>
                <a:ea typeface="Consolas" pitchFamily="34" charset="-122"/>
                <a:cs typeface="Consolas" pitchFamily="34" charset="-120"/>
              </a:rPr>
              <a:t> · </a:t>
            </a:r>
            <a:r>
              <a:rPr lang="en-US" sz="1050" b="1" dirty="0">
                <a:solidFill>
                  <a:srgbClr val="FFFFFF"/>
                </a:solidFill>
                <a:latin typeface="Consolas" pitchFamily="34" charset="0"/>
                <a:ea typeface="Consolas" pitchFamily="34" charset="-122"/>
                <a:cs typeface="Consolas" pitchFamily="34" charset="-120"/>
              </a:rPr>
              <a:t>shelfCapacity</a:t>
            </a:r>
            <a:r>
              <a:rPr lang="en-US" sz="1050" dirty="0">
                <a:solidFill>
                  <a:srgbClr val="D6E4F2"/>
                </a:solidFill>
                <a:latin typeface="Consolas" pitchFamily="34" charset="0"/>
                <a:ea typeface="Consolas" pitchFamily="34" charset="-122"/>
                <a:cs typeface="Consolas" pitchFamily="34" charset="-120"/>
              </a:rPr>
              <a:t> · </a:t>
            </a:r>
            <a:r>
              <a:rPr lang="en-US" sz="1050" b="1" dirty="0">
                <a:solidFill>
                  <a:srgbClr val="FFFFFF"/>
                </a:solidFill>
                <a:latin typeface="Consolas" pitchFamily="34" charset="0"/>
                <a:ea typeface="Consolas" pitchFamily="34" charset="-122"/>
                <a:cs typeface="Consolas" pitchFamily="34" charset="-120"/>
              </a:rPr>
              <a:t>reorderPoint</a:t>
            </a:r>
            <a:r>
              <a:rPr lang="en-US" sz="1050" dirty="0">
                <a:solidFill>
                  <a:srgbClr val="D6E4F2"/>
                </a:solidFill>
                <a:latin typeface="Consolas" pitchFamily="34" charset="0"/>
                <a:ea typeface="Consolas" pitchFamily="34" charset="-122"/>
                <a:cs typeface="Consolas" pitchFamily="34" charset="-120"/>
              </a:rPr>
              <a:t> · isFromSapExport</a:t>
            </a:r>
            <a:endParaRPr lang="en-US" sz="1050" dirty="0"/>
          </a:p>
        </p:txBody>
      </p:sp>
      <p:sp>
        <p:nvSpPr>
          <p:cNvPr id="14" name="Shape 12"/>
          <p:cNvSpPr/>
          <p:nvPr/>
        </p:nvSpPr>
        <p:spPr>
          <a:xfrm>
            <a:off x="685800" y="3703320"/>
            <a:ext cx="2697480" cy="1600200"/>
          </a:xfrm>
          <a:prstGeom prst="roundRect">
            <a:avLst>
              <a:gd name="adj" fmla="val 5143"/>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15" name="Shape 13"/>
          <p:cNvSpPr/>
          <p:nvPr/>
        </p:nvSpPr>
        <p:spPr>
          <a:xfrm>
            <a:off x="1796796" y="3886200"/>
            <a:ext cx="475488" cy="475488"/>
          </a:xfrm>
          <a:prstGeom prst="ellipse">
            <a:avLst/>
          </a:prstGeom>
          <a:solidFill>
            <a:srgbClr val="EEF3FA"/>
          </a:solidFill>
          <a:ln/>
        </p:spPr>
        <p:txBody>
          <a:bodyPr/>
          <a:lstStyle/>
          <a:p>
            <a:endParaRPr lang="en-US"/>
          </a:p>
        </p:txBody>
      </p:sp>
      <p:pic>
        <p:nvPicPr>
          <p:cNvPr id="16" name="Image 0" descr="preencoded.png"/>
          <p:cNvPicPr>
            <a:picLocks noChangeAspect="1"/>
          </p:cNvPicPr>
          <p:nvPr/>
        </p:nvPicPr>
        <p:blipFill>
          <a:blip r:embed="rId3"/>
          <a:stretch>
            <a:fillRect/>
          </a:stretch>
        </p:blipFill>
        <p:spPr>
          <a:xfrm>
            <a:off x="1910913" y="4000317"/>
            <a:ext cx="247254" cy="247254"/>
          </a:xfrm>
          <a:prstGeom prst="rect">
            <a:avLst/>
          </a:prstGeom>
        </p:spPr>
      </p:pic>
      <p:sp>
        <p:nvSpPr>
          <p:cNvPr id="17" name="Text 14"/>
          <p:cNvSpPr/>
          <p:nvPr/>
        </p:nvSpPr>
        <p:spPr>
          <a:xfrm>
            <a:off x="822960" y="4416552"/>
            <a:ext cx="2423160" cy="411480"/>
          </a:xfrm>
          <a:prstGeom prst="rect">
            <a:avLst/>
          </a:prstGeom>
          <a:noFill/>
          <a:ln/>
        </p:spPr>
        <p:txBody>
          <a:bodyPr wrap="square" lIns="0" tIns="0" rIns="0" bIns="0" rtlCol="0" anchor="ctr"/>
          <a:lstStyle/>
          <a:p>
            <a:pPr marL="0" indent="0" algn="ctr">
              <a:lnSpc>
                <a:spcPts val="1300"/>
              </a:lnSpc>
              <a:buNone/>
            </a:pPr>
            <a:r>
              <a:rPr lang="en-US" sz="1150" b="1" dirty="0">
                <a:solidFill>
                  <a:srgbClr val="10294A"/>
                </a:solidFill>
                <a:latin typeface="Consolas" pitchFamily="34" charset="0"/>
                <a:ea typeface="Consolas" pitchFamily="34" charset="-122"/>
                <a:cs typeface="Consolas" pitchFamily="34" charset="-120"/>
              </a:rPr>
              <a:t>unitCost</a:t>
            </a:r>
            <a:endParaRPr lang="en-US" sz="1150" dirty="0"/>
          </a:p>
        </p:txBody>
      </p:sp>
      <p:sp>
        <p:nvSpPr>
          <p:cNvPr id="18" name="Text 15"/>
          <p:cNvSpPr/>
          <p:nvPr/>
        </p:nvSpPr>
        <p:spPr>
          <a:xfrm>
            <a:off x="850392" y="4800600"/>
            <a:ext cx="2368296" cy="457200"/>
          </a:xfrm>
          <a:prstGeom prst="rect">
            <a:avLst/>
          </a:prstGeom>
          <a:noFill/>
          <a:ln/>
        </p:spPr>
        <p:txBody>
          <a:bodyPr wrap="square" lIns="0" tIns="0" rIns="0" bIns="0" rtlCol="0" anchor="ctr"/>
          <a:lstStyle/>
          <a:p>
            <a:pPr marL="0" indent="0" algn="ctr">
              <a:lnSpc>
                <a:spcPts val="1200"/>
              </a:lnSpc>
              <a:buNone/>
            </a:pPr>
            <a:r>
              <a:rPr lang="en-US" sz="950" dirty="0">
                <a:solidFill>
                  <a:srgbClr val="54657E"/>
                </a:solidFill>
                <a:latin typeface="Calibri" pitchFamily="34" charset="0"/>
                <a:ea typeface="Calibri" pitchFamily="34" charset="-122"/>
                <a:cs typeface="Calibri" pitchFamily="34" charset="-120"/>
              </a:rPr>
              <a:t>No margin → no markdown; shrink has no € value</a:t>
            </a:r>
            <a:endParaRPr lang="en-US" sz="950" dirty="0"/>
          </a:p>
        </p:txBody>
      </p:sp>
      <p:sp>
        <p:nvSpPr>
          <p:cNvPr id="19" name="Shape 16"/>
          <p:cNvSpPr/>
          <p:nvPr/>
        </p:nvSpPr>
        <p:spPr>
          <a:xfrm>
            <a:off x="3493008" y="3703320"/>
            <a:ext cx="2697480" cy="1600200"/>
          </a:xfrm>
          <a:prstGeom prst="roundRect">
            <a:avLst>
              <a:gd name="adj" fmla="val 5143"/>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20" name="Shape 17"/>
          <p:cNvSpPr/>
          <p:nvPr/>
        </p:nvSpPr>
        <p:spPr>
          <a:xfrm>
            <a:off x="4604004" y="3886200"/>
            <a:ext cx="475488" cy="475488"/>
          </a:xfrm>
          <a:prstGeom prst="ellipse">
            <a:avLst/>
          </a:prstGeom>
          <a:solidFill>
            <a:srgbClr val="EEF3FA"/>
          </a:solidFill>
          <a:ln/>
        </p:spPr>
        <p:txBody>
          <a:bodyPr/>
          <a:lstStyle/>
          <a:p>
            <a:endParaRPr lang="en-US"/>
          </a:p>
        </p:txBody>
      </p:sp>
      <p:pic>
        <p:nvPicPr>
          <p:cNvPr id="21" name="Image 1" descr="preencoded.png"/>
          <p:cNvPicPr>
            <a:picLocks noChangeAspect="1"/>
          </p:cNvPicPr>
          <p:nvPr/>
        </p:nvPicPr>
        <p:blipFill>
          <a:blip r:embed="rId4"/>
          <a:stretch>
            <a:fillRect/>
          </a:stretch>
        </p:blipFill>
        <p:spPr>
          <a:xfrm>
            <a:off x="4718121" y="4000317"/>
            <a:ext cx="247254" cy="247254"/>
          </a:xfrm>
          <a:prstGeom prst="rect">
            <a:avLst/>
          </a:prstGeom>
        </p:spPr>
      </p:pic>
      <p:sp>
        <p:nvSpPr>
          <p:cNvPr id="22" name="Text 18"/>
          <p:cNvSpPr/>
          <p:nvPr/>
        </p:nvSpPr>
        <p:spPr>
          <a:xfrm>
            <a:off x="3630168" y="4416552"/>
            <a:ext cx="2423160" cy="411480"/>
          </a:xfrm>
          <a:prstGeom prst="rect">
            <a:avLst/>
          </a:prstGeom>
          <a:noFill/>
          <a:ln/>
        </p:spPr>
        <p:txBody>
          <a:bodyPr wrap="square" lIns="0" tIns="0" rIns="0" bIns="0" rtlCol="0" anchor="ctr"/>
          <a:lstStyle/>
          <a:p>
            <a:pPr marL="0" indent="0" algn="ctr">
              <a:lnSpc>
                <a:spcPts val="1300"/>
              </a:lnSpc>
              <a:buNone/>
            </a:pPr>
            <a:r>
              <a:rPr lang="en-US" sz="1150" b="1" dirty="0">
                <a:solidFill>
                  <a:srgbClr val="10294A"/>
                </a:solidFill>
                <a:latin typeface="Consolas" pitchFamily="34" charset="0"/>
                <a:ea typeface="Consolas" pitchFamily="34" charset="-122"/>
                <a:cs typeface="Consolas" pitchFamily="34" charset="-120"/>
              </a:rPr>
              <a:t>shelfLifeDays</a:t>
            </a:r>
            <a:endParaRPr lang="en-US" sz="1150" dirty="0"/>
          </a:p>
        </p:txBody>
      </p:sp>
      <p:sp>
        <p:nvSpPr>
          <p:cNvPr id="23" name="Text 19"/>
          <p:cNvSpPr/>
          <p:nvPr/>
        </p:nvSpPr>
        <p:spPr>
          <a:xfrm>
            <a:off x="3657600" y="4800600"/>
            <a:ext cx="2368296" cy="457200"/>
          </a:xfrm>
          <a:prstGeom prst="rect">
            <a:avLst/>
          </a:prstGeom>
          <a:noFill/>
          <a:ln/>
        </p:spPr>
        <p:txBody>
          <a:bodyPr wrap="square" lIns="0" tIns="0" rIns="0" bIns="0" rtlCol="0" anchor="ctr"/>
          <a:lstStyle/>
          <a:p>
            <a:pPr marL="0" indent="0" algn="ctr">
              <a:lnSpc>
                <a:spcPts val="1200"/>
              </a:lnSpc>
              <a:buNone/>
            </a:pPr>
            <a:r>
              <a:rPr lang="en-US" sz="950" dirty="0">
                <a:solidFill>
                  <a:srgbClr val="54657E"/>
                </a:solidFill>
                <a:latin typeface="Calibri" pitchFamily="34" charset="0"/>
                <a:ea typeface="Calibri" pitchFamily="34" charset="-122"/>
                <a:cs typeface="Calibri" pitchFamily="34" charset="-120"/>
              </a:rPr>
              <a:t>No expiry → Fresh Waste Guard can’t exist</a:t>
            </a:r>
            <a:endParaRPr lang="en-US" sz="950" dirty="0"/>
          </a:p>
        </p:txBody>
      </p:sp>
      <p:sp>
        <p:nvSpPr>
          <p:cNvPr id="24" name="Shape 20"/>
          <p:cNvSpPr/>
          <p:nvPr/>
        </p:nvSpPr>
        <p:spPr>
          <a:xfrm>
            <a:off x="6300216" y="3703320"/>
            <a:ext cx="2697480" cy="1600200"/>
          </a:xfrm>
          <a:prstGeom prst="roundRect">
            <a:avLst>
              <a:gd name="adj" fmla="val 5143"/>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25" name="Shape 21"/>
          <p:cNvSpPr/>
          <p:nvPr/>
        </p:nvSpPr>
        <p:spPr>
          <a:xfrm>
            <a:off x="7411212" y="3886200"/>
            <a:ext cx="475488" cy="475488"/>
          </a:xfrm>
          <a:prstGeom prst="ellipse">
            <a:avLst/>
          </a:prstGeom>
          <a:solidFill>
            <a:srgbClr val="EEF3FA"/>
          </a:solidFill>
          <a:ln/>
        </p:spPr>
        <p:txBody>
          <a:bodyPr/>
          <a:lstStyle/>
          <a:p>
            <a:endParaRPr lang="en-US"/>
          </a:p>
        </p:txBody>
      </p:sp>
      <p:pic>
        <p:nvPicPr>
          <p:cNvPr id="26" name="Image 2" descr="preencoded.png"/>
          <p:cNvPicPr>
            <a:picLocks noChangeAspect="1"/>
          </p:cNvPicPr>
          <p:nvPr/>
        </p:nvPicPr>
        <p:blipFill>
          <a:blip r:embed="rId5"/>
          <a:stretch>
            <a:fillRect/>
          </a:stretch>
        </p:blipFill>
        <p:spPr>
          <a:xfrm>
            <a:off x="7525329" y="4000317"/>
            <a:ext cx="247254" cy="247254"/>
          </a:xfrm>
          <a:prstGeom prst="rect">
            <a:avLst/>
          </a:prstGeom>
        </p:spPr>
      </p:pic>
      <p:sp>
        <p:nvSpPr>
          <p:cNvPr id="27" name="Text 22"/>
          <p:cNvSpPr/>
          <p:nvPr/>
        </p:nvSpPr>
        <p:spPr>
          <a:xfrm>
            <a:off x="6437376" y="4416552"/>
            <a:ext cx="2423160" cy="411480"/>
          </a:xfrm>
          <a:prstGeom prst="rect">
            <a:avLst/>
          </a:prstGeom>
          <a:noFill/>
          <a:ln/>
        </p:spPr>
        <p:txBody>
          <a:bodyPr wrap="square" lIns="0" tIns="0" rIns="0" bIns="0" rtlCol="0" anchor="ctr"/>
          <a:lstStyle/>
          <a:p>
            <a:pPr marL="0" indent="0" algn="ctr">
              <a:lnSpc>
                <a:spcPts val="1300"/>
              </a:lnSpc>
              <a:buNone/>
            </a:pPr>
            <a:r>
              <a:rPr lang="en-US" sz="1150" b="1" dirty="0">
                <a:solidFill>
                  <a:srgbClr val="10294A"/>
                </a:solidFill>
                <a:latin typeface="Consolas" pitchFamily="34" charset="0"/>
                <a:ea typeface="Consolas" pitchFamily="34" charset="-122"/>
                <a:cs typeface="Consolas" pitchFamily="34" charset="-120"/>
              </a:rPr>
              <a:t>isRfidTagged</a:t>
            </a:r>
            <a:endParaRPr lang="en-US" sz="1150" dirty="0"/>
          </a:p>
        </p:txBody>
      </p:sp>
      <p:sp>
        <p:nvSpPr>
          <p:cNvPr id="28" name="Text 23"/>
          <p:cNvSpPr/>
          <p:nvPr/>
        </p:nvSpPr>
        <p:spPr>
          <a:xfrm>
            <a:off x="6464808" y="4800600"/>
            <a:ext cx="2368296" cy="457200"/>
          </a:xfrm>
          <a:prstGeom prst="rect">
            <a:avLst/>
          </a:prstGeom>
          <a:noFill/>
          <a:ln/>
        </p:spPr>
        <p:txBody>
          <a:bodyPr wrap="square" lIns="0" tIns="0" rIns="0" bIns="0" rtlCol="0" anchor="ctr"/>
          <a:lstStyle/>
          <a:p>
            <a:pPr marL="0" indent="0" algn="ctr">
              <a:lnSpc>
                <a:spcPts val="1200"/>
              </a:lnSpc>
              <a:buNone/>
            </a:pPr>
            <a:r>
              <a:rPr lang="en-US" sz="950" dirty="0">
                <a:solidFill>
                  <a:srgbClr val="54657E"/>
                </a:solidFill>
                <a:latin typeface="Calibri" pitchFamily="34" charset="0"/>
                <a:ea typeface="Calibri" pitchFamily="34" charset="-122"/>
                <a:cs typeface="Calibri" pitchFamily="34" charset="-120"/>
              </a:rPr>
              <a:t>Can’t tell a gate misread from an untaggable item</a:t>
            </a:r>
            <a:endParaRPr lang="en-US" sz="950" dirty="0"/>
          </a:p>
        </p:txBody>
      </p:sp>
      <p:sp>
        <p:nvSpPr>
          <p:cNvPr id="29" name="Shape 24"/>
          <p:cNvSpPr/>
          <p:nvPr/>
        </p:nvSpPr>
        <p:spPr>
          <a:xfrm>
            <a:off x="9107424" y="3703320"/>
            <a:ext cx="2697480" cy="1600200"/>
          </a:xfrm>
          <a:prstGeom prst="roundRect">
            <a:avLst>
              <a:gd name="adj" fmla="val 5143"/>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30" name="Shape 25"/>
          <p:cNvSpPr/>
          <p:nvPr/>
        </p:nvSpPr>
        <p:spPr>
          <a:xfrm>
            <a:off x="10218420" y="3886200"/>
            <a:ext cx="475488" cy="475488"/>
          </a:xfrm>
          <a:prstGeom prst="ellipse">
            <a:avLst/>
          </a:prstGeom>
          <a:solidFill>
            <a:srgbClr val="EEF3FA"/>
          </a:solidFill>
          <a:ln/>
        </p:spPr>
        <p:txBody>
          <a:bodyPr/>
          <a:lstStyle/>
          <a:p>
            <a:endParaRPr lang="en-US"/>
          </a:p>
        </p:txBody>
      </p:sp>
      <p:pic>
        <p:nvPicPr>
          <p:cNvPr id="31" name="Image 3" descr="preencoded.png"/>
          <p:cNvPicPr>
            <a:picLocks noChangeAspect="1"/>
          </p:cNvPicPr>
          <p:nvPr/>
        </p:nvPicPr>
        <p:blipFill>
          <a:blip r:embed="rId6"/>
          <a:stretch>
            <a:fillRect/>
          </a:stretch>
        </p:blipFill>
        <p:spPr>
          <a:xfrm>
            <a:off x="10332537" y="4000317"/>
            <a:ext cx="247254" cy="247254"/>
          </a:xfrm>
          <a:prstGeom prst="rect">
            <a:avLst/>
          </a:prstGeom>
        </p:spPr>
      </p:pic>
      <p:sp>
        <p:nvSpPr>
          <p:cNvPr id="32" name="Text 26"/>
          <p:cNvSpPr/>
          <p:nvPr/>
        </p:nvSpPr>
        <p:spPr>
          <a:xfrm>
            <a:off x="9244584" y="4416552"/>
            <a:ext cx="2423160" cy="411480"/>
          </a:xfrm>
          <a:prstGeom prst="rect">
            <a:avLst/>
          </a:prstGeom>
          <a:noFill/>
          <a:ln/>
        </p:spPr>
        <p:txBody>
          <a:bodyPr wrap="square" lIns="0" tIns="0" rIns="0" bIns="0" rtlCol="0" anchor="ctr"/>
          <a:lstStyle/>
          <a:p>
            <a:pPr marL="0" indent="0" algn="ctr">
              <a:lnSpc>
                <a:spcPts val="1300"/>
              </a:lnSpc>
              <a:buNone/>
            </a:pPr>
            <a:r>
              <a:rPr lang="en-US" sz="1150" b="1" dirty="0">
                <a:solidFill>
                  <a:srgbClr val="10294A"/>
                </a:solidFill>
                <a:latin typeface="Consolas" pitchFamily="34" charset="0"/>
                <a:ea typeface="Consolas" pitchFamily="34" charset="-122"/>
                <a:cs typeface="Consolas" pitchFamily="34" charset="-120"/>
              </a:rPr>
              <a:t>shelfCapacity + supplier</a:t>
            </a:r>
            <a:endParaRPr lang="en-US" sz="1150" dirty="0"/>
          </a:p>
        </p:txBody>
      </p:sp>
      <p:sp>
        <p:nvSpPr>
          <p:cNvPr id="33" name="Text 27"/>
          <p:cNvSpPr/>
          <p:nvPr/>
        </p:nvSpPr>
        <p:spPr>
          <a:xfrm>
            <a:off x="9272016" y="4800600"/>
            <a:ext cx="2368296" cy="457200"/>
          </a:xfrm>
          <a:prstGeom prst="rect">
            <a:avLst/>
          </a:prstGeom>
          <a:noFill/>
          <a:ln/>
        </p:spPr>
        <p:txBody>
          <a:bodyPr wrap="square" lIns="0" tIns="0" rIns="0" bIns="0" rtlCol="0" anchor="ctr"/>
          <a:lstStyle/>
          <a:p>
            <a:pPr marL="0" indent="0" algn="ctr">
              <a:lnSpc>
                <a:spcPts val="1200"/>
              </a:lnSpc>
              <a:buNone/>
            </a:pPr>
            <a:r>
              <a:rPr lang="en-US" sz="950" dirty="0">
                <a:solidFill>
                  <a:srgbClr val="54657E"/>
                </a:solidFill>
                <a:latin typeface="Calibri" pitchFamily="34" charset="0"/>
                <a:ea typeface="Calibri" pitchFamily="34" charset="-122"/>
                <a:cs typeface="Calibri" pitchFamily="34" charset="-120"/>
              </a:rPr>
              <a:t>No replenishment — can’t size an order</a:t>
            </a:r>
            <a:endParaRPr lang="en-US" sz="950" dirty="0"/>
          </a:p>
        </p:txBody>
      </p:sp>
      <p:sp>
        <p:nvSpPr>
          <p:cNvPr id="34" name="Shape 28"/>
          <p:cNvSpPr/>
          <p:nvPr/>
        </p:nvSpPr>
        <p:spPr>
          <a:xfrm>
            <a:off x="685800" y="5486400"/>
            <a:ext cx="7223760" cy="822960"/>
          </a:xfrm>
          <a:prstGeom prst="roundRect">
            <a:avLst>
              <a:gd name="adj" fmla="val 1000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35" name="Text 29"/>
          <p:cNvSpPr/>
          <p:nvPr/>
        </p:nvSpPr>
        <p:spPr>
          <a:xfrm>
            <a:off x="868680" y="5596128"/>
            <a:ext cx="6949440" cy="237744"/>
          </a:xfrm>
          <a:prstGeom prst="rect">
            <a:avLst/>
          </a:prstGeom>
          <a:noFill/>
          <a:ln/>
        </p:spPr>
        <p:txBody>
          <a:bodyPr wrap="square" lIns="0" tIns="0" rIns="0" bIns="0" rtlCol="0" anchor="ctr"/>
          <a:lstStyle/>
          <a:p>
            <a:pPr marL="0" indent="0">
              <a:buNone/>
            </a:pPr>
            <a:r>
              <a:rPr lang="en-US" sz="1100" b="1" dirty="0">
                <a:solidFill>
                  <a:srgbClr val="10294A"/>
                </a:solidFill>
                <a:latin typeface="Calibri" pitchFamily="34" charset="0"/>
                <a:ea typeface="Calibri" pitchFamily="34" charset="-122"/>
                <a:cs typeface="Calibri" pitchFamily="34" charset="-120"/>
              </a:rPr>
              <a:t>Three kinds of enrichment — worth knowing which is which</a:t>
            </a:r>
            <a:endParaRPr lang="en-US" sz="1100" dirty="0"/>
          </a:p>
        </p:txBody>
      </p:sp>
      <p:sp>
        <p:nvSpPr>
          <p:cNvPr id="36" name="Shape 30"/>
          <p:cNvSpPr/>
          <p:nvPr/>
        </p:nvSpPr>
        <p:spPr>
          <a:xfrm>
            <a:off x="868680" y="5897880"/>
            <a:ext cx="164592" cy="164592"/>
          </a:xfrm>
          <a:prstGeom prst="roundRect">
            <a:avLst>
              <a:gd name="adj" fmla="val 16667"/>
            </a:avLst>
          </a:prstGeom>
          <a:solidFill>
            <a:srgbClr val="2E9B5B"/>
          </a:solidFill>
          <a:ln/>
        </p:spPr>
        <p:txBody>
          <a:bodyPr/>
          <a:lstStyle/>
          <a:p>
            <a:endParaRPr lang="en-US"/>
          </a:p>
        </p:txBody>
      </p:sp>
      <p:sp>
        <p:nvSpPr>
          <p:cNvPr id="37" name="Text 31"/>
          <p:cNvSpPr/>
          <p:nvPr/>
        </p:nvSpPr>
        <p:spPr>
          <a:xfrm>
            <a:off x="1088136" y="5870448"/>
            <a:ext cx="2148840" cy="201168"/>
          </a:xfrm>
          <a:prstGeom prst="rect">
            <a:avLst/>
          </a:prstGeom>
          <a:noFill/>
          <a:ln/>
        </p:spPr>
        <p:txBody>
          <a:bodyPr wrap="square" lIns="0" tIns="0" rIns="0" bIns="0" rtlCol="0" anchor="ctr"/>
          <a:lstStyle/>
          <a:p>
            <a:pPr marL="0" indent="0">
              <a:buNone/>
            </a:pPr>
            <a:r>
              <a:rPr lang="en-US" sz="800" b="1" dirty="0">
                <a:solidFill>
                  <a:srgbClr val="2E9B5B"/>
                </a:solidFill>
                <a:latin typeface="Calibri" pitchFamily="34" charset="0"/>
                <a:ea typeface="Calibri" pitchFamily="34" charset="-122"/>
                <a:cs typeface="Calibri" pitchFamily="34" charset="-120"/>
              </a:rPr>
              <a:t>MEASURED &amp; REPLAYED</a:t>
            </a:r>
            <a:endParaRPr lang="en-US" sz="800" dirty="0"/>
          </a:p>
        </p:txBody>
      </p:sp>
      <p:sp>
        <p:nvSpPr>
          <p:cNvPr id="38" name="Text 32"/>
          <p:cNvSpPr/>
          <p:nvPr/>
        </p:nvSpPr>
        <p:spPr>
          <a:xfrm>
            <a:off x="1088136" y="6053328"/>
            <a:ext cx="2148840" cy="201168"/>
          </a:xfrm>
          <a:prstGeom prst="rect">
            <a:avLst/>
          </a:prstGeom>
          <a:noFill/>
          <a:ln/>
        </p:spPr>
        <p:txBody>
          <a:bodyPr wrap="square" lIns="0" tIns="0" rIns="0" bIns="0" rtlCol="0" anchor="ctr"/>
          <a:lstStyle/>
          <a:p>
            <a:pPr marL="0" indent="0">
              <a:buNone/>
            </a:pPr>
            <a:r>
              <a:rPr lang="en-US" sz="800" dirty="0">
                <a:solidFill>
                  <a:srgbClr val="54657E"/>
                </a:solidFill>
                <a:latin typeface="Calibri" pitchFamily="34" charset="0"/>
                <a:ea typeface="Calibri" pitchFamily="34" charset="-122"/>
                <a:cs typeface="Calibri" pitchFamily="34" charset="-120"/>
              </a:rPr>
              <a:t>hourly curve, cancel rates</a:t>
            </a:r>
            <a:endParaRPr lang="en-US" sz="800" dirty="0"/>
          </a:p>
        </p:txBody>
      </p:sp>
      <p:sp>
        <p:nvSpPr>
          <p:cNvPr id="39" name="Shape 33"/>
          <p:cNvSpPr/>
          <p:nvPr/>
        </p:nvSpPr>
        <p:spPr>
          <a:xfrm>
            <a:off x="3200400" y="5897880"/>
            <a:ext cx="164592" cy="164592"/>
          </a:xfrm>
          <a:prstGeom prst="roundRect">
            <a:avLst>
              <a:gd name="adj" fmla="val 16667"/>
            </a:avLst>
          </a:prstGeom>
          <a:solidFill>
            <a:srgbClr val="1E578D"/>
          </a:solidFill>
          <a:ln/>
        </p:spPr>
        <p:txBody>
          <a:bodyPr/>
          <a:lstStyle/>
          <a:p>
            <a:endParaRPr lang="en-US"/>
          </a:p>
        </p:txBody>
      </p:sp>
      <p:sp>
        <p:nvSpPr>
          <p:cNvPr id="40" name="Text 34"/>
          <p:cNvSpPr/>
          <p:nvPr/>
        </p:nvSpPr>
        <p:spPr>
          <a:xfrm>
            <a:off x="3419856" y="5870448"/>
            <a:ext cx="2148840" cy="201168"/>
          </a:xfrm>
          <a:prstGeom prst="rect">
            <a:avLst/>
          </a:prstGeom>
          <a:noFill/>
          <a:ln/>
        </p:spPr>
        <p:txBody>
          <a:bodyPr wrap="square" lIns="0" tIns="0" rIns="0" bIns="0" rtlCol="0" anchor="ctr"/>
          <a:lstStyle/>
          <a:p>
            <a:pPr marL="0" indent="0">
              <a:buNone/>
            </a:pPr>
            <a:r>
              <a:rPr lang="en-US" sz="800" b="1" dirty="0">
                <a:solidFill>
                  <a:srgbClr val="1E578D"/>
                </a:solidFill>
                <a:latin typeface="Calibri" pitchFamily="34" charset="0"/>
                <a:ea typeface="Calibri" pitchFamily="34" charset="-122"/>
                <a:cs typeface="Calibri" pitchFamily="34" charset="-120"/>
              </a:rPr>
              <a:t>ASSIGNED BY RULE</a:t>
            </a:r>
            <a:endParaRPr lang="en-US" sz="800" dirty="0"/>
          </a:p>
        </p:txBody>
      </p:sp>
      <p:sp>
        <p:nvSpPr>
          <p:cNvPr id="41" name="Text 35"/>
          <p:cNvSpPr/>
          <p:nvPr/>
        </p:nvSpPr>
        <p:spPr>
          <a:xfrm>
            <a:off x="3419856" y="6053328"/>
            <a:ext cx="2148840" cy="201168"/>
          </a:xfrm>
          <a:prstGeom prst="rect">
            <a:avLst/>
          </a:prstGeom>
          <a:noFill/>
          <a:ln/>
        </p:spPr>
        <p:txBody>
          <a:bodyPr wrap="square" lIns="0" tIns="0" rIns="0" bIns="0" rtlCol="0" anchor="ctr"/>
          <a:lstStyle/>
          <a:p>
            <a:pPr marL="0" indent="0">
              <a:buNone/>
            </a:pPr>
            <a:r>
              <a:rPr lang="en-US" sz="800" dirty="0">
                <a:solidFill>
                  <a:srgbClr val="54657E"/>
                </a:solidFill>
                <a:latin typeface="Calibri" pitchFamily="34" charset="0"/>
                <a:ea typeface="Calibri" pitchFamily="34" charset="-122"/>
                <a:cs typeface="Calibri" pitchFamily="34" charset="-120"/>
              </a:rPr>
              <a:t>shelf life, temp zone, RFID</a:t>
            </a:r>
            <a:endParaRPr lang="en-US" sz="800" dirty="0"/>
          </a:p>
        </p:txBody>
      </p:sp>
      <p:sp>
        <p:nvSpPr>
          <p:cNvPr id="42" name="Shape 36"/>
          <p:cNvSpPr/>
          <p:nvPr/>
        </p:nvSpPr>
        <p:spPr>
          <a:xfrm>
            <a:off x="5532120" y="5897880"/>
            <a:ext cx="164592" cy="164592"/>
          </a:xfrm>
          <a:prstGeom prst="roundRect">
            <a:avLst>
              <a:gd name="adj" fmla="val 16667"/>
            </a:avLst>
          </a:prstGeom>
          <a:solidFill>
            <a:srgbClr val="DE0024"/>
          </a:solidFill>
          <a:ln/>
        </p:spPr>
        <p:txBody>
          <a:bodyPr/>
          <a:lstStyle/>
          <a:p>
            <a:endParaRPr lang="en-US"/>
          </a:p>
        </p:txBody>
      </p:sp>
      <p:sp>
        <p:nvSpPr>
          <p:cNvPr id="43" name="Text 37"/>
          <p:cNvSpPr/>
          <p:nvPr/>
        </p:nvSpPr>
        <p:spPr>
          <a:xfrm>
            <a:off x="5751576" y="5870448"/>
            <a:ext cx="2148840" cy="201168"/>
          </a:xfrm>
          <a:prstGeom prst="rect">
            <a:avLst/>
          </a:prstGeom>
          <a:noFill/>
          <a:ln/>
        </p:spPr>
        <p:txBody>
          <a:bodyPr wrap="square" lIns="0" tIns="0" rIns="0" bIns="0" rtlCol="0" anchor="ctr"/>
          <a:lstStyle/>
          <a:p>
            <a:pPr marL="0" indent="0">
              <a:buNone/>
            </a:pPr>
            <a:r>
              <a:rPr lang="en-US" sz="800" b="1" dirty="0">
                <a:solidFill>
                  <a:srgbClr val="DE0024"/>
                </a:solidFill>
                <a:latin typeface="Calibri" pitchFamily="34" charset="0"/>
                <a:ea typeface="Calibri" pitchFamily="34" charset="-122"/>
                <a:cs typeface="Calibri" pitchFamily="34" charset="-120"/>
              </a:rPr>
              <a:t>STRUCTURALLY CREATED</a:t>
            </a:r>
            <a:endParaRPr lang="en-US" sz="800" dirty="0"/>
          </a:p>
        </p:txBody>
      </p:sp>
      <p:sp>
        <p:nvSpPr>
          <p:cNvPr id="44" name="Text 38"/>
          <p:cNvSpPr/>
          <p:nvPr/>
        </p:nvSpPr>
        <p:spPr>
          <a:xfrm>
            <a:off x="5751576" y="6053328"/>
            <a:ext cx="2148840" cy="201168"/>
          </a:xfrm>
          <a:prstGeom prst="rect">
            <a:avLst/>
          </a:prstGeom>
          <a:noFill/>
          <a:ln/>
        </p:spPr>
        <p:txBody>
          <a:bodyPr wrap="square" lIns="0" tIns="0" rIns="0" bIns="0" rtlCol="0" anchor="ctr"/>
          <a:lstStyle/>
          <a:p>
            <a:pPr marL="0" indent="0">
              <a:buNone/>
            </a:pPr>
            <a:r>
              <a:rPr lang="en-US" sz="800" dirty="0">
                <a:solidFill>
                  <a:srgbClr val="54657E"/>
                </a:solidFill>
                <a:latin typeface="Calibri" pitchFamily="34" charset="0"/>
                <a:ea typeface="Calibri" pitchFamily="34" charset="-122"/>
                <a:cs typeface="Calibri" pitchFamily="34" charset="-120"/>
              </a:rPr>
              <a:t>extra stores, sensors</a:t>
            </a:r>
            <a:endParaRPr lang="en-US" sz="800" dirty="0"/>
          </a:p>
        </p:txBody>
      </p:sp>
      <p:sp>
        <p:nvSpPr>
          <p:cNvPr id="45" name="Shape 39"/>
          <p:cNvSpPr/>
          <p:nvPr/>
        </p:nvSpPr>
        <p:spPr>
          <a:xfrm>
            <a:off x="8046720" y="5486400"/>
            <a:ext cx="3703320" cy="822960"/>
          </a:xfrm>
          <a:prstGeom prst="roundRect">
            <a:avLst>
              <a:gd name="adj" fmla="val 10000"/>
            </a:avLst>
          </a:prstGeom>
          <a:solidFill>
            <a:srgbClr val="10294A"/>
          </a:solidFill>
          <a:ln/>
          <a:effectLst>
            <a:outerShdw blurRad="88900" dist="25400" dir="5400000" algn="bl" rotWithShape="0">
              <a:srgbClr val="10294A">
                <a:alpha val="12000"/>
              </a:srgbClr>
            </a:outerShdw>
          </a:effectLst>
        </p:spPr>
        <p:txBody>
          <a:bodyPr/>
          <a:lstStyle/>
          <a:p>
            <a:endParaRPr lang="en-US"/>
          </a:p>
        </p:txBody>
      </p:sp>
      <p:sp>
        <p:nvSpPr>
          <p:cNvPr id="46" name="Shape 40"/>
          <p:cNvSpPr/>
          <p:nvPr/>
        </p:nvSpPr>
        <p:spPr>
          <a:xfrm>
            <a:off x="8275320" y="5715000"/>
            <a:ext cx="365760" cy="365760"/>
          </a:xfrm>
          <a:prstGeom prst="ellipse">
            <a:avLst/>
          </a:prstGeom>
          <a:solidFill>
            <a:srgbClr val="11304F"/>
          </a:solidFill>
          <a:ln/>
        </p:spPr>
        <p:txBody>
          <a:bodyPr/>
          <a:lstStyle/>
          <a:p>
            <a:endParaRPr lang="en-US"/>
          </a:p>
        </p:txBody>
      </p:sp>
      <p:pic>
        <p:nvPicPr>
          <p:cNvPr id="47" name="Image 4" descr="preencoded.png"/>
          <p:cNvPicPr>
            <a:picLocks noChangeAspect="1"/>
          </p:cNvPicPr>
          <p:nvPr/>
        </p:nvPicPr>
        <p:blipFill>
          <a:blip r:embed="rId7"/>
          <a:stretch>
            <a:fillRect/>
          </a:stretch>
        </p:blipFill>
        <p:spPr>
          <a:xfrm>
            <a:off x="8363102" y="5802782"/>
            <a:ext cx="190195" cy="190195"/>
          </a:xfrm>
          <a:prstGeom prst="rect">
            <a:avLst/>
          </a:prstGeom>
        </p:spPr>
      </p:pic>
      <p:sp>
        <p:nvSpPr>
          <p:cNvPr id="48" name="Text 41"/>
          <p:cNvSpPr/>
          <p:nvPr/>
        </p:nvSpPr>
        <p:spPr>
          <a:xfrm>
            <a:off x="8732520" y="5614416"/>
            <a:ext cx="2880360" cy="594360"/>
          </a:xfrm>
          <a:prstGeom prst="rect">
            <a:avLst/>
          </a:prstGeom>
          <a:noFill/>
          <a:ln/>
        </p:spPr>
        <p:txBody>
          <a:bodyPr wrap="square" lIns="0" tIns="0" rIns="0" bIns="0" rtlCol="0" anchor="ctr"/>
          <a:lstStyle/>
          <a:p>
            <a:pPr marL="0" indent="0">
              <a:lnSpc>
                <a:spcPts val="1300"/>
              </a:lnSpc>
              <a:buNone/>
            </a:pPr>
            <a:r>
              <a:rPr lang="en-US" sz="1000" b="1" dirty="0">
                <a:solidFill>
                  <a:srgbClr val="5B9BD5"/>
                </a:solidFill>
                <a:latin typeface="Calibri" pitchFamily="34" charset="0"/>
                <a:ea typeface="Calibri" pitchFamily="34" charset="-122"/>
                <a:cs typeface="Calibri" pitchFamily="34" charset="-120"/>
              </a:rPr>
              <a:t>Provenance on every row.  </a:t>
            </a:r>
            <a:r>
              <a:rPr lang="en-US" sz="950" dirty="0">
                <a:solidFill>
                  <a:srgbClr val="D6E4F2"/>
                </a:solidFill>
                <a:latin typeface="Calibri" pitchFamily="34" charset="0"/>
                <a:ea typeface="Calibri" pitchFamily="34" charset="-122"/>
                <a:cs typeface="Calibri" pitchFamily="34" charset="-120"/>
              </a:rPr>
              <a:t>isFromSapExport flags what SAP gave us vs what we created.</a:t>
            </a:r>
            <a:endParaRPr lang="en-US" sz="1000" dirty="0"/>
          </a:p>
        </p:txBody>
      </p:sp>
      <p:sp>
        <p:nvSpPr>
          <p:cNvPr id="49" name="Text 42"/>
          <p:cNvSpPr/>
          <p:nvPr/>
        </p:nvSpPr>
        <p:spPr>
          <a:xfrm>
            <a:off x="11414455" y="6400800"/>
            <a:ext cx="457200" cy="274320"/>
          </a:xfrm>
          <a:prstGeom prst="rect">
            <a:avLst/>
          </a:prstGeom>
          <a:noFill/>
          <a:ln/>
        </p:spPr>
        <p:txBody>
          <a:bodyPr wrap="square" rtlCol="0" anchor="ctr"/>
          <a:lstStyle/>
          <a:p>
            <a:pPr marL="0" indent="0" algn="r">
              <a:buNone/>
            </a:pPr>
            <a:r>
              <a:rPr lang="en-US" sz="900" dirty="0">
                <a:solidFill>
                  <a:srgbClr val="A6B6CC"/>
                </a:solidFill>
                <a:latin typeface="Calibri" pitchFamily="34" charset="0"/>
                <a:ea typeface="Calibri" pitchFamily="34" charset="-122"/>
                <a:cs typeface="Calibri" pitchFamily="34" charset="-120"/>
              </a:rPr>
              <a:t>03</a:t>
            </a:r>
            <a:endParaRPr lang="en-US" sz="900" dirty="0"/>
          </a:p>
        </p:txBody>
      </p:sp>
      <p:pic>
        <p:nvPicPr>
          <p:cNvPr id="50" name="Image 5" descr="/home/claude/logo_wide_trim.png"/>
          <p:cNvPicPr>
            <a:picLocks noChangeAspect="1"/>
          </p:cNvPicPr>
          <p:nvPr/>
        </p:nvPicPr>
        <p:blipFill>
          <a:blip r:embed="rId8"/>
          <a:stretch>
            <a:fillRect/>
          </a:stretch>
        </p:blipFill>
        <p:spPr>
          <a:xfrm>
            <a:off x="457200" y="6345936"/>
            <a:ext cx="1234440" cy="24075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7FB"/>
        </a:solidFill>
        <a:effectLst/>
      </p:bgPr>
    </p:bg>
    <p:spTree>
      <p:nvGrpSpPr>
        <p:cNvPr id="1" name=""/>
        <p:cNvGrpSpPr/>
        <p:nvPr/>
      </p:nvGrpSpPr>
      <p:grpSpPr>
        <a:xfrm>
          <a:off x="0" y="0"/>
          <a:ext cx="0" cy="0"/>
          <a:chOff x="0" y="0"/>
          <a:chExt cx="0" cy="0"/>
        </a:xfrm>
      </p:grpSpPr>
      <p:sp>
        <p:nvSpPr>
          <p:cNvPr id="2" name="Text 0"/>
          <p:cNvSpPr/>
          <p:nvPr/>
        </p:nvSpPr>
        <p:spPr>
          <a:xfrm>
            <a:off x="685800" y="548640"/>
            <a:ext cx="7315200" cy="274320"/>
          </a:xfrm>
          <a:prstGeom prst="rect">
            <a:avLst/>
          </a:prstGeom>
          <a:noFill/>
          <a:ln/>
        </p:spPr>
        <p:txBody>
          <a:bodyPr wrap="square" lIns="0" tIns="0" rIns="0" bIns="0" rtlCol="0" anchor="ctr"/>
          <a:lstStyle/>
          <a:p>
            <a:pPr marL="0" indent="0">
              <a:buNone/>
            </a:pPr>
            <a:r>
              <a:rPr lang="en-US" sz="1200" b="1" kern="0" spc="300" dirty="0">
                <a:solidFill>
                  <a:srgbClr val="1E578D"/>
                </a:solidFill>
                <a:latin typeface="Calibri" pitchFamily="34" charset="0"/>
                <a:ea typeface="Calibri" pitchFamily="34" charset="-122"/>
                <a:cs typeface="Calibri" pitchFamily="34" charset="-120"/>
              </a:rPr>
              <a:t>30-MINUTE SESSION</a:t>
            </a:r>
            <a:endParaRPr lang="en-US" sz="1200" dirty="0"/>
          </a:p>
        </p:txBody>
      </p:sp>
      <p:sp>
        <p:nvSpPr>
          <p:cNvPr id="3" name="Text 1"/>
          <p:cNvSpPr/>
          <p:nvPr/>
        </p:nvSpPr>
        <p:spPr>
          <a:xfrm>
            <a:off x="658368" y="841248"/>
            <a:ext cx="9144000" cy="640080"/>
          </a:xfrm>
          <a:prstGeom prst="rect">
            <a:avLst/>
          </a:prstGeom>
          <a:noFill/>
          <a:ln/>
        </p:spPr>
        <p:txBody>
          <a:bodyPr wrap="square" lIns="0" tIns="0" rIns="0" bIns="0" rtlCol="0" anchor="ctr"/>
          <a:lstStyle/>
          <a:p>
            <a:pPr marL="0" indent="0">
              <a:buNone/>
            </a:pPr>
            <a:r>
              <a:rPr lang="en-US" sz="3400" b="1" dirty="0">
                <a:solidFill>
                  <a:srgbClr val="10294A"/>
                </a:solidFill>
                <a:latin typeface="Bookman Old Style" pitchFamily="34" charset="0"/>
                <a:ea typeface="Bookman Old Style" pitchFamily="34" charset="-122"/>
                <a:cs typeface="Bookman Old Style" pitchFamily="34" charset="-120"/>
              </a:rPr>
              <a:t>How we’ll spend the time</a:t>
            </a:r>
            <a:endParaRPr lang="en-US" sz="3400" dirty="0"/>
          </a:p>
        </p:txBody>
      </p:sp>
      <p:sp>
        <p:nvSpPr>
          <p:cNvPr id="4" name="Shape 2"/>
          <p:cNvSpPr/>
          <p:nvPr/>
        </p:nvSpPr>
        <p:spPr>
          <a:xfrm>
            <a:off x="685800" y="1783080"/>
            <a:ext cx="10835640" cy="640080"/>
          </a:xfrm>
          <a:prstGeom prst="roundRect">
            <a:avLst>
              <a:gd name="adj" fmla="val 12857"/>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5" name="Text 3"/>
          <p:cNvSpPr/>
          <p:nvPr/>
        </p:nvSpPr>
        <p:spPr>
          <a:xfrm>
            <a:off x="868680" y="1783080"/>
            <a:ext cx="822960" cy="640080"/>
          </a:xfrm>
          <a:prstGeom prst="rect">
            <a:avLst/>
          </a:prstGeom>
          <a:noFill/>
          <a:ln/>
        </p:spPr>
        <p:txBody>
          <a:bodyPr wrap="square" lIns="0" tIns="0" rIns="0" bIns="0" rtlCol="0" anchor="ctr"/>
          <a:lstStyle/>
          <a:p>
            <a:pPr marL="0" indent="0" algn="ctr">
              <a:buNone/>
            </a:pPr>
            <a:r>
              <a:rPr lang="en-US" sz="2600" b="1" dirty="0">
                <a:solidFill>
                  <a:srgbClr val="1E578D"/>
                </a:solidFill>
                <a:latin typeface="Bookman Old Style" pitchFamily="34" charset="0"/>
                <a:ea typeface="Bookman Old Style" pitchFamily="34" charset="-122"/>
                <a:cs typeface="Bookman Old Style" pitchFamily="34" charset="-120"/>
              </a:rPr>
              <a:t>01</a:t>
            </a:r>
            <a:endParaRPr lang="en-US" sz="2600" dirty="0"/>
          </a:p>
        </p:txBody>
      </p:sp>
      <p:sp>
        <p:nvSpPr>
          <p:cNvPr id="6" name="Shape 4"/>
          <p:cNvSpPr/>
          <p:nvPr/>
        </p:nvSpPr>
        <p:spPr>
          <a:xfrm>
            <a:off x="1783080" y="1883664"/>
            <a:ext cx="438912" cy="438912"/>
          </a:xfrm>
          <a:prstGeom prst="ellipse">
            <a:avLst/>
          </a:prstGeom>
          <a:solidFill>
            <a:srgbClr val="E9F1F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888419" y="1989003"/>
            <a:ext cx="228234" cy="228234"/>
          </a:xfrm>
          <a:prstGeom prst="rect">
            <a:avLst/>
          </a:prstGeom>
        </p:spPr>
      </p:pic>
      <p:sp>
        <p:nvSpPr>
          <p:cNvPr id="8" name="Text 5"/>
          <p:cNvSpPr/>
          <p:nvPr/>
        </p:nvSpPr>
        <p:spPr>
          <a:xfrm>
            <a:off x="2423160" y="1874520"/>
            <a:ext cx="6400800" cy="310896"/>
          </a:xfrm>
          <a:prstGeom prst="rect">
            <a:avLst/>
          </a:prstGeom>
          <a:noFill/>
          <a:ln/>
        </p:spPr>
        <p:txBody>
          <a:bodyPr wrap="square" lIns="0" tIns="0" rIns="0" bIns="0" rtlCol="0" anchor="ctr"/>
          <a:lstStyle/>
          <a:p>
            <a:pPr marL="0" indent="0">
              <a:buNone/>
            </a:pPr>
            <a:r>
              <a:rPr lang="en-US" sz="1600" b="1" dirty="0">
                <a:solidFill>
                  <a:srgbClr val="10294A"/>
                </a:solidFill>
                <a:latin typeface="Calibri" pitchFamily="34" charset="0"/>
                <a:ea typeface="Calibri" pitchFamily="34" charset="-122"/>
                <a:cs typeface="Calibri" pitchFamily="34" charset="-120"/>
              </a:rPr>
              <a:t>From the baseline to now</a:t>
            </a:r>
            <a:endParaRPr lang="en-US" sz="1600" dirty="0"/>
          </a:p>
        </p:txBody>
      </p:sp>
      <p:sp>
        <p:nvSpPr>
          <p:cNvPr id="9" name="Text 6"/>
          <p:cNvSpPr/>
          <p:nvPr/>
        </p:nvSpPr>
        <p:spPr>
          <a:xfrm>
            <a:off x="2423160" y="2148840"/>
            <a:ext cx="6949440" cy="256032"/>
          </a:xfrm>
          <a:prstGeom prst="rect">
            <a:avLst/>
          </a:prstGeom>
          <a:noFill/>
          <a:ln/>
        </p:spPr>
        <p:txBody>
          <a:bodyPr wrap="square" lIns="0" tIns="0" rIns="0" bIns="0" rtlCol="0" anchor="ctr"/>
          <a:lstStyle/>
          <a:p>
            <a:pPr marL="0" indent="0">
              <a:buNone/>
            </a:pPr>
            <a:r>
              <a:rPr lang="en-US" sz="1150" dirty="0">
                <a:solidFill>
                  <a:srgbClr val="54657E"/>
                </a:solidFill>
                <a:latin typeface="Calibri" pitchFamily="34" charset="0"/>
                <a:ea typeface="Calibri" pitchFamily="34" charset="-122"/>
                <a:cs typeface="Calibri" pitchFamily="34" charset="-120"/>
              </a:rPr>
              <a:t>A quick look at the earlier version, then our solution</a:t>
            </a:r>
            <a:endParaRPr lang="en-US" sz="1150" dirty="0"/>
          </a:p>
        </p:txBody>
      </p:sp>
      <p:sp>
        <p:nvSpPr>
          <p:cNvPr id="10" name="Text 7"/>
          <p:cNvSpPr/>
          <p:nvPr/>
        </p:nvSpPr>
        <p:spPr>
          <a:xfrm>
            <a:off x="10058400" y="1783080"/>
            <a:ext cx="1280160" cy="640080"/>
          </a:xfrm>
          <a:prstGeom prst="rect">
            <a:avLst/>
          </a:prstGeom>
          <a:noFill/>
          <a:ln/>
        </p:spPr>
        <p:txBody>
          <a:bodyPr wrap="square" lIns="0" tIns="0" rIns="0" bIns="0" rtlCol="0" anchor="ctr"/>
          <a:lstStyle/>
          <a:p>
            <a:pPr marL="0" indent="0" algn="r">
              <a:buNone/>
            </a:pPr>
            <a:r>
              <a:rPr lang="en-US" sz="1300" b="1" dirty="0">
                <a:solidFill>
                  <a:srgbClr val="1E578D"/>
                </a:solidFill>
                <a:latin typeface="Calibri" pitchFamily="34" charset="0"/>
                <a:ea typeface="Calibri" pitchFamily="34" charset="-122"/>
                <a:cs typeface="Calibri" pitchFamily="34" charset="-120"/>
              </a:rPr>
              <a:t>5 min</a:t>
            </a:r>
            <a:endParaRPr lang="en-US" sz="1300" dirty="0"/>
          </a:p>
        </p:txBody>
      </p:sp>
      <p:sp>
        <p:nvSpPr>
          <p:cNvPr id="11" name="Shape 8"/>
          <p:cNvSpPr/>
          <p:nvPr/>
        </p:nvSpPr>
        <p:spPr>
          <a:xfrm>
            <a:off x="685800" y="2532888"/>
            <a:ext cx="10835640" cy="640080"/>
          </a:xfrm>
          <a:prstGeom prst="roundRect">
            <a:avLst>
              <a:gd name="adj" fmla="val 12857"/>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12" name="Text 9"/>
          <p:cNvSpPr/>
          <p:nvPr/>
        </p:nvSpPr>
        <p:spPr>
          <a:xfrm>
            <a:off x="868680" y="2532888"/>
            <a:ext cx="822960" cy="640080"/>
          </a:xfrm>
          <a:prstGeom prst="rect">
            <a:avLst/>
          </a:prstGeom>
          <a:noFill/>
          <a:ln/>
        </p:spPr>
        <p:txBody>
          <a:bodyPr wrap="square" lIns="0" tIns="0" rIns="0" bIns="0" rtlCol="0" anchor="ctr"/>
          <a:lstStyle/>
          <a:p>
            <a:pPr marL="0" indent="0" algn="ctr">
              <a:buNone/>
            </a:pPr>
            <a:r>
              <a:rPr lang="en-US" sz="2600" b="1" dirty="0">
                <a:solidFill>
                  <a:srgbClr val="0F8A8A"/>
                </a:solidFill>
                <a:latin typeface="Bookman Old Style" pitchFamily="34" charset="0"/>
                <a:ea typeface="Bookman Old Style" pitchFamily="34" charset="-122"/>
                <a:cs typeface="Bookman Old Style" pitchFamily="34" charset="-120"/>
              </a:rPr>
              <a:t>02</a:t>
            </a:r>
            <a:endParaRPr lang="en-US" sz="2600" dirty="0"/>
          </a:p>
        </p:txBody>
      </p:sp>
      <p:sp>
        <p:nvSpPr>
          <p:cNvPr id="13" name="Shape 10"/>
          <p:cNvSpPr/>
          <p:nvPr/>
        </p:nvSpPr>
        <p:spPr>
          <a:xfrm>
            <a:off x="1783080" y="2633472"/>
            <a:ext cx="438912" cy="438912"/>
          </a:xfrm>
          <a:prstGeom prst="ellipse">
            <a:avLst/>
          </a:prstGeom>
          <a:solidFill>
            <a:srgbClr val="E9F1FB"/>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1888419" y="2738811"/>
            <a:ext cx="228234" cy="228234"/>
          </a:xfrm>
          <a:prstGeom prst="rect">
            <a:avLst/>
          </a:prstGeom>
        </p:spPr>
      </p:pic>
      <p:sp>
        <p:nvSpPr>
          <p:cNvPr id="15" name="Text 11"/>
          <p:cNvSpPr/>
          <p:nvPr/>
        </p:nvSpPr>
        <p:spPr>
          <a:xfrm>
            <a:off x="2423160" y="2624328"/>
            <a:ext cx="6400800" cy="310896"/>
          </a:xfrm>
          <a:prstGeom prst="rect">
            <a:avLst/>
          </a:prstGeom>
          <a:noFill/>
          <a:ln/>
        </p:spPr>
        <p:txBody>
          <a:bodyPr wrap="square" lIns="0" tIns="0" rIns="0" bIns="0" rtlCol="0" anchor="ctr"/>
          <a:lstStyle/>
          <a:p>
            <a:pPr marL="0" indent="0">
              <a:buNone/>
            </a:pPr>
            <a:r>
              <a:rPr lang="en-US" sz="1600" b="1" dirty="0">
                <a:solidFill>
                  <a:srgbClr val="10294A"/>
                </a:solidFill>
                <a:latin typeface="Calibri" pitchFamily="34" charset="0"/>
                <a:ea typeface="Calibri" pitchFamily="34" charset="-122"/>
                <a:cs typeface="Calibri" pitchFamily="34" charset="-120"/>
              </a:rPr>
              <a:t>The problem &amp; what we built</a:t>
            </a:r>
            <a:endParaRPr lang="en-US" sz="1600" dirty="0"/>
          </a:p>
        </p:txBody>
      </p:sp>
      <p:sp>
        <p:nvSpPr>
          <p:cNvPr id="16" name="Text 12"/>
          <p:cNvSpPr/>
          <p:nvPr/>
        </p:nvSpPr>
        <p:spPr>
          <a:xfrm>
            <a:off x="2423160" y="2898648"/>
            <a:ext cx="6949440" cy="256032"/>
          </a:xfrm>
          <a:prstGeom prst="rect">
            <a:avLst/>
          </a:prstGeom>
          <a:noFill/>
          <a:ln/>
        </p:spPr>
        <p:txBody>
          <a:bodyPr wrap="square" lIns="0" tIns="0" rIns="0" bIns="0" rtlCol="0" anchor="ctr"/>
          <a:lstStyle/>
          <a:p>
            <a:pPr marL="0" indent="0">
              <a:buNone/>
            </a:pPr>
            <a:r>
              <a:rPr lang="en-US" sz="1150" dirty="0">
                <a:solidFill>
                  <a:srgbClr val="54657E"/>
                </a:solidFill>
                <a:latin typeface="Calibri" pitchFamily="34" charset="0"/>
                <a:ea typeface="Calibri" pitchFamily="34" charset="-122"/>
                <a:cs typeface="Calibri" pitchFamily="34" charset="-120"/>
              </a:rPr>
              <a:t>The unstaffed-store data problem, and the app on top of it</a:t>
            </a:r>
            <a:endParaRPr lang="en-US" sz="1150" dirty="0"/>
          </a:p>
        </p:txBody>
      </p:sp>
      <p:sp>
        <p:nvSpPr>
          <p:cNvPr id="17" name="Text 13"/>
          <p:cNvSpPr/>
          <p:nvPr/>
        </p:nvSpPr>
        <p:spPr>
          <a:xfrm>
            <a:off x="10058400" y="2532888"/>
            <a:ext cx="1280160" cy="640080"/>
          </a:xfrm>
          <a:prstGeom prst="rect">
            <a:avLst/>
          </a:prstGeom>
          <a:noFill/>
          <a:ln/>
        </p:spPr>
        <p:txBody>
          <a:bodyPr wrap="square" lIns="0" tIns="0" rIns="0" bIns="0" rtlCol="0" anchor="ctr"/>
          <a:lstStyle/>
          <a:p>
            <a:pPr marL="0" indent="0" algn="r">
              <a:buNone/>
            </a:pPr>
            <a:r>
              <a:rPr lang="en-US" sz="1300" b="1" dirty="0">
                <a:solidFill>
                  <a:srgbClr val="0F8A8A"/>
                </a:solidFill>
                <a:latin typeface="Calibri" pitchFamily="34" charset="0"/>
                <a:ea typeface="Calibri" pitchFamily="34" charset="-122"/>
                <a:cs typeface="Calibri" pitchFamily="34" charset="-120"/>
              </a:rPr>
              <a:t>5 min</a:t>
            </a:r>
            <a:endParaRPr lang="en-US" sz="1300" dirty="0"/>
          </a:p>
        </p:txBody>
      </p:sp>
      <p:sp>
        <p:nvSpPr>
          <p:cNvPr id="18" name="Shape 14"/>
          <p:cNvSpPr/>
          <p:nvPr/>
        </p:nvSpPr>
        <p:spPr>
          <a:xfrm>
            <a:off x="685800" y="3282696"/>
            <a:ext cx="10835640" cy="640080"/>
          </a:xfrm>
          <a:prstGeom prst="roundRect">
            <a:avLst>
              <a:gd name="adj" fmla="val 12857"/>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19" name="Text 15"/>
          <p:cNvSpPr/>
          <p:nvPr/>
        </p:nvSpPr>
        <p:spPr>
          <a:xfrm>
            <a:off x="868680" y="3282696"/>
            <a:ext cx="822960" cy="640080"/>
          </a:xfrm>
          <a:prstGeom prst="rect">
            <a:avLst/>
          </a:prstGeom>
          <a:noFill/>
          <a:ln/>
        </p:spPr>
        <p:txBody>
          <a:bodyPr wrap="square" lIns="0" tIns="0" rIns="0" bIns="0" rtlCol="0" anchor="ctr"/>
          <a:lstStyle/>
          <a:p>
            <a:pPr marL="0" indent="0" algn="ctr">
              <a:buNone/>
            </a:pPr>
            <a:r>
              <a:rPr lang="en-US" sz="2600" b="1" dirty="0">
                <a:solidFill>
                  <a:srgbClr val="DE0024"/>
                </a:solidFill>
                <a:latin typeface="Bookman Old Style" pitchFamily="34" charset="0"/>
                <a:ea typeface="Bookman Old Style" pitchFamily="34" charset="-122"/>
                <a:cs typeface="Bookman Old Style" pitchFamily="34" charset="-120"/>
              </a:rPr>
              <a:t>03</a:t>
            </a:r>
            <a:endParaRPr lang="en-US" sz="2600" dirty="0"/>
          </a:p>
        </p:txBody>
      </p:sp>
      <p:sp>
        <p:nvSpPr>
          <p:cNvPr id="20" name="Shape 16"/>
          <p:cNvSpPr/>
          <p:nvPr/>
        </p:nvSpPr>
        <p:spPr>
          <a:xfrm>
            <a:off x="1783080" y="3383280"/>
            <a:ext cx="438912" cy="438912"/>
          </a:xfrm>
          <a:prstGeom prst="ellipse">
            <a:avLst/>
          </a:prstGeom>
          <a:solidFill>
            <a:srgbClr val="E9F1FB"/>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1888419" y="3488619"/>
            <a:ext cx="228234" cy="228234"/>
          </a:xfrm>
          <a:prstGeom prst="rect">
            <a:avLst/>
          </a:prstGeom>
        </p:spPr>
      </p:pic>
      <p:sp>
        <p:nvSpPr>
          <p:cNvPr id="22" name="Text 17"/>
          <p:cNvSpPr/>
          <p:nvPr/>
        </p:nvSpPr>
        <p:spPr>
          <a:xfrm>
            <a:off x="2423160" y="3374136"/>
            <a:ext cx="6400800" cy="310896"/>
          </a:xfrm>
          <a:prstGeom prst="rect">
            <a:avLst/>
          </a:prstGeom>
          <a:noFill/>
          <a:ln/>
        </p:spPr>
        <p:txBody>
          <a:bodyPr wrap="square" lIns="0" tIns="0" rIns="0" bIns="0" rtlCol="0" anchor="ctr"/>
          <a:lstStyle/>
          <a:p>
            <a:pPr marL="0" indent="0">
              <a:buNone/>
            </a:pPr>
            <a:r>
              <a:rPr lang="en-US" sz="1600" b="1" dirty="0">
                <a:solidFill>
                  <a:srgbClr val="10294A"/>
                </a:solidFill>
                <a:latin typeface="Calibri" pitchFamily="34" charset="0"/>
                <a:ea typeface="Calibri" pitchFamily="34" charset="-122"/>
                <a:cs typeface="Calibri" pitchFamily="34" charset="-120"/>
              </a:rPr>
              <a:t>Live walkthrough</a:t>
            </a:r>
            <a:endParaRPr lang="en-US" sz="1600" dirty="0"/>
          </a:p>
        </p:txBody>
      </p:sp>
      <p:sp>
        <p:nvSpPr>
          <p:cNvPr id="23" name="Text 18"/>
          <p:cNvSpPr/>
          <p:nvPr/>
        </p:nvSpPr>
        <p:spPr>
          <a:xfrm>
            <a:off x="2423160" y="3648456"/>
            <a:ext cx="6949440" cy="256032"/>
          </a:xfrm>
          <a:prstGeom prst="rect">
            <a:avLst/>
          </a:prstGeom>
          <a:noFill/>
          <a:ln/>
        </p:spPr>
        <p:txBody>
          <a:bodyPr wrap="square" lIns="0" tIns="0" rIns="0" bIns="0" rtlCol="0" anchor="ctr"/>
          <a:lstStyle/>
          <a:p>
            <a:pPr marL="0" indent="0">
              <a:buNone/>
            </a:pPr>
            <a:r>
              <a:rPr lang="en-US" sz="1150" dirty="0">
                <a:solidFill>
                  <a:srgbClr val="54657E"/>
                </a:solidFill>
                <a:latin typeface="Calibri" pitchFamily="34" charset="0"/>
                <a:ea typeface="Calibri" pitchFamily="34" charset="-122"/>
                <a:cs typeface="Calibri" pitchFamily="34" charset="-120"/>
              </a:rPr>
              <a:t>Command Centre → Workbench → API → re-run the engines</a:t>
            </a:r>
            <a:endParaRPr lang="en-US" sz="1150" dirty="0"/>
          </a:p>
        </p:txBody>
      </p:sp>
      <p:sp>
        <p:nvSpPr>
          <p:cNvPr id="24" name="Text 19"/>
          <p:cNvSpPr/>
          <p:nvPr/>
        </p:nvSpPr>
        <p:spPr>
          <a:xfrm>
            <a:off x="10058400" y="3282696"/>
            <a:ext cx="1280160" cy="640080"/>
          </a:xfrm>
          <a:prstGeom prst="rect">
            <a:avLst/>
          </a:prstGeom>
          <a:noFill/>
          <a:ln/>
        </p:spPr>
        <p:txBody>
          <a:bodyPr wrap="square" lIns="0" tIns="0" rIns="0" bIns="0" rtlCol="0" anchor="ctr"/>
          <a:lstStyle/>
          <a:p>
            <a:pPr marL="0" indent="0" algn="r">
              <a:buNone/>
            </a:pPr>
            <a:r>
              <a:rPr lang="en-US" sz="1300" b="1" dirty="0">
                <a:solidFill>
                  <a:srgbClr val="DE0024"/>
                </a:solidFill>
                <a:latin typeface="Calibri" pitchFamily="34" charset="0"/>
                <a:ea typeface="Calibri" pitchFamily="34" charset="-122"/>
                <a:cs typeface="Calibri" pitchFamily="34" charset="-120"/>
              </a:rPr>
              <a:t>10 min</a:t>
            </a:r>
            <a:endParaRPr lang="en-US" sz="1300" dirty="0"/>
          </a:p>
        </p:txBody>
      </p:sp>
      <p:sp>
        <p:nvSpPr>
          <p:cNvPr id="25" name="Shape 20"/>
          <p:cNvSpPr/>
          <p:nvPr/>
        </p:nvSpPr>
        <p:spPr>
          <a:xfrm>
            <a:off x="685800" y="4032504"/>
            <a:ext cx="10835640" cy="640080"/>
          </a:xfrm>
          <a:prstGeom prst="roundRect">
            <a:avLst>
              <a:gd name="adj" fmla="val 12857"/>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26" name="Text 21"/>
          <p:cNvSpPr/>
          <p:nvPr/>
        </p:nvSpPr>
        <p:spPr>
          <a:xfrm>
            <a:off x="868680" y="4032504"/>
            <a:ext cx="822960" cy="640080"/>
          </a:xfrm>
          <a:prstGeom prst="rect">
            <a:avLst/>
          </a:prstGeom>
          <a:noFill/>
          <a:ln/>
        </p:spPr>
        <p:txBody>
          <a:bodyPr wrap="square" lIns="0" tIns="0" rIns="0" bIns="0" rtlCol="0" anchor="ctr"/>
          <a:lstStyle/>
          <a:p>
            <a:pPr marL="0" indent="0" algn="ctr">
              <a:buNone/>
            </a:pPr>
            <a:r>
              <a:rPr lang="en-US" sz="2600" b="1" dirty="0">
                <a:solidFill>
                  <a:srgbClr val="DE0024"/>
                </a:solidFill>
                <a:latin typeface="Bookman Old Style" pitchFamily="34" charset="0"/>
                <a:ea typeface="Bookman Old Style" pitchFamily="34" charset="-122"/>
                <a:cs typeface="Bookman Old Style" pitchFamily="34" charset="-120"/>
              </a:rPr>
              <a:t>04</a:t>
            </a:r>
            <a:endParaRPr lang="en-US" sz="2600" dirty="0"/>
          </a:p>
        </p:txBody>
      </p:sp>
      <p:sp>
        <p:nvSpPr>
          <p:cNvPr id="27" name="Shape 22"/>
          <p:cNvSpPr/>
          <p:nvPr/>
        </p:nvSpPr>
        <p:spPr>
          <a:xfrm>
            <a:off x="1783080" y="4133088"/>
            <a:ext cx="438912" cy="438912"/>
          </a:xfrm>
          <a:prstGeom prst="ellipse">
            <a:avLst/>
          </a:prstGeom>
          <a:solidFill>
            <a:srgbClr val="E9F1FB"/>
          </a:solidFill>
          <a:ln/>
        </p:spPr>
        <p:txBody>
          <a:bodyPr/>
          <a:lstStyle/>
          <a:p>
            <a:endParaRPr lang="en-US"/>
          </a:p>
        </p:txBody>
      </p:sp>
      <p:pic>
        <p:nvPicPr>
          <p:cNvPr id="28" name="Image 3" descr="preencoded.png"/>
          <p:cNvPicPr>
            <a:picLocks noChangeAspect="1"/>
          </p:cNvPicPr>
          <p:nvPr/>
        </p:nvPicPr>
        <p:blipFill>
          <a:blip r:embed="rId6"/>
          <a:stretch>
            <a:fillRect/>
          </a:stretch>
        </p:blipFill>
        <p:spPr>
          <a:xfrm>
            <a:off x="1888419" y="4238427"/>
            <a:ext cx="228234" cy="228234"/>
          </a:xfrm>
          <a:prstGeom prst="rect">
            <a:avLst/>
          </a:prstGeom>
        </p:spPr>
      </p:pic>
      <p:sp>
        <p:nvSpPr>
          <p:cNvPr id="29" name="Text 23"/>
          <p:cNvSpPr/>
          <p:nvPr/>
        </p:nvSpPr>
        <p:spPr>
          <a:xfrm>
            <a:off x="2423160" y="4123944"/>
            <a:ext cx="6400800" cy="310896"/>
          </a:xfrm>
          <a:prstGeom prst="rect">
            <a:avLst/>
          </a:prstGeom>
          <a:noFill/>
          <a:ln/>
        </p:spPr>
        <p:txBody>
          <a:bodyPr wrap="square" lIns="0" tIns="0" rIns="0" bIns="0" rtlCol="0" anchor="ctr"/>
          <a:lstStyle/>
          <a:p>
            <a:pPr marL="0" indent="0">
              <a:buNone/>
            </a:pPr>
            <a:r>
              <a:rPr lang="en-US" sz="1600" b="1" dirty="0">
                <a:solidFill>
                  <a:srgbClr val="10294A"/>
                </a:solidFill>
                <a:latin typeface="Calibri" pitchFamily="34" charset="0"/>
                <a:ea typeface="Calibri" pitchFamily="34" charset="-122"/>
                <a:cs typeface="Calibri" pitchFamily="34" charset="-120"/>
              </a:rPr>
              <a:t>What the engines found</a:t>
            </a:r>
            <a:endParaRPr lang="en-US" sz="1600" dirty="0"/>
          </a:p>
        </p:txBody>
      </p:sp>
      <p:sp>
        <p:nvSpPr>
          <p:cNvPr id="30" name="Text 24"/>
          <p:cNvSpPr/>
          <p:nvPr/>
        </p:nvSpPr>
        <p:spPr>
          <a:xfrm>
            <a:off x="2423160" y="4398264"/>
            <a:ext cx="6949440" cy="256032"/>
          </a:xfrm>
          <a:prstGeom prst="rect">
            <a:avLst/>
          </a:prstGeom>
          <a:noFill/>
          <a:ln/>
        </p:spPr>
        <p:txBody>
          <a:bodyPr wrap="square" lIns="0" tIns="0" rIns="0" bIns="0" rtlCol="0" anchor="ctr"/>
          <a:lstStyle/>
          <a:p>
            <a:pPr marL="0" indent="0">
              <a:buNone/>
            </a:pPr>
            <a:r>
              <a:rPr lang="en-US" sz="1150" dirty="0">
                <a:solidFill>
                  <a:srgbClr val="54657E"/>
                </a:solidFill>
                <a:latin typeface="Calibri" pitchFamily="34" charset="0"/>
                <a:ea typeface="Calibri" pitchFamily="34" charset="-122"/>
                <a:cs typeface="Calibri" pitchFamily="34" charset="-120"/>
              </a:rPr>
              <a:t>Two findings nobody planted, in your S-Mart data</a:t>
            </a:r>
            <a:endParaRPr lang="en-US" sz="1150" dirty="0"/>
          </a:p>
        </p:txBody>
      </p:sp>
      <p:sp>
        <p:nvSpPr>
          <p:cNvPr id="31" name="Text 25"/>
          <p:cNvSpPr/>
          <p:nvPr/>
        </p:nvSpPr>
        <p:spPr>
          <a:xfrm>
            <a:off x="10058400" y="4032504"/>
            <a:ext cx="1280160" cy="640080"/>
          </a:xfrm>
          <a:prstGeom prst="rect">
            <a:avLst/>
          </a:prstGeom>
          <a:noFill/>
          <a:ln/>
        </p:spPr>
        <p:txBody>
          <a:bodyPr wrap="square" lIns="0" tIns="0" rIns="0" bIns="0" rtlCol="0" anchor="ctr"/>
          <a:lstStyle/>
          <a:p>
            <a:pPr marL="0" indent="0" algn="r">
              <a:buNone/>
            </a:pPr>
            <a:r>
              <a:rPr lang="en-US" sz="1300" b="1" dirty="0">
                <a:solidFill>
                  <a:srgbClr val="DE0024"/>
                </a:solidFill>
                <a:latin typeface="Calibri" pitchFamily="34" charset="0"/>
                <a:ea typeface="Calibri" pitchFamily="34" charset="-122"/>
                <a:cs typeface="Calibri" pitchFamily="34" charset="-120"/>
              </a:rPr>
              <a:t>4 min</a:t>
            </a:r>
            <a:endParaRPr lang="en-US" sz="1300" dirty="0"/>
          </a:p>
        </p:txBody>
      </p:sp>
      <p:sp>
        <p:nvSpPr>
          <p:cNvPr id="32" name="Shape 26"/>
          <p:cNvSpPr/>
          <p:nvPr/>
        </p:nvSpPr>
        <p:spPr>
          <a:xfrm>
            <a:off x="685800" y="4782312"/>
            <a:ext cx="10835640" cy="640080"/>
          </a:xfrm>
          <a:prstGeom prst="roundRect">
            <a:avLst>
              <a:gd name="adj" fmla="val 12857"/>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33" name="Text 27"/>
          <p:cNvSpPr/>
          <p:nvPr/>
        </p:nvSpPr>
        <p:spPr>
          <a:xfrm>
            <a:off x="868680" y="4782312"/>
            <a:ext cx="822960" cy="640080"/>
          </a:xfrm>
          <a:prstGeom prst="rect">
            <a:avLst/>
          </a:prstGeom>
          <a:noFill/>
          <a:ln/>
        </p:spPr>
        <p:txBody>
          <a:bodyPr wrap="square" lIns="0" tIns="0" rIns="0" bIns="0" rtlCol="0" anchor="ctr"/>
          <a:lstStyle/>
          <a:p>
            <a:pPr marL="0" indent="0" algn="ctr">
              <a:buNone/>
            </a:pPr>
            <a:r>
              <a:rPr lang="en-US" sz="2600" b="1" dirty="0">
                <a:solidFill>
                  <a:srgbClr val="2E9B5B"/>
                </a:solidFill>
                <a:latin typeface="Bookman Old Style" pitchFamily="34" charset="0"/>
                <a:ea typeface="Bookman Old Style" pitchFamily="34" charset="-122"/>
                <a:cs typeface="Bookman Old Style" pitchFamily="34" charset="-120"/>
              </a:rPr>
              <a:t>05</a:t>
            </a:r>
            <a:endParaRPr lang="en-US" sz="2600" dirty="0"/>
          </a:p>
        </p:txBody>
      </p:sp>
      <p:sp>
        <p:nvSpPr>
          <p:cNvPr id="34" name="Shape 28"/>
          <p:cNvSpPr/>
          <p:nvPr/>
        </p:nvSpPr>
        <p:spPr>
          <a:xfrm>
            <a:off x="1783080" y="4882896"/>
            <a:ext cx="438912" cy="438912"/>
          </a:xfrm>
          <a:prstGeom prst="ellipse">
            <a:avLst/>
          </a:prstGeom>
          <a:solidFill>
            <a:srgbClr val="E9F1FB"/>
          </a:solidFill>
          <a:ln/>
        </p:spPr>
        <p:txBody>
          <a:bodyPr/>
          <a:lstStyle/>
          <a:p>
            <a:endParaRPr lang="en-US"/>
          </a:p>
        </p:txBody>
      </p:sp>
      <p:pic>
        <p:nvPicPr>
          <p:cNvPr id="35" name="Image 4" descr="preencoded.png"/>
          <p:cNvPicPr>
            <a:picLocks noChangeAspect="1"/>
          </p:cNvPicPr>
          <p:nvPr/>
        </p:nvPicPr>
        <p:blipFill>
          <a:blip r:embed="rId7"/>
          <a:stretch>
            <a:fillRect/>
          </a:stretch>
        </p:blipFill>
        <p:spPr>
          <a:xfrm>
            <a:off x="1888419" y="4988235"/>
            <a:ext cx="228234" cy="228234"/>
          </a:xfrm>
          <a:prstGeom prst="rect">
            <a:avLst/>
          </a:prstGeom>
        </p:spPr>
      </p:pic>
      <p:sp>
        <p:nvSpPr>
          <p:cNvPr id="36" name="Text 29"/>
          <p:cNvSpPr/>
          <p:nvPr/>
        </p:nvSpPr>
        <p:spPr>
          <a:xfrm>
            <a:off x="2423160" y="4873752"/>
            <a:ext cx="6400800" cy="310896"/>
          </a:xfrm>
          <a:prstGeom prst="rect">
            <a:avLst/>
          </a:prstGeom>
          <a:noFill/>
          <a:ln/>
        </p:spPr>
        <p:txBody>
          <a:bodyPr wrap="square" lIns="0" tIns="0" rIns="0" bIns="0" rtlCol="0" anchor="ctr"/>
          <a:lstStyle/>
          <a:p>
            <a:pPr marL="0" indent="0">
              <a:buNone/>
            </a:pPr>
            <a:r>
              <a:rPr lang="en-US" sz="1600" b="1" dirty="0">
                <a:solidFill>
                  <a:srgbClr val="10294A"/>
                </a:solidFill>
                <a:latin typeface="Calibri" pitchFamily="34" charset="0"/>
                <a:ea typeface="Calibri" pitchFamily="34" charset="-122"/>
                <a:cs typeface="Calibri" pitchFamily="34" charset="-120"/>
              </a:rPr>
              <a:t>Deployment &amp; honesty</a:t>
            </a:r>
            <a:endParaRPr lang="en-US" sz="1600" dirty="0"/>
          </a:p>
        </p:txBody>
      </p:sp>
      <p:sp>
        <p:nvSpPr>
          <p:cNvPr id="37" name="Text 30"/>
          <p:cNvSpPr/>
          <p:nvPr/>
        </p:nvSpPr>
        <p:spPr>
          <a:xfrm>
            <a:off x="2423160" y="5148072"/>
            <a:ext cx="6949440" cy="256032"/>
          </a:xfrm>
          <a:prstGeom prst="rect">
            <a:avLst/>
          </a:prstGeom>
          <a:noFill/>
          <a:ln/>
        </p:spPr>
        <p:txBody>
          <a:bodyPr wrap="square" lIns="0" tIns="0" rIns="0" bIns="0" rtlCol="0" anchor="ctr"/>
          <a:lstStyle/>
          <a:p>
            <a:pPr marL="0" indent="0">
              <a:buNone/>
            </a:pPr>
            <a:r>
              <a:rPr lang="en-US" sz="1150" dirty="0">
                <a:solidFill>
                  <a:srgbClr val="54657E"/>
                </a:solidFill>
                <a:latin typeface="Calibri" pitchFamily="34" charset="0"/>
                <a:ea typeface="Calibri" pitchFamily="34" charset="-122"/>
                <a:cs typeface="Calibri" pitchFamily="34" charset="-120"/>
              </a:rPr>
              <a:t>On SAP HANA Cloud; accuracy stated plainly</a:t>
            </a:r>
            <a:endParaRPr lang="en-US" sz="1150" dirty="0"/>
          </a:p>
        </p:txBody>
      </p:sp>
      <p:sp>
        <p:nvSpPr>
          <p:cNvPr id="38" name="Text 31"/>
          <p:cNvSpPr/>
          <p:nvPr/>
        </p:nvSpPr>
        <p:spPr>
          <a:xfrm>
            <a:off x="10058400" y="4782312"/>
            <a:ext cx="1280160" cy="640080"/>
          </a:xfrm>
          <a:prstGeom prst="rect">
            <a:avLst/>
          </a:prstGeom>
          <a:noFill/>
          <a:ln/>
        </p:spPr>
        <p:txBody>
          <a:bodyPr wrap="square" lIns="0" tIns="0" rIns="0" bIns="0" rtlCol="0" anchor="ctr"/>
          <a:lstStyle/>
          <a:p>
            <a:pPr marL="0" indent="0" algn="r">
              <a:buNone/>
            </a:pPr>
            <a:r>
              <a:rPr lang="en-US" sz="1300" b="1" dirty="0">
                <a:solidFill>
                  <a:srgbClr val="2E9B5B"/>
                </a:solidFill>
                <a:latin typeface="Calibri" pitchFamily="34" charset="0"/>
                <a:ea typeface="Calibri" pitchFamily="34" charset="-122"/>
                <a:cs typeface="Calibri" pitchFamily="34" charset="-120"/>
              </a:rPr>
              <a:t>2 min</a:t>
            </a:r>
            <a:endParaRPr lang="en-US" sz="1300" dirty="0"/>
          </a:p>
        </p:txBody>
      </p:sp>
      <p:sp>
        <p:nvSpPr>
          <p:cNvPr id="39" name="Shape 32"/>
          <p:cNvSpPr/>
          <p:nvPr/>
        </p:nvSpPr>
        <p:spPr>
          <a:xfrm>
            <a:off x="685800" y="5532120"/>
            <a:ext cx="10835640" cy="640080"/>
          </a:xfrm>
          <a:prstGeom prst="roundRect">
            <a:avLst>
              <a:gd name="adj" fmla="val 12857"/>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40" name="Text 33"/>
          <p:cNvSpPr/>
          <p:nvPr/>
        </p:nvSpPr>
        <p:spPr>
          <a:xfrm>
            <a:off x="868680" y="5532120"/>
            <a:ext cx="822960" cy="640080"/>
          </a:xfrm>
          <a:prstGeom prst="rect">
            <a:avLst/>
          </a:prstGeom>
          <a:noFill/>
          <a:ln/>
        </p:spPr>
        <p:txBody>
          <a:bodyPr wrap="square" lIns="0" tIns="0" rIns="0" bIns="0" rtlCol="0" anchor="ctr"/>
          <a:lstStyle/>
          <a:p>
            <a:pPr marL="0" indent="0" algn="ctr">
              <a:buNone/>
            </a:pPr>
            <a:r>
              <a:rPr lang="en-US" sz="2600" b="1" dirty="0">
                <a:solidFill>
                  <a:srgbClr val="10294A"/>
                </a:solidFill>
                <a:latin typeface="Bookman Old Style" pitchFamily="34" charset="0"/>
                <a:ea typeface="Bookman Old Style" pitchFamily="34" charset="-122"/>
                <a:cs typeface="Bookman Old Style" pitchFamily="34" charset="-120"/>
              </a:rPr>
              <a:t>06</a:t>
            </a:r>
            <a:endParaRPr lang="en-US" sz="2600" dirty="0"/>
          </a:p>
        </p:txBody>
      </p:sp>
      <p:sp>
        <p:nvSpPr>
          <p:cNvPr id="41" name="Shape 34"/>
          <p:cNvSpPr/>
          <p:nvPr/>
        </p:nvSpPr>
        <p:spPr>
          <a:xfrm>
            <a:off x="1783080" y="5632704"/>
            <a:ext cx="438912" cy="438912"/>
          </a:xfrm>
          <a:prstGeom prst="ellipse">
            <a:avLst/>
          </a:prstGeom>
          <a:solidFill>
            <a:srgbClr val="E9F1FB"/>
          </a:solidFill>
          <a:ln/>
        </p:spPr>
        <p:txBody>
          <a:bodyPr/>
          <a:lstStyle/>
          <a:p>
            <a:endParaRPr lang="en-US"/>
          </a:p>
        </p:txBody>
      </p:sp>
      <p:pic>
        <p:nvPicPr>
          <p:cNvPr id="42" name="Image 5" descr="preencoded.png"/>
          <p:cNvPicPr>
            <a:picLocks noChangeAspect="1"/>
          </p:cNvPicPr>
          <p:nvPr/>
        </p:nvPicPr>
        <p:blipFill>
          <a:blip r:embed="rId8"/>
          <a:stretch>
            <a:fillRect/>
          </a:stretch>
        </p:blipFill>
        <p:spPr>
          <a:xfrm>
            <a:off x="1888419" y="5738043"/>
            <a:ext cx="228234" cy="228234"/>
          </a:xfrm>
          <a:prstGeom prst="rect">
            <a:avLst/>
          </a:prstGeom>
        </p:spPr>
      </p:pic>
      <p:sp>
        <p:nvSpPr>
          <p:cNvPr id="43" name="Text 35"/>
          <p:cNvSpPr/>
          <p:nvPr/>
        </p:nvSpPr>
        <p:spPr>
          <a:xfrm>
            <a:off x="2423160" y="5623560"/>
            <a:ext cx="6400800" cy="310896"/>
          </a:xfrm>
          <a:prstGeom prst="rect">
            <a:avLst/>
          </a:prstGeom>
          <a:noFill/>
          <a:ln/>
        </p:spPr>
        <p:txBody>
          <a:bodyPr wrap="square" lIns="0" tIns="0" rIns="0" bIns="0" rtlCol="0" anchor="ctr"/>
          <a:lstStyle/>
          <a:p>
            <a:pPr marL="0" indent="0">
              <a:buNone/>
            </a:pPr>
            <a:r>
              <a:rPr lang="en-US" sz="1600" b="1" dirty="0">
                <a:solidFill>
                  <a:srgbClr val="10294A"/>
                </a:solidFill>
                <a:latin typeface="Calibri" pitchFamily="34" charset="0"/>
                <a:ea typeface="Calibri" pitchFamily="34" charset="-122"/>
                <a:cs typeface="Calibri" pitchFamily="34" charset="-120"/>
              </a:rPr>
              <a:t>Roadmap &amp; innovation</a:t>
            </a:r>
            <a:endParaRPr lang="en-US" sz="1600" dirty="0"/>
          </a:p>
        </p:txBody>
      </p:sp>
      <p:sp>
        <p:nvSpPr>
          <p:cNvPr id="44" name="Text 36"/>
          <p:cNvSpPr/>
          <p:nvPr/>
        </p:nvSpPr>
        <p:spPr>
          <a:xfrm>
            <a:off x="2423160" y="5897880"/>
            <a:ext cx="6949440" cy="256032"/>
          </a:xfrm>
          <a:prstGeom prst="rect">
            <a:avLst/>
          </a:prstGeom>
          <a:noFill/>
          <a:ln/>
        </p:spPr>
        <p:txBody>
          <a:bodyPr wrap="square" lIns="0" tIns="0" rIns="0" bIns="0" rtlCol="0" anchor="ctr"/>
          <a:lstStyle/>
          <a:p>
            <a:pPr marL="0" indent="0">
              <a:buNone/>
            </a:pPr>
            <a:r>
              <a:rPr lang="en-US" sz="1150" dirty="0">
                <a:solidFill>
                  <a:srgbClr val="54657E"/>
                </a:solidFill>
                <a:latin typeface="Calibri" pitchFamily="34" charset="0"/>
                <a:ea typeface="Calibri" pitchFamily="34" charset="-122"/>
                <a:cs typeface="Calibri" pitchFamily="34" charset="-120"/>
              </a:rPr>
              <a:t>BDC, mobile, autonomous action, Autonomous ERP</a:t>
            </a:r>
            <a:endParaRPr lang="en-US" sz="1150" dirty="0"/>
          </a:p>
        </p:txBody>
      </p:sp>
      <p:sp>
        <p:nvSpPr>
          <p:cNvPr id="45" name="Text 37"/>
          <p:cNvSpPr/>
          <p:nvPr/>
        </p:nvSpPr>
        <p:spPr>
          <a:xfrm>
            <a:off x="10058400" y="5532120"/>
            <a:ext cx="1280160" cy="640080"/>
          </a:xfrm>
          <a:prstGeom prst="rect">
            <a:avLst/>
          </a:prstGeom>
          <a:noFill/>
          <a:ln/>
        </p:spPr>
        <p:txBody>
          <a:bodyPr wrap="square" lIns="0" tIns="0" rIns="0" bIns="0" rtlCol="0" anchor="ctr"/>
          <a:lstStyle/>
          <a:p>
            <a:pPr marL="0" indent="0" algn="r">
              <a:buNone/>
            </a:pPr>
            <a:r>
              <a:rPr lang="en-US" sz="1300" b="1" dirty="0">
                <a:solidFill>
                  <a:srgbClr val="10294A"/>
                </a:solidFill>
                <a:latin typeface="Calibri" pitchFamily="34" charset="0"/>
                <a:ea typeface="Calibri" pitchFamily="34" charset="-122"/>
                <a:cs typeface="Calibri" pitchFamily="34" charset="-120"/>
              </a:rPr>
              <a:t>4 min</a:t>
            </a:r>
            <a:endParaRPr lang="en-US" sz="1300" dirty="0"/>
          </a:p>
        </p:txBody>
      </p:sp>
      <p:sp>
        <p:nvSpPr>
          <p:cNvPr id="46" name="Text 38"/>
          <p:cNvSpPr/>
          <p:nvPr/>
        </p:nvSpPr>
        <p:spPr>
          <a:xfrm>
            <a:off x="11414455" y="6400800"/>
            <a:ext cx="457200" cy="274320"/>
          </a:xfrm>
          <a:prstGeom prst="rect">
            <a:avLst/>
          </a:prstGeom>
          <a:noFill/>
          <a:ln/>
        </p:spPr>
        <p:txBody>
          <a:bodyPr wrap="square" rtlCol="0" anchor="ctr"/>
          <a:lstStyle/>
          <a:p>
            <a:pPr marL="0" indent="0" algn="r">
              <a:buNone/>
            </a:pPr>
            <a:r>
              <a:rPr lang="en-US" sz="900" dirty="0">
                <a:solidFill>
                  <a:srgbClr val="A6B6CC"/>
                </a:solidFill>
                <a:latin typeface="Calibri" pitchFamily="34" charset="0"/>
                <a:ea typeface="Calibri" pitchFamily="34" charset="-122"/>
                <a:cs typeface="Calibri" pitchFamily="34" charset="-120"/>
              </a:rPr>
              <a:t>04</a:t>
            </a:r>
            <a:endParaRPr lang="en-US" sz="900" dirty="0"/>
          </a:p>
        </p:txBody>
      </p:sp>
      <p:pic>
        <p:nvPicPr>
          <p:cNvPr id="47" name="Image 6" descr="/home/claude/logo_wide_trim.png"/>
          <p:cNvPicPr>
            <a:picLocks noChangeAspect="1"/>
          </p:cNvPicPr>
          <p:nvPr/>
        </p:nvPicPr>
        <p:blipFill>
          <a:blip r:embed="rId9"/>
          <a:stretch>
            <a:fillRect/>
          </a:stretch>
        </p:blipFill>
        <p:spPr>
          <a:xfrm>
            <a:off x="457200" y="6345936"/>
            <a:ext cx="1234440" cy="24075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294A"/>
        </a:solidFill>
        <a:effectLst/>
      </p:bgPr>
    </p:bg>
    <p:spTree>
      <p:nvGrpSpPr>
        <p:cNvPr id="1" name=""/>
        <p:cNvGrpSpPr/>
        <p:nvPr/>
      </p:nvGrpSpPr>
      <p:grpSpPr>
        <a:xfrm>
          <a:off x="0" y="0"/>
          <a:ext cx="0" cy="0"/>
          <a:chOff x="0" y="0"/>
          <a:chExt cx="0" cy="0"/>
        </a:xfrm>
      </p:grpSpPr>
      <p:sp>
        <p:nvSpPr>
          <p:cNvPr id="2" name="Text 0"/>
          <p:cNvSpPr/>
          <p:nvPr/>
        </p:nvSpPr>
        <p:spPr>
          <a:xfrm>
            <a:off x="685800" y="548640"/>
            <a:ext cx="7315200" cy="274320"/>
          </a:xfrm>
          <a:prstGeom prst="rect">
            <a:avLst/>
          </a:prstGeom>
          <a:noFill/>
          <a:ln/>
        </p:spPr>
        <p:txBody>
          <a:bodyPr wrap="square" lIns="0" tIns="0" rIns="0" bIns="0" rtlCol="0" anchor="ctr"/>
          <a:lstStyle/>
          <a:p>
            <a:pPr marL="0" indent="0">
              <a:buNone/>
            </a:pPr>
            <a:r>
              <a:rPr lang="en-US" sz="1200" b="1" kern="0" spc="300" dirty="0">
                <a:solidFill>
                  <a:srgbClr val="5B9BD5"/>
                </a:solidFill>
                <a:latin typeface="Calibri" pitchFamily="34" charset="0"/>
                <a:ea typeface="Calibri" pitchFamily="34" charset="-122"/>
                <a:cs typeface="Calibri" pitchFamily="34" charset="-120"/>
              </a:rPr>
              <a:t>THE PROBLEM IN THE DATA</a:t>
            </a:r>
            <a:endParaRPr lang="en-US" sz="1200" dirty="0"/>
          </a:p>
        </p:txBody>
      </p:sp>
      <p:sp>
        <p:nvSpPr>
          <p:cNvPr id="3" name="Text 1"/>
          <p:cNvSpPr/>
          <p:nvPr/>
        </p:nvSpPr>
        <p:spPr>
          <a:xfrm>
            <a:off x="658368" y="841248"/>
            <a:ext cx="10515600" cy="640080"/>
          </a:xfrm>
          <a:prstGeom prst="rect">
            <a:avLst/>
          </a:prstGeom>
          <a:noFill/>
          <a:ln/>
        </p:spPr>
        <p:txBody>
          <a:bodyPr wrap="square" lIns="0" tIns="0" rIns="0" bIns="0" rtlCol="0" anchor="ctr"/>
          <a:lstStyle/>
          <a:p>
            <a:pPr marL="0" indent="0">
              <a:buNone/>
            </a:pPr>
            <a:r>
              <a:rPr lang="en-US" sz="3200" b="1" dirty="0">
                <a:solidFill>
                  <a:srgbClr val="FFFFFF"/>
                </a:solidFill>
                <a:latin typeface="Bookman Old Style" pitchFamily="34" charset="0"/>
                <a:ea typeface="Bookman Old Style" pitchFamily="34" charset="-122"/>
                <a:cs typeface="Bookman Old Style" pitchFamily="34" charset="-120"/>
              </a:rPr>
              <a:t>One number decided the whole project</a:t>
            </a:r>
            <a:endParaRPr lang="en-US" sz="3200" dirty="0"/>
          </a:p>
        </p:txBody>
      </p:sp>
      <p:sp>
        <p:nvSpPr>
          <p:cNvPr id="4" name="Text 2"/>
          <p:cNvSpPr/>
          <p:nvPr/>
        </p:nvSpPr>
        <p:spPr>
          <a:xfrm>
            <a:off x="685800" y="1600200"/>
            <a:ext cx="6766560" cy="914400"/>
          </a:xfrm>
          <a:prstGeom prst="rect">
            <a:avLst/>
          </a:prstGeom>
          <a:noFill/>
          <a:ln/>
        </p:spPr>
        <p:txBody>
          <a:bodyPr wrap="square" lIns="0" tIns="0" rIns="0" bIns="0" rtlCol="0" anchor="ctr"/>
          <a:lstStyle/>
          <a:p>
            <a:pPr marL="0" indent="0">
              <a:lnSpc>
                <a:spcPts val="2300"/>
              </a:lnSpc>
              <a:buNone/>
            </a:pPr>
            <a:r>
              <a:rPr lang="en-US" sz="1500" dirty="0">
                <a:solidFill>
                  <a:srgbClr val="D6E4F2"/>
                </a:solidFill>
                <a:latin typeface="Calibri" pitchFamily="34" charset="0"/>
                <a:ea typeface="Calibri" pitchFamily="34" charset="-122"/>
                <a:cs typeface="Calibri" pitchFamily="34" charset="-120"/>
              </a:rPr>
              <a:t>The Walldorf store is a 24/7 shop with nobody behind the counter — you enter with a QR code, RFID tags scan the goods, and the payfree gate closes the sale. SAP Customer Checkout records everything.</a:t>
            </a:r>
            <a:endParaRPr lang="en-US" sz="1500" dirty="0"/>
          </a:p>
        </p:txBody>
      </p:sp>
      <p:sp>
        <p:nvSpPr>
          <p:cNvPr id="5" name="Shape 3"/>
          <p:cNvSpPr/>
          <p:nvPr/>
        </p:nvSpPr>
        <p:spPr>
          <a:xfrm>
            <a:off x="685800" y="2788920"/>
            <a:ext cx="6766560" cy="2834640"/>
          </a:xfrm>
          <a:prstGeom prst="roundRect">
            <a:avLst>
              <a:gd name="adj" fmla="val 2903"/>
            </a:avLst>
          </a:prstGeom>
          <a:solidFill>
            <a:srgbClr val="183A61"/>
          </a:solidFill>
          <a:ln w="12700">
            <a:solidFill>
              <a:srgbClr val="1E578D"/>
            </a:solidFill>
            <a:prstDash val="solid"/>
          </a:ln>
          <a:effectLst>
            <a:outerShdw blurRad="88900" dist="25400" dir="5400000" algn="bl" rotWithShape="0">
              <a:srgbClr val="10294A">
                <a:alpha val="12000"/>
              </a:srgbClr>
            </a:outerShdw>
          </a:effectLst>
        </p:spPr>
        <p:txBody>
          <a:bodyPr/>
          <a:lstStyle/>
          <a:p>
            <a:endParaRPr lang="en-US"/>
          </a:p>
        </p:txBody>
      </p:sp>
      <p:sp>
        <p:nvSpPr>
          <p:cNvPr id="6" name="Text 4"/>
          <p:cNvSpPr/>
          <p:nvPr/>
        </p:nvSpPr>
        <p:spPr>
          <a:xfrm>
            <a:off x="1051560" y="3044952"/>
            <a:ext cx="6035040" cy="274320"/>
          </a:xfrm>
          <a:prstGeom prst="rect">
            <a:avLst/>
          </a:prstGeom>
          <a:noFill/>
          <a:ln/>
        </p:spPr>
        <p:txBody>
          <a:bodyPr wrap="square" lIns="0" tIns="0" rIns="0" bIns="0" rtlCol="0" anchor="ctr"/>
          <a:lstStyle/>
          <a:p>
            <a:pPr marL="0" indent="0">
              <a:buNone/>
            </a:pPr>
            <a:r>
              <a:rPr lang="en-US" sz="1200" b="1" kern="0" spc="200" dirty="0">
                <a:solidFill>
                  <a:srgbClr val="5B9BD5"/>
                </a:solidFill>
                <a:latin typeface="Calibri" pitchFamily="34" charset="0"/>
                <a:ea typeface="Calibri" pitchFamily="34" charset="-122"/>
                <a:cs typeface="Calibri" pitchFamily="34" charset="-120"/>
              </a:rPr>
              <a:t>Six months at Walldorf</a:t>
            </a:r>
            <a:endParaRPr lang="en-US" sz="1200" dirty="0"/>
          </a:p>
        </p:txBody>
      </p:sp>
      <p:sp>
        <p:nvSpPr>
          <p:cNvPr id="7" name="Text 5"/>
          <p:cNvSpPr/>
          <p:nvPr/>
        </p:nvSpPr>
        <p:spPr>
          <a:xfrm>
            <a:off x="1051560" y="3429000"/>
            <a:ext cx="6035040" cy="548640"/>
          </a:xfrm>
          <a:prstGeom prst="rect">
            <a:avLst/>
          </a:prstGeom>
          <a:noFill/>
          <a:ln/>
        </p:spPr>
        <p:txBody>
          <a:bodyPr wrap="square" lIns="0" tIns="0" rIns="0" bIns="0" rtlCol="0" anchor="ctr"/>
          <a:lstStyle/>
          <a:p>
            <a:pPr marL="0" indent="0">
              <a:buNone/>
            </a:pPr>
            <a:r>
              <a:rPr lang="en-US" sz="4000" b="1" dirty="0">
                <a:solidFill>
                  <a:srgbClr val="FFFFFF"/>
                </a:solidFill>
                <a:latin typeface="Bookman Old Style" pitchFamily="34" charset="0"/>
                <a:ea typeface="Bookman Old Style" pitchFamily="34" charset="-122"/>
                <a:cs typeface="Bookman Old Style" pitchFamily="34" charset="-120"/>
              </a:rPr>
              <a:t>2,550</a:t>
            </a:r>
            <a:r>
              <a:rPr lang="en-US" sz="1500" dirty="0">
                <a:solidFill>
                  <a:srgbClr val="D6E4F2"/>
                </a:solidFill>
                <a:latin typeface="Calibri" pitchFamily="34" charset="0"/>
                <a:ea typeface="Calibri" pitchFamily="34" charset="-122"/>
                <a:cs typeface="Calibri" pitchFamily="34" charset="-120"/>
              </a:rPr>
              <a:t>  receipts completed</a:t>
            </a:r>
            <a:endParaRPr lang="en-US" sz="4000" dirty="0"/>
          </a:p>
        </p:txBody>
      </p:sp>
      <p:sp>
        <p:nvSpPr>
          <p:cNvPr id="8" name="Shape 6"/>
          <p:cNvSpPr/>
          <p:nvPr/>
        </p:nvSpPr>
        <p:spPr>
          <a:xfrm>
            <a:off x="1051560" y="4023360"/>
            <a:ext cx="2651760" cy="256032"/>
          </a:xfrm>
          <a:prstGeom prst="roundRect">
            <a:avLst>
              <a:gd name="adj" fmla="val 17857"/>
            </a:avLst>
          </a:prstGeom>
          <a:solidFill>
            <a:srgbClr val="5B9BD5"/>
          </a:solidFill>
          <a:ln/>
        </p:spPr>
        <p:txBody>
          <a:bodyPr/>
          <a:lstStyle/>
          <a:p>
            <a:endParaRPr lang="en-US"/>
          </a:p>
        </p:txBody>
      </p:sp>
      <p:sp>
        <p:nvSpPr>
          <p:cNvPr id="9" name="Text 7"/>
          <p:cNvSpPr/>
          <p:nvPr/>
        </p:nvSpPr>
        <p:spPr>
          <a:xfrm>
            <a:off x="3794760" y="3977640"/>
            <a:ext cx="2743200" cy="310896"/>
          </a:xfrm>
          <a:prstGeom prst="rect">
            <a:avLst/>
          </a:prstGeom>
          <a:noFill/>
          <a:ln/>
        </p:spPr>
        <p:txBody>
          <a:bodyPr wrap="square" lIns="0" tIns="0" rIns="0" bIns="0" rtlCol="0" anchor="ctr"/>
          <a:lstStyle/>
          <a:p>
            <a:pPr marL="0" indent="0">
              <a:buNone/>
            </a:pPr>
            <a:r>
              <a:rPr lang="en-US" sz="1200" dirty="0">
                <a:solidFill>
                  <a:srgbClr val="D6E4F2"/>
                </a:solidFill>
                <a:latin typeface="Calibri" pitchFamily="34" charset="0"/>
                <a:ea typeface="Calibri" pitchFamily="34" charset="-122"/>
                <a:cs typeface="Calibri" pitchFamily="34" charset="-120"/>
              </a:rPr>
              <a:t>€10,588.86 sold</a:t>
            </a:r>
            <a:endParaRPr lang="en-US" sz="1200" dirty="0"/>
          </a:p>
        </p:txBody>
      </p:sp>
      <p:sp>
        <p:nvSpPr>
          <p:cNvPr id="10" name="Text 8"/>
          <p:cNvSpPr/>
          <p:nvPr/>
        </p:nvSpPr>
        <p:spPr>
          <a:xfrm>
            <a:off x="1051560" y="4416552"/>
            <a:ext cx="6035040" cy="548640"/>
          </a:xfrm>
          <a:prstGeom prst="rect">
            <a:avLst/>
          </a:prstGeom>
          <a:noFill/>
          <a:ln/>
        </p:spPr>
        <p:txBody>
          <a:bodyPr wrap="square" lIns="0" tIns="0" rIns="0" bIns="0" rtlCol="0" anchor="ctr"/>
          <a:lstStyle/>
          <a:p>
            <a:pPr marL="0" indent="0">
              <a:buNone/>
            </a:pPr>
            <a:r>
              <a:rPr lang="en-US" sz="4000" b="1" dirty="0">
                <a:solidFill>
                  <a:srgbClr val="DE0024"/>
                </a:solidFill>
                <a:latin typeface="Bookman Old Style" pitchFamily="34" charset="0"/>
                <a:ea typeface="Bookman Old Style" pitchFamily="34" charset="-122"/>
                <a:cs typeface="Bookman Old Style" pitchFamily="34" charset="-120"/>
              </a:rPr>
              <a:t>3,217</a:t>
            </a:r>
            <a:r>
              <a:rPr lang="en-US" sz="1500" dirty="0">
                <a:solidFill>
                  <a:srgbClr val="D6E4F2"/>
                </a:solidFill>
                <a:latin typeface="Calibri" pitchFamily="34" charset="0"/>
                <a:ea typeface="Calibri" pitchFamily="34" charset="-122"/>
                <a:cs typeface="Calibri" pitchFamily="34" charset="-120"/>
              </a:rPr>
              <a:t>  cancellations recorded</a:t>
            </a:r>
            <a:endParaRPr lang="en-US" sz="4000" dirty="0"/>
          </a:p>
        </p:txBody>
      </p:sp>
      <p:sp>
        <p:nvSpPr>
          <p:cNvPr id="11" name="Shape 9"/>
          <p:cNvSpPr/>
          <p:nvPr/>
        </p:nvSpPr>
        <p:spPr>
          <a:xfrm>
            <a:off x="1051560" y="5010912"/>
            <a:ext cx="4160520" cy="256032"/>
          </a:xfrm>
          <a:prstGeom prst="roundRect">
            <a:avLst>
              <a:gd name="adj" fmla="val 17857"/>
            </a:avLst>
          </a:prstGeom>
          <a:solidFill>
            <a:srgbClr val="DE0024"/>
          </a:solidFill>
          <a:ln/>
        </p:spPr>
        <p:txBody>
          <a:bodyPr/>
          <a:lstStyle/>
          <a:p>
            <a:endParaRPr lang="en-US"/>
          </a:p>
        </p:txBody>
      </p:sp>
      <p:sp>
        <p:nvSpPr>
          <p:cNvPr id="12" name="Text 10"/>
          <p:cNvSpPr/>
          <p:nvPr/>
        </p:nvSpPr>
        <p:spPr>
          <a:xfrm>
            <a:off x="5303520" y="4965192"/>
            <a:ext cx="2011680" cy="310896"/>
          </a:xfrm>
          <a:prstGeom prst="rect">
            <a:avLst/>
          </a:prstGeom>
          <a:noFill/>
          <a:ln/>
        </p:spPr>
        <p:txBody>
          <a:bodyPr wrap="square" lIns="0" tIns="0" rIns="0" bIns="0" rtlCol="0" anchor="ctr"/>
          <a:lstStyle/>
          <a:p>
            <a:pPr marL="0" indent="0">
              <a:buNone/>
            </a:pPr>
            <a:r>
              <a:rPr lang="en-US" sz="1200" b="1" dirty="0">
                <a:solidFill>
                  <a:srgbClr val="DE0024"/>
                </a:solidFill>
                <a:latin typeface="Calibri" pitchFamily="34" charset="0"/>
                <a:ea typeface="Calibri" pitchFamily="34" charset="-122"/>
                <a:cs typeface="Calibri" pitchFamily="34" charset="-120"/>
              </a:rPr>
              <a:t>€5,830.73 voided</a:t>
            </a:r>
            <a:endParaRPr lang="en-US" sz="1200" dirty="0"/>
          </a:p>
        </p:txBody>
      </p:sp>
      <p:sp>
        <p:nvSpPr>
          <p:cNvPr id="13" name="Shape 11"/>
          <p:cNvSpPr/>
          <p:nvPr/>
        </p:nvSpPr>
        <p:spPr>
          <a:xfrm>
            <a:off x="7772400" y="1600200"/>
            <a:ext cx="3749040" cy="4023360"/>
          </a:xfrm>
          <a:prstGeom prst="roundRect">
            <a:avLst>
              <a:gd name="adj" fmla="val 2195"/>
            </a:avLst>
          </a:prstGeom>
          <a:solidFill>
            <a:srgbClr val="1E578D"/>
          </a:solidFill>
          <a:ln/>
          <a:effectLst>
            <a:outerShdw blurRad="88900" dist="25400" dir="5400000" algn="bl" rotWithShape="0">
              <a:srgbClr val="10294A">
                <a:alpha val="12000"/>
              </a:srgbClr>
            </a:outerShdw>
          </a:effectLst>
        </p:spPr>
        <p:txBody>
          <a:bodyPr/>
          <a:lstStyle/>
          <a:p>
            <a:endParaRPr lang="en-US"/>
          </a:p>
        </p:txBody>
      </p:sp>
      <p:pic>
        <p:nvPicPr>
          <p:cNvPr id="14" name="Image 0" descr="preencoded.png"/>
          <p:cNvPicPr>
            <a:picLocks noChangeAspect="1"/>
          </p:cNvPicPr>
          <p:nvPr/>
        </p:nvPicPr>
        <p:blipFill>
          <a:blip r:embed="rId3"/>
          <a:stretch>
            <a:fillRect/>
          </a:stretch>
        </p:blipFill>
        <p:spPr>
          <a:xfrm>
            <a:off x="8138160" y="1874520"/>
            <a:ext cx="502920" cy="502920"/>
          </a:xfrm>
          <a:prstGeom prst="rect">
            <a:avLst/>
          </a:prstGeom>
        </p:spPr>
      </p:pic>
      <p:sp>
        <p:nvSpPr>
          <p:cNvPr id="15" name="Text 12"/>
          <p:cNvSpPr/>
          <p:nvPr/>
        </p:nvSpPr>
        <p:spPr>
          <a:xfrm>
            <a:off x="8138160" y="2514600"/>
            <a:ext cx="3017520" cy="1097280"/>
          </a:xfrm>
          <a:prstGeom prst="rect">
            <a:avLst/>
          </a:prstGeom>
          <a:noFill/>
          <a:ln/>
        </p:spPr>
        <p:txBody>
          <a:bodyPr wrap="square" lIns="0" tIns="0" rIns="0" bIns="0" rtlCol="0" anchor="ctr"/>
          <a:lstStyle/>
          <a:p>
            <a:pPr marL="0" indent="0">
              <a:lnSpc>
                <a:spcPts val="2300"/>
              </a:lnSpc>
              <a:buNone/>
            </a:pPr>
            <a:r>
              <a:rPr lang="en-US" sz="1900" b="1" dirty="0">
                <a:solidFill>
                  <a:srgbClr val="FFFFFF"/>
                </a:solidFill>
                <a:latin typeface="Bookman Old Style" pitchFamily="34" charset="0"/>
                <a:ea typeface="Bookman Old Style" pitchFamily="34" charset="-122"/>
                <a:cs typeface="Bookman Old Style" pitchFamily="34" charset="-120"/>
              </a:rPr>
              <a:t>Voided value came to 55% of everything that was successfully sold.</a:t>
            </a:r>
            <a:endParaRPr lang="en-US" sz="1900" dirty="0"/>
          </a:p>
        </p:txBody>
      </p:sp>
      <p:sp>
        <p:nvSpPr>
          <p:cNvPr id="16" name="Text 13"/>
          <p:cNvSpPr/>
          <p:nvPr/>
        </p:nvSpPr>
        <p:spPr>
          <a:xfrm>
            <a:off x="8138160" y="3794760"/>
            <a:ext cx="3017520" cy="1280160"/>
          </a:xfrm>
          <a:prstGeom prst="rect">
            <a:avLst/>
          </a:prstGeom>
          <a:noFill/>
          <a:ln/>
        </p:spPr>
        <p:txBody>
          <a:bodyPr wrap="square" lIns="0" tIns="0" rIns="0" bIns="0" rtlCol="0" anchor="ctr"/>
          <a:lstStyle/>
          <a:p>
            <a:pPr marL="0" indent="0">
              <a:lnSpc>
                <a:spcPts val="2000"/>
              </a:lnSpc>
              <a:buNone/>
            </a:pPr>
            <a:r>
              <a:rPr lang="en-US" sz="1300" dirty="0">
                <a:solidFill>
                  <a:srgbClr val="D6E4F2"/>
                </a:solidFill>
                <a:latin typeface="Calibri" pitchFamily="34" charset="0"/>
                <a:ea typeface="Calibri" pitchFamily="34" charset="-122"/>
                <a:cs typeface="Calibri" pitchFamily="34" charset="-120"/>
              </a:rPr>
              <a:t>With a cashier, a voided line is a change of mind. With no cashier, it means a tag didn’t read, an item walked out, or a basket was abandoned — and nobody saw which.</a:t>
            </a:r>
            <a:endParaRPr lang="en-US" sz="1300" dirty="0"/>
          </a:p>
        </p:txBody>
      </p:sp>
      <p:sp>
        <p:nvSpPr>
          <p:cNvPr id="17" name="Text 14"/>
          <p:cNvSpPr/>
          <p:nvPr/>
        </p:nvSpPr>
        <p:spPr>
          <a:xfrm>
            <a:off x="8138160" y="5074920"/>
            <a:ext cx="301752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2,274 of those voids were on the unstaffed gate.</a:t>
            </a:r>
            <a:endParaRPr lang="en-US" sz="1300" dirty="0"/>
          </a:p>
        </p:txBody>
      </p:sp>
      <p:sp>
        <p:nvSpPr>
          <p:cNvPr id="18" name="Text 15"/>
          <p:cNvSpPr/>
          <p:nvPr/>
        </p:nvSpPr>
        <p:spPr>
          <a:xfrm>
            <a:off x="11414455" y="6400800"/>
            <a:ext cx="457200" cy="274320"/>
          </a:xfrm>
          <a:prstGeom prst="rect">
            <a:avLst/>
          </a:prstGeom>
          <a:noFill/>
          <a:ln/>
        </p:spPr>
        <p:txBody>
          <a:bodyPr wrap="square" rtlCol="0" anchor="ctr"/>
          <a:lstStyle/>
          <a:p>
            <a:pPr marL="0" indent="0" algn="r">
              <a:buNone/>
            </a:pPr>
            <a:r>
              <a:rPr lang="en-US" sz="900" dirty="0">
                <a:solidFill>
                  <a:srgbClr val="A6B6CC"/>
                </a:solidFill>
                <a:latin typeface="Calibri" pitchFamily="34" charset="0"/>
                <a:ea typeface="Calibri" pitchFamily="34" charset="-122"/>
                <a:cs typeface="Calibri" pitchFamily="34" charset="-120"/>
              </a:rPr>
              <a:t>06</a:t>
            </a:r>
            <a:endParaRPr lang="en-US" sz="900" dirty="0"/>
          </a:p>
        </p:txBody>
      </p:sp>
      <p:pic>
        <p:nvPicPr>
          <p:cNvPr id="19" name="Image 1" descr="/home/claude/mark_white.png"/>
          <p:cNvPicPr>
            <a:picLocks noChangeAspect="1"/>
          </p:cNvPicPr>
          <p:nvPr/>
        </p:nvPicPr>
        <p:blipFill>
          <a:blip r:embed="rId4"/>
          <a:stretch>
            <a:fillRect/>
          </a:stretch>
        </p:blipFill>
        <p:spPr>
          <a:xfrm>
            <a:off x="457200" y="6355080"/>
            <a:ext cx="457200" cy="302412"/>
          </a:xfrm>
          <a:prstGeom prst="rect">
            <a:avLst/>
          </a:prstGeom>
        </p:spPr>
      </p:pic>
      <p:sp>
        <p:nvSpPr>
          <p:cNvPr id="20" name="Text 16"/>
          <p:cNvSpPr/>
          <p:nvPr/>
        </p:nvSpPr>
        <p:spPr>
          <a:xfrm>
            <a:off x="960120" y="6400800"/>
            <a:ext cx="1828800" cy="274320"/>
          </a:xfrm>
          <a:prstGeom prst="rect">
            <a:avLst/>
          </a:prstGeom>
          <a:noFill/>
          <a:ln/>
        </p:spPr>
        <p:txBody>
          <a:bodyPr wrap="square" lIns="0" tIns="0" rIns="0" bIns="0" rtlCol="0" anchor="ctr"/>
          <a:lstStyle/>
          <a:p>
            <a:pPr marL="0" indent="0">
              <a:buNone/>
            </a:pPr>
            <a:r>
              <a:rPr lang="en-US" sz="850" b="1" kern="0" spc="200" dirty="0">
                <a:solidFill>
                  <a:srgbClr val="A6B6CC"/>
                </a:solidFill>
                <a:latin typeface="Calibri" pitchFamily="34" charset="0"/>
                <a:ea typeface="Calibri" pitchFamily="34" charset="-122"/>
                <a:cs typeface="Calibri" pitchFamily="34" charset="-120"/>
              </a:rPr>
              <a:t>MSITEK</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7FB"/>
        </a:solidFill>
        <a:effectLst/>
      </p:bgPr>
    </p:bg>
    <p:spTree>
      <p:nvGrpSpPr>
        <p:cNvPr id="1" name=""/>
        <p:cNvGrpSpPr/>
        <p:nvPr/>
      </p:nvGrpSpPr>
      <p:grpSpPr>
        <a:xfrm>
          <a:off x="0" y="0"/>
          <a:ext cx="0" cy="0"/>
          <a:chOff x="0" y="0"/>
          <a:chExt cx="0" cy="0"/>
        </a:xfrm>
      </p:grpSpPr>
      <p:sp>
        <p:nvSpPr>
          <p:cNvPr id="2" name="Text 0"/>
          <p:cNvSpPr/>
          <p:nvPr/>
        </p:nvSpPr>
        <p:spPr>
          <a:xfrm>
            <a:off x="685800" y="502920"/>
            <a:ext cx="7315200" cy="274320"/>
          </a:xfrm>
          <a:prstGeom prst="rect">
            <a:avLst/>
          </a:prstGeom>
          <a:noFill/>
          <a:ln/>
        </p:spPr>
        <p:txBody>
          <a:bodyPr wrap="square" lIns="0" tIns="0" rIns="0" bIns="0" rtlCol="0" anchor="ctr"/>
          <a:lstStyle/>
          <a:p>
            <a:pPr marL="0" indent="0">
              <a:buNone/>
            </a:pPr>
            <a:r>
              <a:rPr lang="en-US" sz="1200" b="1" kern="0" spc="300" dirty="0">
                <a:solidFill>
                  <a:srgbClr val="1E578D"/>
                </a:solidFill>
                <a:latin typeface="Calibri" pitchFamily="34" charset="0"/>
                <a:ea typeface="Calibri" pitchFamily="34" charset="-122"/>
                <a:cs typeface="Calibri" pitchFamily="34" charset="-120"/>
              </a:rPr>
              <a:t>WHAT WE BUILT</a:t>
            </a:r>
            <a:endParaRPr lang="en-US" sz="1200" dirty="0"/>
          </a:p>
        </p:txBody>
      </p:sp>
      <p:sp>
        <p:nvSpPr>
          <p:cNvPr id="3" name="Text 1"/>
          <p:cNvSpPr/>
          <p:nvPr/>
        </p:nvSpPr>
        <p:spPr>
          <a:xfrm>
            <a:off x="658368" y="795528"/>
            <a:ext cx="10789920" cy="548640"/>
          </a:xfrm>
          <a:prstGeom prst="rect">
            <a:avLst/>
          </a:prstGeom>
          <a:noFill/>
          <a:ln/>
        </p:spPr>
        <p:txBody>
          <a:bodyPr wrap="square" lIns="0" tIns="0" rIns="0" bIns="0" rtlCol="0" anchor="ctr"/>
          <a:lstStyle/>
          <a:p>
            <a:pPr marL="0" indent="0">
              <a:buNone/>
            </a:pPr>
            <a:r>
              <a:rPr lang="en-US" sz="3000" b="1" dirty="0">
                <a:solidFill>
                  <a:srgbClr val="10294A"/>
                </a:solidFill>
                <a:latin typeface="Bookman Old Style" pitchFamily="34" charset="0"/>
                <a:ea typeface="Bookman Old Style" pitchFamily="34" charset="-122"/>
                <a:cs typeface="Bookman Old Style" pitchFamily="34" charset="-120"/>
              </a:rPr>
              <a:t>A working retail AI application, end to end</a:t>
            </a:r>
            <a:endParaRPr lang="en-US" sz="3000" dirty="0"/>
          </a:p>
        </p:txBody>
      </p:sp>
      <p:sp>
        <p:nvSpPr>
          <p:cNvPr id="4" name="Shape 2"/>
          <p:cNvSpPr/>
          <p:nvPr/>
        </p:nvSpPr>
        <p:spPr>
          <a:xfrm>
            <a:off x="685800" y="1600200"/>
            <a:ext cx="3520440" cy="2148840"/>
          </a:xfrm>
          <a:prstGeom prst="roundRect">
            <a:avLst>
              <a:gd name="adj" fmla="val 383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5" name="Shape 3"/>
          <p:cNvSpPr/>
          <p:nvPr/>
        </p:nvSpPr>
        <p:spPr>
          <a:xfrm>
            <a:off x="978408" y="1892808"/>
            <a:ext cx="566928" cy="566928"/>
          </a:xfrm>
          <a:prstGeom prst="ellipse">
            <a:avLst/>
          </a:prstGeom>
          <a:solidFill>
            <a:srgbClr val="EEF3FA"/>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114471" y="2028871"/>
            <a:ext cx="294803" cy="294803"/>
          </a:xfrm>
          <a:prstGeom prst="rect">
            <a:avLst/>
          </a:prstGeom>
        </p:spPr>
      </p:pic>
      <p:sp>
        <p:nvSpPr>
          <p:cNvPr id="7" name="Text 4"/>
          <p:cNvSpPr/>
          <p:nvPr/>
        </p:nvSpPr>
        <p:spPr>
          <a:xfrm>
            <a:off x="978408" y="2560320"/>
            <a:ext cx="2971800" cy="457200"/>
          </a:xfrm>
          <a:prstGeom prst="rect">
            <a:avLst/>
          </a:prstGeom>
          <a:noFill/>
          <a:ln/>
        </p:spPr>
        <p:txBody>
          <a:bodyPr wrap="square" lIns="0" tIns="0" rIns="0" bIns="0" rtlCol="0" anchor="t"/>
          <a:lstStyle/>
          <a:p>
            <a:pPr marL="0" indent="0">
              <a:buNone/>
            </a:pPr>
            <a:r>
              <a:rPr lang="en-US" sz="1550" b="1" dirty="0">
                <a:solidFill>
                  <a:srgbClr val="10294A"/>
                </a:solidFill>
                <a:latin typeface="Calibri" pitchFamily="34" charset="0"/>
                <a:ea typeface="Calibri" pitchFamily="34" charset="-122"/>
                <a:cs typeface="Calibri" pitchFamily="34" charset="-120"/>
              </a:rPr>
              <a:t>3-stage data pipeline</a:t>
            </a:r>
            <a:endParaRPr lang="en-US" sz="1550" dirty="0"/>
          </a:p>
        </p:txBody>
      </p:sp>
      <p:sp>
        <p:nvSpPr>
          <p:cNvPr id="8" name="Text 5"/>
          <p:cNvSpPr/>
          <p:nvPr/>
        </p:nvSpPr>
        <p:spPr>
          <a:xfrm>
            <a:off x="978408" y="2971800"/>
            <a:ext cx="2953512" cy="685800"/>
          </a:xfrm>
          <a:prstGeom prst="rect">
            <a:avLst/>
          </a:prstGeom>
          <a:noFill/>
          <a:ln/>
        </p:spPr>
        <p:txBody>
          <a:bodyPr wrap="square" lIns="0" tIns="0" rIns="0" bIns="0" rtlCol="0" anchor="ctr"/>
          <a:lstStyle/>
          <a:p>
            <a:pPr marL="0" indent="0">
              <a:lnSpc>
                <a:spcPts val="1500"/>
              </a:lnSpc>
              <a:buNone/>
            </a:pPr>
            <a:r>
              <a:rPr lang="en-US" sz="1150" dirty="0">
                <a:solidFill>
                  <a:srgbClr val="54657E"/>
                </a:solidFill>
                <a:latin typeface="Calibri" pitchFamily="34" charset="0"/>
                <a:ea typeface="Calibri" pitchFamily="34" charset="-122"/>
                <a:cs typeface="Calibri" pitchFamily="34" charset="-120"/>
              </a:rPr>
              <a:t>Extract from the SAP workbooks, synthesize a six-store network, score with the engines. Reproducible from a fixed seed.</a:t>
            </a:r>
            <a:endParaRPr lang="en-US" sz="1150" dirty="0"/>
          </a:p>
        </p:txBody>
      </p:sp>
      <p:sp>
        <p:nvSpPr>
          <p:cNvPr id="9" name="Shape 6"/>
          <p:cNvSpPr/>
          <p:nvPr/>
        </p:nvSpPr>
        <p:spPr>
          <a:xfrm>
            <a:off x="4480560" y="1600200"/>
            <a:ext cx="3520440" cy="2148840"/>
          </a:xfrm>
          <a:prstGeom prst="roundRect">
            <a:avLst>
              <a:gd name="adj" fmla="val 383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10" name="Shape 7"/>
          <p:cNvSpPr/>
          <p:nvPr/>
        </p:nvSpPr>
        <p:spPr>
          <a:xfrm>
            <a:off x="4773168" y="1892808"/>
            <a:ext cx="566928" cy="566928"/>
          </a:xfrm>
          <a:prstGeom prst="ellipse">
            <a:avLst/>
          </a:prstGeom>
          <a:solidFill>
            <a:srgbClr val="EEF3FA"/>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4909231" y="2028871"/>
            <a:ext cx="294803" cy="294803"/>
          </a:xfrm>
          <a:prstGeom prst="rect">
            <a:avLst/>
          </a:prstGeom>
        </p:spPr>
      </p:pic>
      <p:sp>
        <p:nvSpPr>
          <p:cNvPr id="12" name="Text 8"/>
          <p:cNvSpPr/>
          <p:nvPr/>
        </p:nvSpPr>
        <p:spPr>
          <a:xfrm>
            <a:off x="4773168" y="2560320"/>
            <a:ext cx="2971800" cy="457200"/>
          </a:xfrm>
          <a:prstGeom prst="rect">
            <a:avLst/>
          </a:prstGeom>
          <a:noFill/>
          <a:ln/>
        </p:spPr>
        <p:txBody>
          <a:bodyPr wrap="square" lIns="0" tIns="0" rIns="0" bIns="0" rtlCol="0" anchor="t"/>
          <a:lstStyle/>
          <a:p>
            <a:pPr marL="0" indent="0">
              <a:buNone/>
            </a:pPr>
            <a:r>
              <a:rPr lang="en-US" sz="1550" b="1" dirty="0">
                <a:solidFill>
                  <a:srgbClr val="10294A"/>
                </a:solidFill>
                <a:latin typeface="Calibri" pitchFamily="34" charset="0"/>
                <a:ea typeface="Calibri" pitchFamily="34" charset="-122"/>
                <a:cs typeface="Calibri" pitchFamily="34" charset="-120"/>
              </a:rPr>
              <a:t>Seven AI scenario engines</a:t>
            </a:r>
            <a:endParaRPr lang="en-US" sz="1550" dirty="0"/>
          </a:p>
        </p:txBody>
      </p:sp>
      <p:sp>
        <p:nvSpPr>
          <p:cNvPr id="13" name="Text 9"/>
          <p:cNvSpPr/>
          <p:nvPr/>
        </p:nvSpPr>
        <p:spPr>
          <a:xfrm>
            <a:off x="4773168" y="2971800"/>
            <a:ext cx="2953512" cy="685800"/>
          </a:xfrm>
          <a:prstGeom prst="rect">
            <a:avLst/>
          </a:prstGeom>
          <a:noFill/>
          <a:ln/>
        </p:spPr>
        <p:txBody>
          <a:bodyPr wrap="square" lIns="0" tIns="0" rIns="0" bIns="0" rtlCol="0" anchor="ctr"/>
          <a:lstStyle/>
          <a:p>
            <a:pPr marL="0" indent="0">
              <a:lnSpc>
                <a:spcPts val="1500"/>
              </a:lnSpc>
              <a:buNone/>
            </a:pPr>
            <a:r>
              <a:rPr lang="en-US" sz="1150" dirty="0">
                <a:solidFill>
                  <a:srgbClr val="54657E"/>
                </a:solidFill>
                <a:latin typeface="Calibri" pitchFamily="34" charset="0"/>
                <a:ea typeface="Calibri" pitchFamily="34" charset="-122"/>
                <a:cs typeface="Calibri" pitchFamily="34" charset="-120"/>
              </a:rPr>
              <a:t>Pure-function engines shared by the pipeline and the live service — one implementation, no drift.</a:t>
            </a:r>
            <a:endParaRPr lang="en-US" sz="1150" dirty="0"/>
          </a:p>
        </p:txBody>
      </p:sp>
      <p:sp>
        <p:nvSpPr>
          <p:cNvPr id="14" name="Shape 10"/>
          <p:cNvSpPr/>
          <p:nvPr/>
        </p:nvSpPr>
        <p:spPr>
          <a:xfrm>
            <a:off x="8275320" y="1600200"/>
            <a:ext cx="3520440" cy="2148840"/>
          </a:xfrm>
          <a:prstGeom prst="roundRect">
            <a:avLst>
              <a:gd name="adj" fmla="val 383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15" name="Shape 11"/>
          <p:cNvSpPr/>
          <p:nvPr/>
        </p:nvSpPr>
        <p:spPr>
          <a:xfrm>
            <a:off x="8567928" y="1892808"/>
            <a:ext cx="566928" cy="566928"/>
          </a:xfrm>
          <a:prstGeom prst="ellipse">
            <a:avLst/>
          </a:prstGeom>
          <a:solidFill>
            <a:srgbClr val="EEF3FA"/>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8703991" y="2028871"/>
            <a:ext cx="294803" cy="294803"/>
          </a:xfrm>
          <a:prstGeom prst="rect">
            <a:avLst/>
          </a:prstGeom>
        </p:spPr>
      </p:pic>
      <p:sp>
        <p:nvSpPr>
          <p:cNvPr id="17" name="Text 12"/>
          <p:cNvSpPr/>
          <p:nvPr/>
        </p:nvSpPr>
        <p:spPr>
          <a:xfrm>
            <a:off x="8567928" y="2560320"/>
            <a:ext cx="2971800" cy="457200"/>
          </a:xfrm>
          <a:prstGeom prst="rect">
            <a:avLst/>
          </a:prstGeom>
          <a:noFill/>
          <a:ln/>
        </p:spPr>
        <p:txBody>
          <a:bodyPr wrap="square" lIns="0" tIns="0" rIns="0" bIns="0" rtlCol="0" anchor="t"/>
          <a:lstStyle/>
          <a:p>
            <a:pPr marL="0" indent="0">
              <a:buNone/>
            </a:pPr>
            <a:r>
              <a:rPr lang="en-US" sz="1550" b="1" dirty="0">
                <a:solidFill>
                  <a:srgbClr val="10294A"/>
                </a:solidFill>
                <a:latin typeface="Calibri" pitchFamily="34" charset="0"/>
                <a:ea typeface="Calibri" pitchFamily="34" charset="-122"/>
                <a:cs typeface="Calibri" pitchFamily="34" charset="-120"/>
              </a:rPr>
              <a:t>Two OData V4 services</a:t>
            </a:r>
            <a:endParaRPr lang="en-US" sz="1550" dirty="0"/>
          </a:p>
        </p:txBody>
      </p:sp>
      <p:sp>
        <p:nvSpPr>
          <p:cNvPr id="18" name="Text 13"/>
          <p:cNvSpPr/>
          <p:nvPr/>
        </p:nvSpPr>
        <p:spPr>
          <a:xfrm>
            <a:off x="8567928" y="2971800"/>
            <a:ext cx="2953512" cy="685800"/>
          </a:xfrm>
          <a:prstGeom prst="rect">
            <a:avLst/>
          </a:prstGeom>
          <a:noFill/>
          <a:ln/>
        </p:spPr>
        <p:txBody>
          <a:bodyPr wrap="square" lIns="0" tIns="0" rIns="0" bIns="0" rtlCol="0" anchor="ctr"/>
          <a:lstStyle/>
          <a:p>
            <a:pPr marL="0" indent="0">
              <a:lnSpc>
                <a:spcPts val="1500"/>
              </a:lnSpc>
              <a:buNone/>
            </a:pPr>
            <a:r>
              <a:rPr lang="en-US" sz="1150" dirty="0">
                <a:solidFill>
                  <a:srgbClr val="54657E"/>
                </a:solidFill>
                <a:latin typeface="Calibri" pitchFamily="34" charset="0"/>
                <a:ea typeface="Calibri" pitchFamily="34" charset="-122"/>
                <a:cs typeface="Calibri" pitchFamily="34" charset="-120"/>
              </a:rPr>
              <a:t>AnalyticsService over operational data; AIService for scenario output, actions and queues.</a:t>
            </a:r>
            <a:endParaRPr lang="en-US" sz="1150" dirty="0"/>
          </a:p>
        </p:txBody>
      </p:sp>
      <p:sp>
        <p:nvSpPr>
          <p:cNvPr id="19" name="Shape 14"/>
          <p:cNvSpPr/>
          <p:nvPr/>
        </p:nvSpPr>
        <p:spPr>
          <a:xfrm>
            <a:off x="685800" y="4069080"/>
            <a:ext cx="3520440" cy="2148840"/>
          </a:xfrm>
          <a:prstGeom prst="roundRect">
            <a:avLst>
              <a:gd name="adj" fmla="val 383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20" name="Shape 15"/>
          <p:cNvSpPr/>
          <p:nvPr/>
        </p:nvSpPr>
        <p:spPr>
          <a:xfrm>
            <a:off x="978408" y="4361688"/>
            <a:ext cx="566928" cy="566928"/>
          </a:xfrm>
          <a:prstGeom prst="ellipse">
            <a:avLst/>
          </a:prstGeom>
          <a:solidFill>
            <a:srgbClr val="EEF3FA"/>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1114471" y="4497751"/>
            <a:ext cx="294803" cy="294803"/>
          </a:xfrm>
          <a:prstGeom prst="rect">
            <a:avLst/>
          </a:prstGeom>
        </p:spPr>
      </p:pic>
      <p:sp>
        <p:nvSpPr>
          <p:cNvPr id="22" name="Text 16"/>
          <p:cNvSpPr/>
          <p:nvPr/>
        </p:nvSpPr>
        <p:spPr>
          <a:xfrm>
            <a:off x="978408" y="5029200"/>
            <a:ext cx="2971800" cy="457200"/>
          </a:xfrm>
          <a:prstGeom prst="rect">
            <a:avLst/>
          </a:prstGeom>
          <a:noFill/>
          <a:ln/>
        </p:spPr>
        <p:txBody>
          <a:bodyPr wrap="square" lIns="0" tIns="0" rIns="0" bIns="0" rtlCol="0" anchor="t"/>
          <a:lstStyle/>
          <a:p>
            <a:pPr marL="0" indent="0">
              <a:buNone/>
            </a:pPr>
            <a:r>
              <a:rPr lang="en-US" sz="1550" b="1" dirty="0">
                <a:solidFill>
                  <a:srgbClr val="10294A"/>
                </a:solidFill>
                <a:latin typeface="Calibri" pitchFamily="34" charset="0"/>
                <a:ea typeface="Calibri" pitchFamily="34" charset="-122"/>
                <a:cs typeface="Calibri" pitchFamily="34" charset="-120"/>
              </a:rPr>
              <a:t>Dashboards &amp; Fiori apps</a:t>
            </a:r>
            <a:endParaRPr lang="en-US" sz="1550" dirty="0"/>
          </a:p>
        </p:txBody>
      </p:sp>
      <p:sp>
        <p:nvSpPr>
          <p:cNvPr id="23" name="Text 17"/>
          <p:cNvSpPr/>
          <p:nvPr/>
        </p:nvSpPr>
        <p:spPr>
          <a:xfrm>
            <a:off x="978408" y="5440680"/>
            <a:ext cx="2953512" cy="685800"/>
          </a:xfrm>
          <a:prstGeom prst="rect">
            <a:avLst/>
          </a:prstGeom>
          <a:noFill/>
          <a:ln/>
        </p:spPr>
        <p:txBody>
          <a:bodyPr wrap="square" lIns="0" tIns="0" rIns="0" bIns="0" rtlCol="0" anchor="ctr"/>
          <a:lstStyle/>
          <a:p>
            <a:pPr marL="0" indent="0">
              <a:lnSpc>
                <a:spcPts val="1500"/>
              </a:lnSpc>
              <a:buNone/>
            </a:pPr>
            <a:r>
              <a:rPr lang="en-US" sz="1150" dirty="0">
                <a:solidFill>
                  <a:srgbClr val="54657E"/>
                </a:solidFill>
                <a:latin typeface="Calibri" pitchFamily="34" charset="0"/>
                <a:ea typeface="Calibri" pitchFamily="34" charset="-122"/>
                <a:cs typeface="Calibri" pitchFamily="34" charset="-120"/>
              </a:rPr>
              <a:t>A dependency-free Command Centre and Workbench, plus eight SAP Fiori elements applications.</a:t>
            </a:r>
            <a:endParaRPr lang="en-US" sz="1150" dirty="0"/>
          </a:p>
        </p:txBody>
      </p:sp>
      <p:sp>
        <p:nvSpPr>
          <p:cNvPr id="24" name="Shape 18"/>
          <p:cNvSpPr/>
          <p:nvPr/>
        </p:nvSpPr>
        <p:spPr>
          <a:xfrm>
            <a:off x="4480560" y="4069080"/>
            <a:ext cx="3520440" cy="2148840"/>
          </a:xfrm>
          <a:prstGeom prst="roundRect">
            <a:avLst>
              <a:gd name="adj" fmla="val 383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25" name="Shape 19"/>
          <p:cNvSpPr/>
          <p:nvPr/>
        </p:nvSpPr>
        <p:spPr>
          <a:xfrm>
            <a:off x="4773168" y="4361688"/>
            <a:ext cx="566928" cy="566928"/>
          </a:xfrm>
          <a:prstGeom prst="ellipse">
            <a:avLst/>
          </a:prstGeom>
          <a:solidFill>
            <a:srgbClr val="EEF3FA"/>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4909231" y="4497751"/>
            <a:ext cx="294803" cy="294803"/>
          </a:xfrm>
          <a:prstGeom prst="rect">
            <a:avLst/>
          </a:prstGeom>
        </p:spPr>
      </p:pic>
      <p:sp>
        <p:nvSpPr>
          <p:cNvPr id="27" name="Text 20"/>
          <p:cNvSpPr/>
          <p:nvPr/>
        </p:nvSpPr>
        <p:spPr>
          <a:xfrm>
            <a:off x="4773168" y="5029200"/>
            <a:ext cx="2971800" cy="457200"/>
          </a:xfrm>
          <a:prstGeom prst="rect">
            <a:avLst/>
          </a:prstGeom>
          <a:noFill/>
          <a:ln/>
        </p:spPr>
        <p:txBody>
          <a:bodyPr wrap="square" lIns="0" tIns="0" rIns="0" bIns="0" rtlCol="0" anchor="t"/>
          <a:lstStyle/>
          <a:p>
            <a:pPr marL="0" indent="0">
              <a:buNone/>
            </a:pPr>
            <a:r>
              <a:rPr lang="en-US" sz="1550" b="1" dirty="0">
                <a:solidFill>
                  <a:srgbClr val="10294A"/>
                </a:solidFill>
                <a:latin typeface="Calibri" pitchFamily="34" charset="0"/>
                <a:ea typeface="Calibri" pitchFamily="34" charset="-122"/>
                <a:cs typeface="Calibri" pitchFamily="34" charset="-120"/>
              </a:rPr>
              <a:t>Deployed to SAP HANA Cloud</a:t>
            </a:r>
            <a:endParaRPr lang="en-US" sz="1550" dirty="0"/>
          </a:p>
        </p:txBody>
      </p:sp>
      <p:sp>
        <p:nvSpPr>
          <p:cNvPr id="28" name="Text 21"/>
          <p:cNvSpPr/>
          <p:nvPr/>
        </p:nvSpPr>
        <p:spPr>
          <a:xfrm>
            <a:off x="4773168" y="5440680"/>
            <a:ext cx="2953512" cy="685800"/>
          </a:xfrm>
          <a:prstGeom prst="rect">
            <a:avLst/>
          </a:prstGeom>
          <a:noFill/>
          <a:ln/>
        </p:spPr>
        <p:txBody>
          <a:bodyPr wrap="square" lIns="0" tIns="0" rIns="0" bIns="0" rtlCol="0" anchor="ctr"/>
          <a:lstStyle/>
          <a:p>
            <a:pPr marL="0" indent="0">
              <a:lnSpc>
                <a:spcPts val="1500"/>
              </a:lnSpc>
              <a:buNone/>
            </a:pPr>
            <a:r>
              <a:rPr lang="en-US" sz="1150" dirty="0">
                <a:solidFill>
                  <a:srgbClr val="54657E"/>
                </a:solidFill>
                <a:latin typeface="Calibri" pitchFamily="34" charset="0"/>
                <a:ea typeface="Calibri" pitchFamily="34" charset="-122"/>
                <a:cs typeface="Calibri" pitchFamily="34" charset="-120"/>
              </a:rPr>
              <a:t>120,324 rows across 25 tables. 131 artifacts, zero warnings. Model compiled unchanged.</a:t>
            </a:r>
            <a:endParaRPr lang="en-US" sz="1150" dirty="0"/>
          </a:p>
        </p:txBody>
      </p:sp>
      <p:sp>
        <p:nvSpPr>
          <p:cNvPr id="29" name="Shape 22"/>
          <p:cNvSpPr/>
          <p:nvPr/>
        </p:nvSpPr>
        <p:spPr>
          <a:xfrm>
            <a:off x="8275320" y="4069080"/>
            <a:ext cx="3520440" cy="2148840"/>
          </a:xfrm>
          <a:prstGeom prst="roundRect">
            <a:avLst>
              <a:gd name="adj" fmla="val 383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30" name="Shape 23"/>
          <p:cNvSpPr/>
          <p:nvPr/>
        </p:nvSpPr>
        <p:spPr>
          <a:xfrm>
            <a:off x="8567928" y="4361688"/>
            <a:ext cx="566928" cy="566928"/>
          </a:xfrm>
          <a:prstGeom prst="ellipse">
            <a:avLst/>
          </a:prstGeom>
          <a:solidFill>
            <a:srgbClr val="EEF3FA"/>
          </a:solidFill>
          <a:ln/>
        </p:spPr>
        <p:txBody>
          <a:bodyPr/>
          <a:lstStyle/>
          <a:p>
            <a:endParaRPr lang="en-US"/>
          </a:p>
        </p:txBody>
      </p:sp>
      <p:pic>
        <p:nvPicPr>
          <p:cNvPr id="31" name="Image 5" descr="preencoded.png"/>
          <p:cNvPicPr>
            <a:picLocks noChangeAspect="1"/>
          </p:cNvPicPr>
          <p:nvPr/>
        </p:nvPicPr>
        <p:blipFill>
          <a:blip r:embed="rId8"/>
          <a:stretch>
            <a:fillRect/>
          </a:stretch>
        </p:blipFill>
        <p:spPr>
          <a:xfrm>
            <a:off x="8703991" y="4497751"/>
            <a:ext cx="294803" cy="294803"/>
          </a:xfrm>
          <a:prstGeom prst="rect">
            <a:avLst/>
          </a:prstGeom>
        </p:spPr>
      </p:pic>
      <p:sp>
        <p:nvSpPr>
          <p:cNvPr id="32" name="Text 24"/>
          <p:cNvSpPr/>
          <p:nvPr/>
        </p:nvSpPr>
        <p:spPr>
          <a:xfrm>
            <a:off x="8567928" y="5029200"/>
            <a:ext cx="2971800" cy="457200"/>
          </a:xfrm>
          <a:prstGeom prst="rect">
            <a:avLst/>
          </a:prstGeom>
          <a:noFill/>
          <a:ln/>
        </p:spPr>
        <p:txBody>
          <a:bodyPr wrap="square" lIns="0" tIns="0" rIns="0" bIns="0" rtlCol="0" anchor="t"/>
          <a:lstStyle/>
          <a:p>
            <a:pPr marL="0" indent="0">
              <a:buNone/>
            </a:pPr>
            <a:r>
              <a:rPr lang="en-US" sz="1550" b="1" dirty="0">
                <a:solidFill>
                  <a:srgbClr val="10294A"/>
                </a:solidFill>
                <a:latin typeface="Calibri" pitchFamily="34" charset="0"/>
                <a:ea typeface="Calibri" pitchFamily="34" charset="-122"/>
                <a:cs typeface="Calibri" pitchFamily="34" charset="-120"/>
              </a:rPr>
              <a:t>Tested &amp; reconciled</a:t>
            </a:r>
            <a:endParaRPr lang="en-US" sz="1550" dirty="0"/>
          </a:p>
        </p:txBody>
      </p:sp>
      <p:sp>
        <p:nvSpPr>
          <p:cNvPr id="33" name="Text 25"/>
          <p:cNvSpPr/>
          <p:nvPr/>
        </p:nvSpPr>
        <p:spPr>
          <a:xfrm>
            <a:off x="8567928" y="5440680"/>
            <a:ext cx="2953512" cy="685800"/>
          </a:xfrm>
          <a:prstGeom prst="rect">
            <a:avLst/>
          </a:prstGeom>
          <a:noFill/>
          <a:ln/>
        </p:spPr>
        <p:txBody>
          <a:bodyPr wrap="square" lIns="0" tIns="0" rIns="0" bIns="0" rtlCol="0" anchor="ctr"/>
          <a:lstStyle/>
          <a:p>
            <a:pPr marL="0" indent="0">
              <a:lnSpc>
                <a:spcPts val="1500"/>
              </a:lnSpc>
              <a:buNone/>
            </a:pPr>
            <a:r>
              <a:rPr lang="en-US" sz="1150" dirty="0">
                <a:solidFill>
                  <a:srgbClr val="54657E"/>
                </a:solidFill>
                <a:latin typeface="Calibri" pitchFamily="34" charset="0"/>
                <a:ea typeface="Calibri" pitchFamily="34" charset="-122"/>
                <a:cs typeface="Calibri" pitchFamily="34" charset="-120"/>
              </a:rPr>
              <a:t>23 engine unit tests passing; extraction reconciles to SAP’s own totals to the cent.</a:t>
            </a:r>
            <a:endParaRPr lang="en-US" sz="1150" dirty="0"/>
          </a:p>
        </p:txBody>
      </p:sp>
      <p:sp>
        <p:nvSpPr>
          <p:cNvPr id="34" name="Text 26"/>
          <p:cNvSpPr/>
          <p:nvPr/>
        </p:nvSpPr>
        <p:spPr>
          <a:xfrm>
            <a:off x="11414455" y="6400800"/>
            <a:ext cx="457200" cy="274320"/>
          </a:xfrm>
          <a:prstGeom prst="rect">
            <a:avLst/>
          </a:prstGeom>
          <a:noFill/>
          <a:ln/>
        </p:spPr>
        <p:txBody>
          <a:bodyPr wrap="square" rtlCol="0" anchor="ctr"/>
          <a:lstStyle/>
          <a:p>
            <a:pPr marL="0" indent="0" algn="r">
              <a:buNone/>
            </a:pPr>
            <a:r>
              <a:rPr lang="en-US" sz="900" dirty="0">
                <a:solidFill>
                  <a:srgbClr val="A6B6CC"/>
                </a:solidFill>
                <a:latin typeface="Calibri" pitchFamily="34" charset="0"/>
                <a:ea typeface="Calibri" pitchFamily="34" charset="-122"/>
                <a:cs typeface="Calibri" pitchFamily="34" charset="-120"/>
              </a:rPr>
              <a:t>07</a:t>
            </a:r>
            <a:endParaRPr lang="en-US" sz="900" dirty="0"/>
          </a:p>
        </p:txBody>
      </p:sp>
      <p:pic>
        <p:nvPicPr>
          <p:cNvPr id="35" name="Image 6" descr="/home/claude/logo_wide_trim.png"/>
          <p:cNvPicPr>
            <a:picLocks noChangeAspect="1"/>
          </p:cNvPicPr>
          <p:nvPr/>
        </p:nvPicPr>
        <p:blipFill>
          <a:blip r:embed="rId9"/>
          <a:stretch>
            <a:fillRect/>
          </a:stretch>
        </p:blipFill>
        <p:spPr>
          <a:xfrm>
            <a:off x="457200" y="6345936"/>
            <a:ext cx="1234440" cy="24075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294A"/>
        </a:solidFill>
        <a:effectLst/>
      </p:bgPr>
    </p:bg>
    <p:spTree>
      <p:nvGrpSpPr>
        <p:cNvPr id="1" name=""/>
        <p:cNvGrpSpPr/>
        <p:nvPr/>
      </p:nvGrpSpPr>
      <p:grpSpPr>
        <a:xfrm>
          <a:off x="0" y="0"/>
          <a:ext cx="0" cy="0"/>
          <a:chOff x="0" y="0"/>
          <a:chExt cx="0" cy="0"/>
        </a:xfrm>
      </p:grpSpPr>
      <p:sp>
        <p:nvSpPr>
          <p:cNvPr id="2" name="Text 0"/>
          <p:cNvSpPr/>
          <p:nvPr/>
        </p:nvSpPr>
        <p:spPr>
          <a:xfrm>
            <a:off x="685800" y="502920"/>
            <a:ext cx="7315200" cy="274320"/>
          </a:xfrm>
          <a:prstGeom prst="rect">
            <a:avLst/>
          </a:prstGeom>
          <a:noFill/>
          <a:ln/>
        </p:spPr>
        <p:txBody>
          <a:bodyPr wrap="square" lIns="0" tIns="0" rIns="0" bIns="0" rtlCol="0" anchor="ctr"/>
          <a:lstStyle/>
          <a:p>
            <a:pPr marL="0" indent="0">
              <a:buNone/>
            </a:pPr>
            <a:r>
              <a:rPr lang="en-US" sz="1200" b="1" kern="0" spc="300" dirty="0">
                <a:solidFill>
                  <a:srgbClr val="5B9BD5"/>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658368" y="795528"/>
            <a:ext cx="10789920" cy="548640"/>
          </a:xfrm>
          <a:prstGeom prst="rect">
            <a:avLst/>
          </a:prstGeom>
          <a:noFill/>
          <a:ln/>
        </p:spPr>
        <p:txBody>
          <a:bodyPr wrap="square" lIns="0" tIns="0" rIns="0" bIns="0" rtlCol="0" anchor="ctr"/>
          <a:lstStyle/>
          <a:p>
            <a:pPr marL="0" indent="0">
              <a:buNone/>
            </a:pPr>
            <a:r>
              <a:rPr lang="en-US" sz="3000" b="1" dirty="0">
                <a:solidFill>
                  <a:srgbClr val="FFFFFF"/>
                </a:solidFill>
                <a:latin typeface="Bookman Old Style" pitchFamily="34" charset="0"/>
                <a:ea typeface="Bookman Old Style" pitchFamily="34" charset="-122"/>
                <a:cs typeface="Bookman Old Style" pitchFamily="34" charset="-120"/>
              </a:rPr>
              <a:t>From SAP export to scored insight</a:t>
            </a:r>
            <a:endParaRPr lang="en-US" sz="3000" dirty="0"/>
          </a:p>
        </p:txBody>
      </p:sp>
      <p:sp>
        <p:nvSpPr>
          <p:cNvPr id="4" name="Shape 2"/>
          <p:cNvSpPr/>
          <p:nvPr/>
        </p:nvSpPr>
        <p:spPr>
          <a:xfrm>
            <a:off x="685800" y="1691640"/>
            <a:ext cx="3383280" cy="2286000"/>
          </a:xfrm>
          <a:prstGeom prst="roundRect">
            <a:avLst>
              <a:gd name="adj" fmla="val 3600"/>
            </a:avLst>
          </a:prstGeom>
          <a:solidFill>
            <a:srgbClr val="183A61"/>
          </a:solidFill>
          <a:ln w="12700">
            <a:solidFill>
              <a:srgbClr val="1E578D"/>
            </a:solidFill>
            <a:prstDash val="solid"/>
          </a:ln>
          <a:effectLst>
            <a:outerShdw blurRad="88900" dist="25400" dir="5400000" algn="bl" rotWithShape="0">
              <a:srgbClr val="10294A">
                <a:alpha val="12000"/>
              </a:srgbClr>
            </a:outerShdw>
          </a:effectLst>
        </p:spPr>
        <p:txBody>
          <a:bodyPr/>
          <a:lstStyle/>
          <a:p>
            <a:endParaRPr lang="en-US"/>
          </a:p>
        </p:txBody>
      </p:sp>
      <p:sp>
        <p:nvSpPr>
          <p:cNvPr id="5" name="Shape 3"/>
          <p:cNvSpPr/>
          <p:nvPr/>
        </p:nvSpPr>
        <p:spPr>
          <a:xfrm>
            <a:off x="960120" y="1965960"/>
            <a:ext cx="548640" cy="548640"/>
          </a:xfrm>
          <a:prstGeom prst="ellipse">
            <a:avLst/>
          </a:prstGeom>
          <a:solidFill>
            <a:srgbClr val="0E2247"/>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91794" y="2097634"/>
            <a:ext cx="285293" cy="285293"/>
          </a:xfrm>
          <a:prstGeom prst="rect">
            <a:avLst/>
          </a:prstGeom>
        </p:spPr>
      </p:pic>
      <p:sp>
        <p:nvSpPr>
          <p:cNvPr id="7" name="Text 4"/>
          <p:cNvSpPr/>
          <p:nvPr/>
        </p:nvSpPr>
        <p:spPr>
          <a:xfrm>
            <a:off x="1645920" y="2011680"/>
            <a:ext cx="2286000" cy="457200"/>
          </a:xfrm>
          <a:prstGeom prst="rect">
            <a:avLst/>
          </a:prstGeom>
          <a:noFill/>
          <a:ln/>
        </p:spPr>
        <p:txBody>
          <a:bodyPr wrap="square" lIns="0" tIns="0" rIns="0" bIns="0" rtlCol="0" anchor="ctr"/>
          <a:lstStyle/>
          <a:p>
            <a:pPr marL="0" indent="0">
              <a:buNone/>
            </a:pPr>
            <a:r>
              <a:rPr lang="en-US" sz="1800" b="1" dirty="0">
                <a:solidFill>
                  <a:srgbClr val="FFFFFF"/>
                </a:solidFill>
                <a:latin typeface="Bookman Old Style" pitchFamily="34" charset="0"/>
                <a:ea typeface="Bookman Old Style" pitchFamily="34" charset="-122"/>
                <a:cs typeface="Bookman Old Style" pitchFamily="34" charset="-120"/>
              </a:rPr>
              <a:t>1 · Extract</a:t>
            </a:r>
            <a:endParaRPr lang="en-US" sz="1800" dirty="0"/>
          </a:p>
        </p:txBody>
      </p:sp>
      <p:sp>
        <p:nvSpPr>
          <p:cNvPr id="8" name="Text 5"/>
          <p:cNvSpPr/>
          <p:nvPr/>
        </p:nvSpPr>
        <p:spPr>
          <a:xfrm>
            <a:off x="960120" y="2651760"/>
            <a:ext cx="2834640" cy="274320"/>
          </a:xfrm>
          <a:prstGeom prst="rect">
            <a:avLst/>
          </a:prstGeom>
          <a:noFill/>
          <a:ln/>
        </p:spPr>
        <p:txBody>
          <a:bodyPr wrap="square" lIns="0" tIns="0" rIns="0" bIns="0" rtlCol="0" anchor="ctr"/>
          <a:lstStyle/>
          <a:p>
            <a:pPr marL="0" indent="0">
              <a:buNone/>
            </a:pPr>
            <a:r>
              <a:rPr lang="en-US" sz="1050" dirty="0">
                <a:solidFill>
                  <a:srgbClr val="5B9BD5"/>
                </a:solidFill>
                <a:latin typeface="Courier New" pitchFamily="34" charset="0"/>
                <a:ea typeface="Courier New" pitchFamily="34" charset="-122"/>
                <a:cs typeface="Courier New" pitchFamily="34" charset="-120"/>
              </a:rPr>
              <a:t>tools/etl_sap_export.py</a:t>
            </a:r>
            <a:endParaRPr lang="en-US" sz="1050" dirty="0"/>
          </a:p>
        </p:txBody>
      </p:sp>
      <p:sp>
        <p:nvSpPr>
          <p:cNvPr id="9" name="Text 6"/>
          <p:cNvSpPr/>
          <p:nvPr/>
        </p:nvSpPr>
        <p:spPr>
          <a:xfrm>
            <a:off x="960120" y="2971800"/>
            <a:ext cx="2834640" cy="914400"/>
          </a:xfrm>
          <a:prstGeom prst="rect">
            <a:avLst/>
          </a:prstGeom>
          <a:noFill/>
          <a:ln/>
        </p:spPr>
        <p:txBody>
          <a:bodyPr wrap="square" lIns="0" tIns="0" rIns="0" bIns="0" rtlCol="0" anchor="ctr"/>
          <a:lstStyle/>
          <a:p>
            <a:pPr marL="0" indent="0">
              <a:lnSpc>
                <a:spcPts val="1700"/>
              </a:lnSpc>
              <a:buNone/>
            </a:pPr>
            <a:r>
              <a:rPr lang="en-US" sz="1200" dirty="0">
                <a:solidFill>
                  <a:srgbClr val="D6E4F2"/>
                </a:solidFill>
                <a:latin typeface="Calibri" pitchFamily="34" charset="0"/>
                <a:ea typeface="Calibri" pitchFamily="34" charset="-122"/>
                <a:cs typeface="Calibri" pitchFamily="34" charset="-120"/>
              </a:rPr>
              <a:t>19 report sheets → tidy CSVs. Reconciles to SAP’s printed totals to the cent.</a:t>
            </a:r>
            <a:endParaRPr lang="en-US" sz="1200" dirty="0"/>
          </a:p>
        </p:txBody>
      </p:sp>
      <p:sp>
        <p:nvSpPr>
          <p:cNvPr id="10" name="Text 7"/>
          <p:cNvSpPr/>
          <p:nvPr/>
        </p:nvSpPr>
        <p:spPr>
          <a:xfrm>
            <a:off x="4096512" y="2514600"/>
            <a:ext cx="457200" cy="548640"/>
          </a:xfrm>
          <a:prstGeom prst="rect">
            <a:avLst/>
          </a:prstGeom>
          <a:noFill/>
          <a:ln/>
        </p:spPr>
        <p:txBody>
          <a:bodyPr wrap="square" lIns="0" tIns="0" rIns="0" bIns="0" rtlCol="0" anchor="ctr"/>
          <a:lstStyle/>
          <a:p>
            <a:pPr marL="0" indent="0" algn="ctr">
              <a:buNone/>
            </a:pPr>
            <a:r>
              <a:rPr lang="en-US" sz="2800" b="1" dirty="0">
                <a:solidFill>
                  <a:srgbClr val="5B9BD5"/>
                </a:solidFill>
                <a:latin typeface="Calibri" pitchFamily="34" charset="0"/>
                <a:ea typeface="Calibri" pitchFamily="34" charset="-122"/>
                <a:cs typeface="Calibri" pitchFamily="34" charset="-120"/>
              </a:rPr>
              <a:t>→</a:t>
            </a:r>
            <a:endParaRPr lang="en-US" sz="2800" dirty="0"/>
          </a:p>
        </p:txBody>
      </p:sp>
      <p:sp>
        <p:nvSpPr>
          <p:cNvPr id="11" name="Shape 8"/>
          <p:cNvSpPr/>
          <p:nvPr/>
        </p:nvSpPr>
        <p:spPr>
          <a:xfrm>
            <a:off x="4572000" y="1691640"/>
            <a:ext cx="3383280" cy="2286000"/>
          </a:xfrm>
          <a:prstGeom prst="roundRect">
            <a:avLst>
              <a:gd name="adj" fmla="val 3600"/>
            </a:avLst>
          </a:prstGeom>
          <a:solidFill>
            <a:srgbClr val="183A61"/>
          </a:solidFill>
          <a:ln w="12700">
            <a:solidFill>
              <a:srgbClr val="1E578D"/>
            </a:solidFill>
            <a:prstDash val="solid"/>
          </a:ln>
          <a:effectLst>
            <a:outerShdw blurRad="88900" dist="25400" dir="5400000" algn="bl" rotWithShape="0">
              <a:srgbClr val="10294A">
                <a:alpha val="12000"/>
              </a:srgbClr>
            </a:outerShdw>
          </a:effectLst>
        </p:spPr>
        <p:txBody>
          <a:bodyPr/>
          <a:lstStyle/>
          <a:p>
            <a:endParaRPr lang="en-US"/>
          </a:p>
        </p:txBody>
      </p:sp>
      <p:sp>
        <p:nvSpPr>
          <p:cNvPr id="12" name="Shape 9"/>
          <p:cNvSpPr/>
          <p:nvPr/>
        </p:nvSpPr>
        <p:spPr>
          <a:xfrm>
            <a:off x="4846320" y="1965960"/>
            <a:ext cx="548640" cy="548640"/>
          </a:xfrm>
          <a:prstGeom prst="ellipse">
            <a:avLst/>
          </a:prstGeom>
          <a:solidFill>
            <a:srgbClr val="0E2247"/>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977994" y="2097634"/>
            <a:ext cx="285293" cy="285293"/>
          </a:xfrm>
          <a:prstGeom prst="rect">
            <a:avLst/>
          </a:prstGeom>
        </p:spPr>
      </p:pic>
      <p:sp>
        <p:nvSpPr>
          <p:cNvPr id="14" name="Text 10"/>
          <p:cNvSpPr/>
          <p:nvPr/>
        </p:nvSpPr>
        <p:spPr>
          <a:xfrm>
            <a:off x="5532120" y="2011680"/>
            <a:ext cx="2286000" cy="457200"/>
          </a:xfrm>
          <a:prstGeom prst="rect">
            <a:avLst/>
          </a:prstGeom>
          <a:noFill/>
          <a:ln/>
        </p:spPr>
        <p:txBody>
          <a:bodyPr wrap="square" lIns="0" tIns="0" rIns="0" bIns="0" rtlCol="0" anchor="ctr"/>
          <a:lstStyle/>
          <a:p>
            <a:pPr marL="0" indent="0">
              <a:buNone/>
            </a:pPr>
            <a:r>
              <a:rPr lang="en-US" sz="1800" b="1" dirty="0">
                <a:solidFill>
                  <a:srgbClr val="FFFFFF"/>
                </a:solidFill>
                <a:latin typeface="Bookman Old Style" pitchFamily="34" charset="0"/>
                <a:ea typeface="Bookman Old Style" pitchFamily="34" charset="-122"/>
                <a:cs typeface="Bookman Old Style" pitchFamily="34" charset="-120"/>
              </a:rPr>
              <a:t>2 · Synthesize</a:t>
            </a:r>
            <a:endParaRPr lang="en-US" sz="1800" dirty="0"/>
          </a:p>
        </p:txBody>
      </p:sp>
      <p:sp>
        <p:nvSpPr>
          <p:cNvPr id="15" name="Text 11"/>
          <p:cNvSpPr/>
          <p:nvPr/>
        </p:nvSpPr>
        <p:spPr>
          <a:xfrm>
            <a:off x="4846320" y="2651760"/>
            <a:ext cx="2834640" cy="274320"/>
          </a:xfrm>
          <a:prstGeom prst="rect">
            <a:avLst/>
          </a:prstGeom>
          <a:noFill/>
          <a:ln/>
        </p:spPr>
        <p:txBody>
          <a:bodyPr wrap="square" lIns="0" tIns="0" rIns="0" bIns="0" rtlCol="0" anchor="ctr"/>
          <a:lstStyle/>
          <a:p>
            <a:pPr marL="0" indent="0">
              <a:buNone/>
            </a:pPr>
            <a:r>
              <a:rPr lang="en-US" sz="1050" dirty="0">
                <a:solidFill>
                  <a:srgbClr val="5B9BD5"/>
                </a:solidFill>
                <a:latin typeface="Courier New" pitchFamily="34" charset="0"/>
                <a:ea typeface="Courier New" pitchFamily="34" charset="-122"/>
                <a:cs typeface="Courier New" pitchFamily="34" charset="-120"/>
              </a:rPr>
              <a:t>synthesize_dataset.py</a:t>
            </a:r>
            <a:endParaRPr lang="en-US" sz="1050" dirty="0"/>
          </a:p>
        </p:txBody>
      </p:sp>
      <p:sp>
        <p:nvSpPr>
          <p:cNvPr id="16" name="Text 12"/>
          <p:cNvSpPr/>
          <p:nvPr/>
        </p:nvSpPr>
        <p:spPr>
          <a:xfrm>
            <a:off x="4846320" y="2971800"/>
            <a:ext cx="2834640" cy="914400"/>
          </a:xfrm>
          <a:prstGeom prst="rect">
            <a:avLst/>
          </a:prstGeom>
          <a:noFill/>
          <a:ln/>
        </p:spPr>
        <p:txBody>
          <a:bodyPr wrap="square" lIns="0" tIns="0" rIns="0" bIns="0" rtlCol="0" anchor="ctr"/>
          <a:lstStyle/>
          <a:p>
            <a:pPr marL="0" indent="0">
              <a:lnSpc>
                <a:spcPts val="1700"/>
              </a:lnSpc>
              <a:buNone/>
            </a:pPr>
            <a:r>
              <a:rPr lang="en-US" sz="1200" dirty="0">
                <a:solidFill>
                  <a:srgbClr val="D6E4F2"/>
                </a:solidFill>
                <a:latin typeface="Calibri" pitchFamily="34" charset="0"/>
                <a:ea typeface="Calibri" pitchFamily="34" charset="-122"/>
                <a:cs typeface="Calibri" pitchFamily="34" charset="-120"/>
              </a:rPr>
              <a:t>Measures Walldorf’s real curves and replays them across 5 more stores. Seeded, reproducible.</a:t>
            </a:r>
            <a:endParaRPr lang="en-US" sz="1200" dirty="0"/>
          </a:p>
        </p:txBody>
      </p:sp>
      <p:sp>
        <p:nvSpPr>
          <p:cNvPr id="17" name="Text 13"/>
          <p:cNvSpPr/>
          <p:nvPr/>
        </p:nvSpPr>
        <p:spPr>
          <a:xfrm>
            <a:off x="7982712" y="2514600"/>
            <a:ext cx="457200" cy="548640"/>
          </a:xfrm>
          <a:prstGeom prst="rect">
            <a:avLst/>
          </a:prstGeom>
          <a:noFill/>
          <a:ln/>
        </p:spPr>
        <p:txBody>
          <a:bodyPr wrap="square" lIns="0" tIns="0" rIns="0" bIns="0" rtlCol="0" anchor="ctr"/>
          <a:lstStyle/>
          <a:p>
            <a:pPr marL="0" indent="0" algn="ctr">
              <a:buNone/>
            </a:pPr>
            <a:r>
              <a:rPr lang="en-US" sz="2800" b="1" dirty="0">
                <a:solidFill>
                  <a:srgbClr val="5B9BD5"/>
                </a:solidFill>
                <a:latin typeface="Calibri" pitchFamily="34" charset="0"/>
                <a:ea typeface="Calibri" pitchFamily="34" charset="-122"/>
                <a:cs typeface="Calibri" pitchFamily="34" charset="-120"/>
              </a:rPr>
              <a:t>→</a:t>
            </a:r>
            <a:endParaRPr lang="en-US" sz="2800" dirty="0"/>
          </a:p>
        </p:txBody>
      </p:sp>
      <p:sp>
        <p:nvSpPr>
          <p:cNvPr id="18" name="Shape 14"/>
          <p:cNvSpPr/>
          <p:nvPr/>
        </p:nvSpPr>
        <p:spPr>
          <a:xfrm>
            <a:off x="8458200" y="1691640"/>
            <a:ext cx="3383280" cy="2286000"/>
          </a:xfrm>
          <a:prstGeom prst="roundRect">
            <a:avLst>
              <a:gd name="adj" fmla="val 3600"/>
            </a:avLst>
          </a:prstGeom>
          <a:solidFill>
            <a:srgbClr val="183A61"/>
          </a:solidFill>
          <a:ln w="12700">
            <a:solidFill>
              <a:srgbClr val="1E578D"/>
            </a:solidFill>
            <a:prstDash val="solid"/>
          </a:ln>
          <a:effectLst>
            <a:outerShdw blurRad="88900" dist="25400" dir="5400000" algn="bl" rotWithShape="0">
              <a:srgbClr val="10294A">
                <a:alpha val="12000"/>
              </a:srgbClr>
            </a:outerShdw>
          </a:effectLst>
        </p:spPr>
        <p:txBody>
          <a:bodyPr/>
          <a:lstStyle/>
          <a:p>
            <a:endParaRPr lang="en-US"/>
          </a:p>
        </p:txBody>
      </p:sp>
      <p:sp>
        <p:nvSpPr>
          <p:cNvPr id="19" name="Shape 15"/>
          <p:cNvSpPr/>
          <p:nvPr/>
        </p:nvSpPr>
        <p:spPr>
          <a:xfrm>
            <a:off x="8732520" y="1965960"/>
            <a:ext cx="548640" cy="548640"/>
          </a:xfrm>
          <a:prstGeom prst="ellipse">
            <a:avLst/>
          </a:prstGeom>
          <a:solidFill>
            <a:srgbClr val="0E2247"/>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8864194" y="2097634"/>
            <a:ext cx="285293" cy="285293"/>
          </a:xfrm>
          <a:prstGeom prst="rect">
            <a:avLst/>
          </a:prstGeom>
        </p:spPr>
      </p:pic>
      <p:sp>
        <p:nvSpPr>
          <p:cNvPr id="21" name="Text 16"/>
          <p:cNvSpPr/>
          <p:nvPr/>
        </p:nvSpPr>
        <p:spPr>
          <a:xfrm>
            <a:off x="9418320" y="2011680"/>
            <a:ext cx="2286000" cy="457200"/>
          </a:xfrm>
          <a:prstGeom prst="rect">
            <a:avLst/>
          </a:prstGeom>
          <a:noFill/>
          <a:ln/>
        </p:spPr>
        <p:txBody>
          <a:bodyPr wrap="square" lIns="0" tIns="0" rIns="0" bIns="0" rtlCol="0" anchor="ctr"/>
          <a:lstStyle/>
          <a:p>
            <a:pPr marL="0" indent="0">
              <a:buNone/>
            </a:pPr>
            <a:r>
              <a:rPr lang="en-US" sz="1800" b="1" dirty="0">
                <a:solidFill>
                  <a:srgbClr val="FFFFFF"/>
                </a:solidFill>
                <a:latin typeface="Bookman Old Style" pitchFamily="34" charset="0"/>
                <a:ea typeface="Bookman Old Style" pitchFamily="34" charset="-122"/>
                <a:cs typeface="Bookman Old Style" pitchFamily="34" charset="-120"/>
              </a:rPr>
              <a:t>3 · Score</a:t>
            </a:r>
            <a:endParaRPr lang="en-US" sz="1800" dirty="0"/>
          </a:p>
        </p:txBody>
      </p:sp>
      <p:sp>
        <p:nvSpPr>
          <p:cNvPr id="22" name="Text 17"/>
          <p:cNvSpPr/>
          <p:nvPr/>
        </p:nvSpPr>
        <p:spPr>
          <a:xfrm>
            <a:off x="8732520" y="2651760"/>
            <a:ext cx="2834640" cy="274320"/>
          </a:xfrm>
          <a:prstGeom prst="rect">
            <a:avLst/>
          </a:prstGeom>
          <a:noFill/>
          <a:ln/>
        </p:spPr>
        <p:txBody>
          <a:bodyPr wrap="square" lIns="0" tIns="0" rIns="0" bIns="0" rtlCol="0" anchor="ctr"/>
          <a:lstStyle/>
          <a:p>
            <a:pPr marL="0" indent="0">
              <a:buNone/>
            </a:pPr>
            <a:r>
              <a:rPr lang="en-US" sz="1050" dirty="0">
                <a:solidFill>
                  <a:srgbClr val="5B9BD5"/>
                </a:solidFill>
                <a:latin typeface="Courier New" pitchFamily="34" charset="0"/>
                <a:ea typeface="Courier New" pitchFamily="34" charset="-122"/>
                <a:cs typeface="Courier New" pitchFamily="34" charset="-120"/>
              </a:rPr>
              <a:t>generate_ai_outputs.js</a:t>
            </a:r>
            <a:endParaRPr lang="en-US" sz="1050" dirty="0"/>
          </a:p>
        </p:txBody>
      </p:sp>
      <p:sp>
        <p:nvSpPr>
          <p:cNvPr id="23" name="Text 18"/>
          <p:cNvSpPr/>
          <p:nvPr/>
        </p:nvSpPr>
        <p:spPr>
          <a:xfrm>
            <a:off x="8732520" y="2971800"/>
            <a:ext cx="2834640" cy="914400"/>
          </a:xfrm>
          <a:prstGeom prst="rect">
            <a:avLst/>
          </a:prstGeom>
          <a:noFill/>
          <a:ln/>
        </p:spPr>
        <p:txBody>
          <a:bodyPr wrap="square" lIns="0" tIns="0" rIns="0" bIns="0" rtlCol="0" anchor="ctr"/>
          <a:lstStyle/>
          <a:p>
            <a:pPr marL="0" indent="0">
              <a:lnSpc>
                <a:spcPts val="1700"/>
              </a:lnSpc>
              <a:buNone/>
            </a:pPr>
            <a:r>
              <a:rPr lang="en-US" sz="1200" dirty="0">
                <a:solidFill>
                  <a:srgbClr val="D6E4F2"/>
                </a:solidFill>
                <a:latin typeface="Calibri" pitchFamily="34" charset="0"/>
                <a:ea typeface="Calibri" pitchFamily="34" charset="-122"/>
                <a:cs typeface="Calibri" pitchFamily="34" charset="-120"/>
              </a:rPr>
              <a:t>The same engine functions the live service calls — one implementation, no second copy.</a:t>
            </a:r>
            <a:endParaRPr lang="en-US" sz="1200" dirty="0"/>
          </a:p>
        </p:txBody>
      </p:sp>
      <p:sp>
        <p:nvSpPr>
          <p:cNvPr id="24" name="Text 19"/>
          <p:cNvSpPr/>
          <p:nvPr/>
        </p:nvSpPr>
        <p:spPr>
          <a:xfrm>
            <a:off x="685800" y="4114800"/>
            <a:ext cx="10058400" cy="320040"/>
          </a:xfrm>
          <a:prstGeom prst="rect">
            <a:avLst/>
          </a:prstGeom>
          <a:noFill/>
          <a:ln/>
        </p:spPr>
        <p:txBody>
          <a:bodyPr wrap="square" lIns="0" tIns="0" rIns="0" bIns="0" rtlCol="0" anchor="ctr"/>
          <a:lstStyle/>
          <a:p>
            <a:pPr marL="0" indent="0">
              <a:buNone/>
            </a:pPr>
            <a:r>
              <a:rPr lang="en-US" sz="1300" b="1" kern="0" spc="100" dirty="0">
                <a:solidFill>
                  <a:srgbClr val="5B9BD5"/>
                </a:solidFill>
                <a:latin typeface="Calibri" pitchFamily="34" charset="0"/>
                <a:ea typeface="Calibri" pitchFamily="34" charset="-122"/>
                <a:cs typeface="Calibri" pitchFamily="34" charset="-120"/>
              </a:rPr>
              <a:t>Five layers, each depending only on the one below</a:t>
            </a:r>
            <a:endParaRPr lang="en-US" sz="1300" dirty="0"/>
          </a:p>
        </p:txBody>
      </p:sp>
      <p:sp>
        <p:nvSpPr>
          <p:cNvPr id="201" name="Shape 202"/>
          <p:cNvSpPr/>
          <p:nvPr/>
        </p:nvSpPr>
        <p:spPr>
          <a:xfrm>
            <a:off x="685800" y="4489704"/>
            <a:ext cx="10835640" cy="329184"/>
          </a:xfrm>
          <a:prstGeom prst="roundRect">
            <a:avLst>
              <a:gd name="adj" fmla="val 15385"/>
            </a:avLst>
          </a:prstGeom>
          <a:solidFill>
            <a:srgbClr val="1E578D">
              <a:alpha val="28000"/>
            </a:srgbClr>
          </a:solidFill>
          <a:ln w="9525">
            <a:solidFill>
              <a:srgbClr val="1E578D">
                <a:alpha val="50000"/>
              </a:srgbClr>
            </a:solidFill>
            <a:prstDash val="solid"/>
          </a:ln>
        </p:spPr>
        <p:txBody>
          <a:bodyPr/>
          <a:lstStyle/>
          <a:p>
            <a:endParaRPr lang="en-US"/>
          </a:p>
        </p:txBody>
      </p:sp>
      <p:sp>
        <p:nvSpPr>
          <p:cNvPr id="203" name="Text 204"/>
          <p:cNvSpPr/>
          <p:nvPr/>
        </p:nvSpPr>
        <p:spPr>
          <a:xfrm>
            <a:off x="914400" y="4489704"/>
            <a:ext cx="2377440"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Presentation</a:t>
            </a:r>
            <a:endParaRPr lang="en-US" sz="1300" dirty="0"/>
          </a:p>
        </p:txBody>
      </p:sp>
      <p:sp>
        <p:nvSpPr>
          <p:cNvPr id="205" name="Text 206"/>
          <p:cNvSpPr/>
          <p:nvPr/>
        </p:nvSpPr>
        <p:spPr>
          <a:xfrm>
            <a:off x="3383280" y="4489704"/>
            <a:ext cx="7955280" cy="329184"/>
          </a:xfrm>
          <a:prstGeom prst="rect">
            <a:avLst/>
          </a:prstGeom>
          <a:noFill/>
          <a:ln/>
        </p:spPr>
        <p:txBody>
          <a:bodyPr wrap="square" lIns="0" tIns="0" rIns="0" bIns="0" rtlCol="0" anchor="ctr"/>
          <a:lstStyle/>
          <a:p>
            <a:pPr marL="0" indent="0">
              <a:buNone/>
            </a:pPr>
            <a:r>
              <a:rPr lang="en-US" sz="1150" b="0" dirty="0">
                <a:solidFill>
                  <a:srgbClr val="D6E4F2"/>
                </a:solidFill>
                <a:latin typeface="Calibri" pitchFamily="34" charset="0"/>
                <a:ea typeface="Calibri" pitchFamily="34" charset="-122"/>
                <a:cs typeface="Calibri" pitchFamily="34" charset="-120"/>
              </a:rPr>
              <a:t>Command Centre · Workbench · API Explorer · 8 Fiori elements apps</a:t>
            </a:r>
            <a:endParaRPr lang="en-US" sz="1150" dirty="0"/>
          </a:p>
        </p:txBody>
      </p:sp>
      <p:sp>
        <p:nvSpPr>
          <p:cNvPr id="207" name="Shape 208"/>
          <p:cNvSpPr/>
          <p:nvPr/>
        </p:nvSpPr>
        <p:spPr>
          <a:xfrm>
            <a:off x="685800" y="4855704"/>
            <a:ext cx="10835640" cy="329184"/>
          </a:xfrm>
          <a:prstGeom prst="roundRect">
            <a:avLst>
              <a:gd name="adj" fmla="val 15385"/>
            </a:avLst>
          </a:prstGeom>
          <a:solidFill>
            <a:srgbClr val="1E578D">
              <a:alpha val="28000"/>
            </a:srgbClr>
          </a:solidFill>
          <a:ln w="9525">
            <a:solidFill>
              <a:srgbClr val="1E578D">
                <a:alpha val="50000"/>
              </a:srgbClr>
            </a:solidFill>
            <a:prstDash val="solid"/>
          </a:ln>
        </p:spPr>
        <p:txBody>
          <a:bodyPr/>
          <a:lstStyle/>
          <a:p>
            <a:endParaRPr lang="en-US"/>
          </a:p>
        </p:txBody>
      </p:sp>
      <p:sp>
        <p:nvSpPr>
          <p:cNvPr id="209" name="Text 210"/>
          <p:cNvSpPr/>
          <p:nvPr/>
        </p:nvSpPr>
        <p:spPr>
          <a:xfrm>
            <a:off x="914400" y="4855704"/>
            <a:ext cx="2377440"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Access</a:t>
            </a:r>
            <a:endParaRPr lang="en-US" sz="1300" dirty="0"/>
          </a:p>
        </p:txBody>
      </p:sp>
      <p:sp>
        <p:nvSpPr>
          <p:cNvPr id="211" name="Text 212"/>
          <p:cNvSpPr/>
          <p:nvPr/>
        </p:nvSpPr>
        <p:spPr>
          <a:xfrm>
            <a:off x="3383280" y="4855704"/>
            <a:ext cx="7955280" cy="329184"/>
          </a:xfrm>
          <a:prstGeom prst="rect">
            <a:avLst/>
          </a:prstGeom>
          <a:noFill/>
          <a:ln/>
        </p:spPr>
        <p:txBody>
          <a:bodyPr wrap="square" lIns="0" tIns="0" rIns="0" bIns="0" rtlCol="0" anchor="ctr"/>
          <a:lstStyle/>
          <a:p>
            <a:pPr marL="0" indent="0">
              <a:buNone/>
            </a:pPr>
            <a:r>
              <a:rPr lang="en-US" sz="1150" b="0" dirty="0">
                <a:solidFill>
                  <a:srgbClr val="D6E4F2"/>
                </a:solidFill>
                <a:latin typeface="Calibri" pitchFamily="34" charset="0"/>
                <a:ea typeface="Calibri" pitchFamily="34" charset="-122"/>
                <a:cs typeface="Calibri" pitchFamily="34" charset="-120"/>
              </a:rPr>
              <a:t>SAP Application Router · XSUAA · 3 role collections, scoped by store attribute</a:t>
            </a:r>
            <a:endParaRPr lang="en-US" sz="1150" dirty="0"/>
          </a:p>
        </p:txBody>
      </p:sp>
      <p:sp>
        <p:nvSpPr>
          <p:cNvPr id="213" name="Shape 214"/>
          <p:cNvSpPr/>
          <p:nvPr/>
        </p:nvSpPr>
        <p:spPr>
          <a:xfrm>
            <a:off x="685800" y="5221704"/>
            <a:ext cx="10835640" cy="329184"/>
          </a:xfrm>
          <a:prstGeom prst="roundRect">
            <a:avLst>
              <a:gd name="adj" fmla="val 15385"/>
            </a:avLst>
          </a:prstGeom>
          <a:solidFill>
            <a:srgbClr val="1E578D">
              <a:alpha val="28000"/>
            </a:srgbClr>
          </a:solidFill>
          <a:ln w="9525">
            <a:solidFill>
              <a:srgbClr val="1E578D">
                <a:alpha val="50000"/>
              </a:srgbClr>
            </a:solidFill>
            <a:prstDash val="solid"/>
          </a:ln>
        </p:spPr>
        <p:txBody>
          <a:bodyPr/>
          <a:lstStyle/>
          <a:p>
            <a:endParaRPr lang="en-US"/>
          </a:p>
        </p:txBody>
      </p:sp>
      <p:sp>
        <p:nvSpPr>
          <p:cNvPr id="215" name="Text 216"/>
          <p:cNvSpPr/>
          <p:nvPr/>
        </p:nvSpPr>
        <p:spPr>
          <a:xfrm>
            <a:off x="914400" y="5221704"/>
            <a:ext cx="2377440"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Service</a:t>
            </a:r>
            <a:endParaRPr lang="en-US" sz="1300" dirty="0"/>
          </a:p>
        </p:txBody>
      </p:sp>
      <p:sp>
        <p:nvSpPr>
          <p:cNvPr id="217" name="Text 218"/>
          <p:cNvSpPr/>
          <p:nvPr/>
        </p:nvSpPr>
        <p:spPr>
          <a:xfrm>
            <a:off x="3383280" y="5221704"/>
            <a:ext cx="7955280" cy="329184"/>
          </a:xfrm>
          <a:prstGeom prst="rect">
            <a:avLst/>
          </a:prstGeom>
          <a:noFill/>
          <a:ln/>
        </p:spPr>
        <p:txBody>
          <a:bodyPr wrap="square" lIns="0" tIns="0" rIns="0" bIns="0" rtlCol="0" anchor="ctr"/>
          <a:lstStyle/>
          <a:p>
            <a:pPr marL="0" indent="0">
              <a:buNone/>
            </a:pPr>
            <a:r>
              <a:rPr lang="en-US" sz="1150" b="0" dirty="0">
                <a:solidFill>
                  <a:srgbClr val="D6E4F2"/>
                </a:solidFill>
                <a:latin typeface="Calibri" pitchFamily="34" charset="0"/>
                <a:ea typeface="Calibri" pitchFamily="34" charset="-122"/>
                <a:cs typeface="Calibri" pitchFamily="34" charset="-120"/>
              </a:rPr>
              <a:t>Two OData V4 services · projections, aggregate views, 16 actions</a:t>
            </a:r>
            <a:endParaRPr lang="en-US" sz="1150" dirty="0"/>
          </a:p>
        </p:txBody>
      </p:sp>
      <p:sp>
        <p:nvSpPr>
          <p:cNvPr id="219" name="Shape 220"/>
          <p:cNvSpPr/>
          <p:nvPr/>
        </p:nvSpPr>
        <p:spPr>
          <a:xfrm>
            <a:off x="685800" y="5587704"/>
            <a:ext cx="10835640" cy="329184"/>
          </a:xfrm>
          <a:prstGeom prst="roundRect">
            <a:avLst>
              <a:gd name="adj" fmla="val 15385"/>
            </a:avLst>
          </a:prstGeom>
          <a:solidFill>
            <a:srgbClr val="1E578D">
              <a:alpha val="28000"/>
            </a:srgbClr>
          </a:solidFill>
          <a:ln w="9525">
            <a:solidFill>
              <a:srgbClr val="1E578D">
                <a:alpha val="50000"/>
              </a:srgbClr>
            </a:solidFill>
            <a:prstDash val="solid"/>
          </a:ln>
        </p:spPr>
        <p:txBody>
          <a:bodyPr/>
          <a:lstStyle/>
          <a:p>
            <a:endParaRPr lang="en-US"/>
          </a:p>
        </p:txBody>
      </p:sp>
      <p:sp>
        <p:nvSpPr>
          <p:cNvPr id="221" name="Text 222"/>
          <p:cNvSpPr/>
          <p:nvPr/>
        </p:nvSpPr>
        <p:spPr>
          <a:xfrm>
            <a:off x="914400" y="5587704"/>
            <a:ext cx="2377440"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Domain logic</a:t>
            </a:r>
            <a:endParaRPr lang="en-US" sz="1300" dirty="0"/>
          </a:p>
        </p:txBody>
      </p:sp>
      <p:sp>
        <p:nvSpPr>
          <p:cNvPr id="223" name="Text 224"/>
          <p:cNvSpPr/>
          <p:nvPr/>
        </p:nvSpPr>
        <p:spPr>
          <a:xfrm>
            <a:off x="3383280" y="5587704"/>
            <a:ext cx="7955280" cy="329184"/>
          </a:xfrm>
          <a:prstGeom prst="rect">
            <a:avLst/>
          </a:prstGeom>
          <a:noFill/>
          <a:ln/>
        </p:spPr>
        <p:txBody>
          <a:bodyPr wrap="square" lIns="0" tIns="0" rIns="0" bIns="0" rtlCol="0" anchor="ctr"/>
          <a:lstStyle/>
          <a:p>
            <a:pPr marL="0" indent="0">
              <a:buNone/>
            </a:pPr>
            <a:r>
              <a:rPr lang="en-US" sz="1150" b="0" dirty="0">
                <a:solidFill>
                  <a:srgbClr val="D6E4F2"/>
                </a:solidFill>
                <a:latin typeface="Calibri" pitchFamily="34" charset="0"/>
                <a:ea typeface="Calibri" pitchFamily="34" charset="-122"/>
                <a:cs typeface="Calibri" pitchFamily="34" charset="-120"/>
              </a:rPr>
              <a:t>Seven scenario engines and one ranking engine — pure functions over plain arrays</a:t>
            </a:r>
            <a:endParaRPr lang="en-US" sz="1150" dirty="0"/>
          </a:p>
        </p:txBody>
      </p:sp>
      <p:sp>
        <p:nvSpPr>
          <p:cNvPr id="225" name="Shape 226"/>
          <p:cNvSpPr/>
          <p:nvPr/>
        </p:nvSpPr>
        <p:spPr>
          <a:xfrm>
            <a:off x="685800" y="5953704"/>
            <a:ext cx="10835640" cy="329184"/>
          </a:xfrm>
          <a:prstGeom prst="roundRect">
            <a:avLst>
              <a:gd name="adj" fmla="val 15385"/>
            </a:avLst>
          </a:prstGeom>
          <a:solidFill>
            <a:srgbClr val="1E578D">
              <a:alpha val="28000"/>
            </a:srgbClr>
          </a:solidFill>
          <a:ln w="9525">
            <a:solidFill>
              <a:srgbClr val="1E578D">
                <a:alpha val="50000"/>
              </a:srgbClr>
            </a:solidFill>
            <a:prstDash val="solid"/>
          </a:ln>
        </p:spPr>
        <p:txBody>
          <a:bodyPr/>
          <a:lstStyle/>
          <a:p>
            <a:endParaRPr lang="en-US"/>
          </a:p>
        </p:txBody>
      </p:sp>
      <p:sp>
        <p:nvSpPr>
          <p:cNvPr id="227" name="Text 228"/>
          <p:cNvSpPr/>
          <p:nvPr/>
        </p:nvSpPr>
        <p:spPr>
          <a:xfrm>
            <a:off x="914400" y="5953704"/>
            <a:ext cx="2377440"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Persistence</a:t>
            </a:r>
            <a:endParaRPr lang="en-US" sz="1300" dirty="0"/>
          </a:p>
        </p:txBody>
      </p:sp>
      <p:sp>
        <p:nvSpPr>
          <p:cNvPr id="229" name="Text 230"/>
          <p:cNvSpPr/>
          <p:nvPr/>
        </p:nvSpPr>
        <p:spPr>
          <a:xfrm>
            <a:off x="3383280" y="5953704"/>
            <a:ext cx="7955280" cy="329184"/>
          </a:xfrm>
          <a:prstGeom prst="rect">
            <a:avLst/>
          </a:prstGeom>
          <a:noFill/>
          <a:ln/>
        </p:spPr>
        <p:txBody>
          <a:bodyPr wrap="square" lIns="0" tIns="0" rIns="0" bIns="0" rtlCol="0" anchor="ctr"/>
          <a:lstStyle/>
          <a:p>
            <a:pPr marL="0" indent="0">
              <a:buNone/>
            </a:pPr>
            <a:r>
              <a:rPr lang="en-US" sz="1150" b="0" dirty="0">
                <a:solidFill>
                  <a:srgbClr val="D6E4F2"/>
                </a:solidFill>
                <a:latin typeface="Calibri" pitchFamily="34" charset="0"/>
                <a:ea typeface="Calibri" pitchFamily="34" charset="-122"/>
                <a:cs typeface="Calibri" pitchFamily="34" charset="-120"/>
              </a:rPr>
              <a:t>SAP HANA Cloud in production · SQLite in development · one model, no HANA-specific SQL</a:t>
            </a:r>
            <a:endParaRPr lang="en-US" sz="1150" dirty="0"/>
          </a:p>
        </p:txBody>
      </p:sp>
      <p:sp>
        <p:nvSpPr>
          <p:cNvPr id="37" name="Text 32"/>
          <p:cNvSpPr/>
          <p:nvPr/>
        </p:nvSpPr>
        <p:spPr>
          <a:xfrm>
            <a:off x="11414455" y="6400800"/>
            <a:ext cx="457200" cy="274320"/>
          </a:xfrm>
          <a:prstGeom prst="rect">
            <a:avLst/>
          </a:prstGeom>
          <a:noFill/>
          <a:ln/>
        </p:spPr>
        <p:txBody>
          <a:bodyPr wrap="square" rtlCol="0" anchor="ctr"/>
          <a:lstStyle/>
          <a:p>
            <a:pPr marL="0" indent="0" algn="r">
              <a:buNone/>
            </a:pPr>
            <a:r>
              <a:rPr lang="en-US" sz="900" dirty="0">
                <a:solidFill>
                  <a:srgbClr val="A6B6CC"/>
                </a:solidFill>
                <a:latin typeface="Calibri" pitchFamily="34" charset="0"/>
                <a:ea typeface="Calibri" pitchFamily="34" charset="-122"/>
                <a:cs typeface="Calibri" pitchFamily="34" charset="-120"/>
              </a:rPr>
              <a:t>08</a:t>
            </a:r>
            <a:endParaRPr lang="en-US" sz="900" dirty="0"/>
          </a:p>
        </p:txBody>
      </p:sp>
      <p:pic>
        <p:nvPicPr>
          <p:cNvPr id="38" name="Image 3" descr="/home/claude/mark_white.png"/>
          <p:cNvPicPr>
            <a:picLocks noChangeAspect="1"/>
          </p:cNvPicPr>
          <p:nvPr/>
        </p:nvPicPr>
        <p:blipFill>
          <a:blip r:embed="rId6"/>
          <a:stretch>
            <a:fillRect/>
          </a:stretch>
        </p:blipFill>
        <p:spPr>
          <a:xfrm>
            <a:off x="457200" y="6355080"/>
            <a:ext cx="457200" cy="302412"/>
          </a:xfrm>
          <a:prstGeom prst="rect">
            <a:avLst/>
          </a:prstGeom>
        </p:spPr>
      </p:pic>
      <p:sp>
        <p:nvSpPr>
          <p:cNvPr id="39" name="Text 33"/>
          <p:cNvSpPr/>
          <p:nvPr/>
        </p:nvSpPr>
        <p:spPr>
          <a:xfrm>
            <a:off x="960120" y="6400800"/>
            <a:ext cx="1828800" cy="274320"/>
          </a:xfrm>
          <a:prstGeom prst="rect">
            <a:avLst/>
          </a:prstGeom>
          <a:noFill/>
          <a:ln/>
        </p:spPr>
        <p:txBody>
          <a:bodyPr wrap="square" lIns="0" tIns="0" rIns="0" bIns="0" rtlCol="0" anchor="ctr"/>
          <a:lstStyle/>
          <a:p>
            <a:pPr marL="0" indent="0">
              <a:buNone/>
            </a:pPr>
            <a:r>
              <a:rPr lang="en-US" sz="850" b="1" kern="0" spc="200" dirty="0">
                <a:solidFill>
                  <a:srgbClr val="A6B6CC"/>
                </a:solidFill>
                <a:latin typeface="Calibri" pitchFamily="34" charset="0"/>
                <a:ea typeface="Calibri" pitchFamily="34" charset="-122"/>
                <a:cs typeface="Calibri" pitchFamily="34" charset="-120"/>
              </a:rPr>
              <a:t>MSITEK</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7FB"/>
        </a:solidFill>
        <a:effectLst/>
      </p:bgPr>
    </p:bg>
    <p:spTree>
      <p:nvGrpSpPr>
        <p:cNvPr id="1" name=""/>
        <p:cNvGrpSpPr/>
        <p:nvPr/>
      </p:nvGrpSpPr>
      <p:grpSpPr>
        <a:xfrm>
          <a:off x="0" y="0"/>
          <a:ext cx="0" cy="0"/>
          <a:chOff x="0" y="0"/>
          <a:chExt cx="0" cy="0"/>
        </a:xfrm>
      </p:grpSpPr>
      <p:sp>
        <p:nvSpPr>
          <p:cNvPr id="2" name="Text 0"/>
          <p:cNvSpPr/>
          <p:nvPr/>
        </p:nvSpPr>
        <p:spPr>
          <a:xfrm>
            <a:off x="685800" y="457200"/>
            <a:ext cx="7315200" cy="274320"/>
          </a:xfrm>
          <a:prstGeom prst="rect">
            <a:avLst/>
          </a:prstGeom>
          <a:noFill/>
          <a:ln/>
        </p:spPr>
        <p:txBody>
          <a:bodyPr wrap="square" lIns="0" tIns="0" rIns="0" bIns="0" rtlCol="0" anchor="ctr"/>
          <a:lstStyle/>
          <a:p>
            <a:pPr marL="0" indent="0">
              <a:buNone/>
            </a:pPr>
            <a:r>
              <a:rPr lang="en-US" sz="1200" b="1" kern="0" spc="300" dirty="0">
                <a:solidFill>
                  <a:srgbClr val="1E578D"/>
                </a:solidFill>
                <a:latin typeface="Calibri" pitchFamily="34" charset="0"/>
                <a:ea typeface="Calibri" pitchFamily="34" charset="-122"/>
                <a:cs typeface="Calibri" pitchFamily="34" charset="-120"/>
              </a:rPr>
              <a:t>THE ENGINES</a:t>
            </a:r>
            <a:endParaRPr lang="en-US" sz="1200" dirty="0"/>
          </a:p>
        </p:txBody>
      </p:sp>
      <p:sp>
        <p:nvSpPr>
          <p:cNvPr id="3" name="Text 1"/>
          <p:cNvSpPr/>
          <p:nvPr/>
        </p:nvSpPr>
        <p:spPr>
          <a:xfrm>
            <a:off x="658368" y="749808"/>
            <a:ext cx="10789920" cy="548640"/>
          </a:xfrm>
          <a:prstGeom prst="rect">
            <a:avLst/>
          </a:prstGeom>
          <a:noFill/>
          <a:ln/>
        </p:spPr>
        <p:txBody>
          <a:bodyPr wrap="square" lIns="0" tIns="0" rIns="0" bIns="0" rtlCol="0" anchor="ctr"/>
          <a:lstStyle/>
          <a:p>
            <a:pPr marL="0" indent="0">
              <a:buNone/>
            </a:pPr>
            <a:r>
              <a:rPr lang="en-US" sz="2800" b="1" dirty="0">
                <a:solidFill>
                  <a:srgbClr val="10294A"/>
                </a:solidFill>
                <a:latin typeface="Bookman Old Style" pitchFamily="34" charset="0"/>
                <a:ea typeface="Bookman Old Style" pitchFamily="34" charset="-122"/>
                <a:cs typeface="Bookman Old Style" pitchFamily="34" charset="-120"/>
              </a:rPr>
              <a:t>Seven engines feeding one ranked queue</a:t>
            </a:r>
            <a:endParaRPr lang="en-US" sz="2800" dirty="0"/>
          </a:p>
        </p:txBody>
      </p:sp>
      <p:sp>
        <p:nvSpPr>
          <p:cNvPr id="4" name="Shape 2"/>
          <p:cNvSpPr/>
          <p:nvPr/>
        </p:nvSpPr>
        <p:spPr>
          <a:xfrm>
            <a:off x="685800" y="1554480"/>
            <a:ext cx="2670048" cy="2240280"/>
          </a:xfrm>
          <a:prstGeom prst="roundRect">
            <a:avLst>
              <a:gd name="adj" fmla="val 3673"/>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5" name="Shape 3"/>
          <p:cNvSpPr/>
          <p:nvPr/>
        </p:nvSpPr>
        <p:spPr>
          <a:xfrm>
            <a:off x="923544" y="1810512"/>
            <a:ext cx="512064" cy="512064"/>
          </a:xfrm>
          <a:prstGeom prst="ellipse">
            <a:avLst/>
          </a:prstGeom>
          <a:solidFill>
            <a:srgbClr val="EEF3FA"/>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46439" y="1933407"/>
            <a:ext cx="266273" cy="266273"/>
          </a:xfrm>
          <a:prstGeom prst="rect">
            <a:avLst/>
          </a:prstGeom>
        </p:spPr>
      </p:pic>
      <p:sp>
        <p:nvSpPr>
          <p:cNvPr id="7" name="Text 4"/>
          <p:cNvSpPr/>
          <p:nvPr/>
        </p:nvSpPr>
        <p:spPr>
          <a:xfrm>
            <a:off x="923544" y="2414016"/>
            <a:ext cx="2212848" cy="320040"/>
          </a:xfrm>
          <a:prstGeom prst="rect">
            <a:avLst/>
          </a:prstGeom>
          <a:noFill/>
          <a:ln/>
        </p:spPr>
        <p:txBody>
          <a:bodyPr wrap="square" lIns="0" tIns="0" rIns="0" bIns="0" rtlCol="0" anchor="ctr"/>
          <a:lstStyle/>
          <a:p>
            <a:pPr marL="0" indent="0">
              <a:buNone/>
            </a:pPr>
            <a:r>
              <a:rPr lang="en-US" sz="1350" b="1" dirty="0">
                <a:solidFill>
                  <a:srgbClr val="10294A"/>
                </a:solidFill>
                <a:latin typeface="Calibri" pitchFamily="34" charset="0"/>
                <a:ea typeface="Calibri" pitchFamily="34" charset="-122"/>
                <a:cs typeface="Calibri" pitchFamily="34" charset="-120"/>
              </a:rPr>
              <a:t>Checkout Integrity</a:t>
            </a:r>
            <a:endParaRPr lang="en-US" sz="1350" dirty="0"/>
          </a:p>
        </p:txBody>
      </p:sp>
      <p:sp>
        <p:nvSpPr>
          <p:cNvPr id="8" name="Text 5"/>
          <p:cNvSpPr/>
          <p:nvPr/>
        </p:nvSpPr>
        <p:spPr>
          <a:xfrm>
            <a:off x="923544" y="2706624"/>
            <a:ext cx="2212848" cy="274320"/>
          </a:xfrm>
          <a:prstGeom prst="rect">
            <a:avLst/>
          </a:prstGeom>
          <a:noFill/>
          <a:ln/>
        </p:spPr>
        <p:txBody>
          <a:bodyPr wrap="square" lIns="0" tIns="0" rIns="0" bIns="0" rtlCol="0" anchor="ctr"/>
          <a:lstStyle/>
          <a:p>
            <a:pPr marL="0" indent="0">
              <a:buNone/>
            </a:pPr>
            <a:r>
              <a:rPr lang="en-US" sz="1050" b="1" dirty="0">
                <a:solidFill>
                  <a:srgbClr val="DE0024"/>
                </a:solidFill>
                <a:latin typeface="Calibri" pitchFamily="34" charset="0"/>
                <a:ea typeface="Calibri" pitchFamily="34" charset="-122"/>
                <a:cs typeface="Calibri" pitchFamily="34" charset="-120"/>
              </a:rPr>
              <a:t>676 alerts · €17,226</a:t>
            </a:r>
            <a:endParaRPr lang="en-US" sz="1050" dirty="0"/>
          </a:p>
        </p:txBody>
      </p:sp>
      <p:sp>
        <p:nvSpPr>
          <p:cNvPr id="9" name="Text 6"/>
          <p:cNvSpPr/>
          <p:nvPr/>
        </p:nvSpPr>
        <p:spPr>
          <a:xfrm>
            <a:off x="923544" y="2999232"/>
            <a:ext cx="2212848" cy="731520"/>
          </a:xfrm>
          <a:prstGeom prst="rect">
            <a:avLst/>
          </a:prstGeom>
          <a:noFill/>
          <a:ln/>
        </p:spPr>
        <p:txBody>
          <a:bodyPr wrap="square" lIns="0" tIns="0" rIns="0" bIns="0" rtlCol="0" anchor="ctr"/>
          <a:lstStyle/>
          <a:p>
            <a:pPr marL="0" indent="0">
              <a:lnSpc>
                <a:spcPts val="1300"/>
              </a:lnSpc>
              <a:buNone/>
            </a:pPr>
            <a:r>
              <a:rPr lang="en-US" sz="1000" dirty="0">
                <a:solidFill>
                  <a:srgbClr val="54657E"/>
                </a:solidFill>
                <a:latin typeface="Calibri" pitchFamily="34" charset="0"/>
                <a:ea typeface="Calibri" pitchFamily="34" charset="-122"/>
                <a:cs typeface="Calibri" pitchFamily="34" charset="-120"/>
              </a:rPr>
              <a:t>Four failure patterns on the unstaffed gates, each scored against the article’s own baseline.</a:t>
            </a:r>
            <a:endParaRPr lang="en-US" sz="1000" dirty="0"/>
          </a:p>
        </p:txBody>
      </p:sp>
      <p:sp>
        <p:nvSpPr>
          <p:cNvPr id="10" name="Shape 7"/>
          <p:cNvSpPr/>
          <p:nvPr/>
        </p:nvSpPr>
        <p:spPr>
          <a:xfrm>
            <a:off x="3529584" y="1554480"/>
            <a:ext cx="2670048" cy="2240280"/>
          </a:xfrm>
          <a:prstGeom prst="roundRect">
            <a:avLst>
              <a:gd name="adj" fmla="val 3673"/>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11" name="Shape 8"/>
          <p:cNvSpPr/>
          <p:nvPr/>
        </p:nvSpPr>
        <p:spPr>
          <a:xfrm>
            <a:off x="3767328" y="1810512"/>
            <a:ext cx="512064" cy="512064"/>
          </a:xfrm>
          <a:prstGeom prst="ellipse">
            <a:avLst/>
          </a:prstGeom>
          <a:solidFill>
            <a:srgbClr val="EEF3FA"/>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3890223" y="1933407"/>
            <a:ext cx="266273" cy="266273"/>
          </a:xfrm>
          <a:prstGeom prst="rect">
            <a:avLst/>
          </a:prstGeom>
        </p:spPr>
      </p:pic>
      <p:sp>
        <p:nvSpPr>
          <p:cNvPr id="13" name="Text 9"/>
          <p:cNvSpPr/>
          <p:nvPr/>
        </p:nvSpPr>
        <p:spPr>
          <a:xfrm>
            <a:off x="3767328" y="2414016"/>
            <a:ext cx="2212848" cy="320040"/>
          </a:xfrm>
          <a:prstGeom prst="rect">
            <a:avLst/>
          </a:prstGeom>
          <a:noFill/>
          <a:ln/>
        </p:spPr>
        <p:txBody>
          <a:bodyPr wrap="square" lIns="0" tIns="0" rIns="0" bIns="0" rtlCol="0" anchor="ctr"/>
          <a:lstStyle/>
          <a:p>
            <a:pPr marL="0" indent="0">
              <a:buNone/>
            </a:pPr>
            <a:r>
              <a:rPr lang="en-US" sz="1350" b="1" dirty="0">
                <a:solidFill>
                  <a:srgbClr val="10294A"/>
                </a:solidFill>
                <a:latin typeface="Calibri" pitchFamily="34" charset="0"/>
                <a:ea typeface="Calibri" pitchFamily="34" charset="-122"/>
                <a:cs typeface="Calibri" pitchFamily="34" charset="-120"/>
              </a:rPr>
              <a:t>Replenishment</a:t>
            </a:r>
            <a:endParaRPr lang="en-US" sz="1350" dirty="0"/>
          </a:p>
        </p:txBody>
      </p:sp>
      <p:sp>
        <p:nvSpPr>
          <p:cNvPr id="14" name="Text 10"/>
          <p:cNvSpPr/>
          <p:nvPr/>
        </p:nvSpPr>
        <p:spPr>
          <a:xfrm>
            <a:off x="3767328" y="2706624"/>
            <a:ext cx="2212848" cy="274320"/>
          </a:xfrm>
          <a:prstGeom prst="rect">
            <a:avLst/>
          </a:prstGeom>
          <a:noFill/>
          <a:ln/>
        </p:spPr>
        <p:txBody>
          <a:bodyPr wrap="square" lIns="0" tIns="0" rIns="0" bIns="0" rtlCol="0" anchor="ctr"/>
          <a:lstStyle/>
          <a:p>
            <a:pPr marL="0" indent="0">
              <a:buNone/>
            </a:pPr>
            <a:r>
              <a:rPr lang="en-US" sz="1050" b="1" dirty="0">
                <a:solidFill>
                  <a:srgbClr val="1E578D"/>
                </a:solidFill>
                <a:latin typeface="Calibri" pitchFamily="34" charset="0"/>
                <a:ea typeface="Calibri" pitchFamily="34" charset="-122"/>
                <a:cs typeface="Calibri" pitchFamily="34" charset="-120"/>
              </a:rPr>
              <a:t>198 tasks · €351 exposure</a:t>
            </a:r>
            <a:endParaRPr lang="en-US" sz="1050" dirty="0"/>
          </a:p>
        </p:txBody>
      </p:sp>
      <p:sp>
        <p:nvSpPr>
          <p:cNvPr id="15" name="Text 11"/>
          <p:cNvSpPr/>
          <p:nvPr/>
        </p:nvSpPr>
        <p:spPr>
          <a:xfrm>
            <a:off x="3767328" y="2999232"/>
            <a:ext cx="2212848" cy="731520"/>
          </a:xfrm>
          <a:prstGeom prst="rect">
            <a:avLst/>
          </a:prstGeom>
          <a:noFill/>
          <a:ln/>
        </p:spPr>
        <p:txBody>
          <a:bodyPr wrap="square" lIns="0" tIns="0" rIns="0" bIns="0" rtlCol="0" anchor="ctr"/>
          <a:lstStyle/>
          <a:p>
            <a:pPr marL="0" indent="0">
              <a:lnSpc>
                <a:spcPts val="1300"/>
              </a:lnSpc>
              <a:buNone/>
            </a:pPr>
            <a:r>
              <a:rPr lang="en-US" sz="1000" dirty="0">
                <a:solidFill>
                  <a:srgbClr val="54657E"/>
                </a:solidFill>
                <a:latin typeface="Calibri" pitchFamily="34" charset="0"/>
                <a:ea typeface="Calibri" pitchFamily="34" charset="-122"/>
                <a:cs typeface="Calibri" pitchFamily="34" charset="-120"/>
              </a:rPr>
              <a:t>Reorder sized from forecast over lead time; urgency by hours of cover, not order size.</a:t>
            </a:r>
            <a:endParaRPr lang="en-US" sz="1000" dirty="0"/>
          </a:p>
        </p:txBody>
      </p:sp>
      <p:sp>
        <p:nvSpPr>
          <p:cNvPr id="16" name="Shape 12"/>
          <p:cNvSpPr/>
          <p:nvPr/>
        </p:nvSpPr>
        <p:spPr>
          <a:xfrm>
            <a:off x="6373368" y="1554480"/>
            <a:ext cx="2670048" cy="2240280"/>
          </a:xfrm>
          <a:prstGeom prst="roundRect">
            <a:avLst>
              <a:gd name="adj" fmla="val 3673"/>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17" name="Shape 13"/>
          <p:cNvSpPr/>
          <p:nvPr/>
        </p:nvSpPr>
        <p:spPr>
          <a:xfrm>
            <a:off x="6611112" y="1810512"/>
            <a:ext cx="512064" cy="512064"/>
          </a:xfrm>
          <a:prstGeom prst="ellipse">
            <a:avLst/>
          </a:prstGeom>
          <a:solidFill>
            <a:srgbClr val="EEF3FA"/>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6734007" y="1933407"/>
            <a:ext cx="266273" cy="266273"/>
          </a:xfrm>
          <a:prstGeom prst="rect">
            <a:avLst/>
          </a:prstGeom>
        </p:spPr>
      </p:pic>
      <p:sp>
        <p:nvSpPr>
          <p:cNvPr id="19" name="Text 14"/>
          <p:cNvSpPr/>
          <p:nvPr/>
        </p:nvSpPr>
        <p:spPr>
          <a:xfrm>
            <a:off x="6611112" y="2414016"/>
            <a:ext cx="2212848" cy="320040"/>
          </a:xfrm>
          <a:prstGeom prst="rect">
            <a:avLst/>
          </a:prstGeom>
          <a:noFill/>
          <a:ln/>
        </p:spPr>
        <p:txBody>
          <a:bodyPr wrap="square" lIns="0" tIns="0" rIns="0" bIns="0" rtlCol="0" anchor="ctr"/>
          <a:lstStyle/>
          <a:p>
            <a:pPr marL="0" indent="0">
              <a:buNone/>
            </a:pPr>
            <a:r>
              <a:rPr lang="en-US" sz="1350" b="1" dirty="0">
                <a:solidFill>
                  <a:srgbClr val="10294A"/>
                </a:solidFill>
                <a:latin typeface="Calibri" pitchFamily="34" charset="0"/>
                <a:ea typeface="Calibri" pitchFamily="34" charset="-122"/>
                <a:cs typeface="Calibri" pitchFamily="34" charset="-120"/>
              </a:rPr>
              <a:t>Fresh Waste</a:t>
            </a:r>
            <a:endParaRPr lang="en-US" sz="1350" dirty="0"/>
          </a:p>
        </p:txBody>
      </p:sp>
      <p:sp>
        <p:nvSpPr>
          <p:cNvPr id="20" name="Text 15"/>
          <p:cNvSpPr/>
          <p:nvPr/>
        </p:nvSpPr>
        <p:spPr>
          <a:xfrm>
            <a:off x="6611112" y="2706624"/>
            <a:ext cx="2212848" cy="274320"/>
          </a:xfrm>
          <a:prstGeom prst="rect">
            <a:avLst/>
          </a:prstGeom>
          <a:noFill/>
          <a:ln/>
        </p:spPr>
        <p:txBody>
          <a:bodyPr wrap="square" lIns="0" tIns="0" rIns="0" bIns="0" rtlCol="0" anchor="ctr"/>
          <a:lstStyle/>
          <a:p>
            <a:pPr marL="0" indent="0">
              <a:buNone/>
            </a:pPr>
            <a:r>
              <a:rPr lang="en-US" sz="1050" b="1" dirty="0">
                <a:solidFill>
                  <a:srgbClr val="DE0024"/>
                </a:solidFill>
                <a:latin typeface="Calibri" pitchFamily="34" charset="0"/>
                <a:ea typeface="Calibri" pitchFamily="34" charset="-122"/>
                <a:cs typeface="Calibri" pitchFamily="34" charset="-120"/>
              </a:rPr>
              <a:t>146 markdowns · €126 saved</a:t>
            </a:r>
            <a:endParaRPr lang="en-US" sz="1050" dirty="0"/>
          </a:p>
        </p:txBody>
      </p:sp>
      <p:sp>
        <p:nvSpPr>
          <p:cNvPr id="21" name="Text 16"/>
          <p:cNvSpPr/>
          <p:nvPr/>
        </p:nvSpPr>
        <p:spPr>
          <a:xfrm>
            <a:off x="6611112" y="2999232"/>
            <a:ext cx="2212848" cy="731520"/>
          </a:xfrm>
          <a:prstGeom prst="rect">
            <a:avLst/>
          </a:prstGeom>
          <a:noFill/>
          <a:ln/>
        </p:spPr>
        <p:txBody>
          <a:bodyPr wrap="square" lIns="0" tIns="0" rIns="0" bIns="0" rtlCol="0" anchor="ctr"/>
          <a:lstStyle/>
          <a:p>
            <a:pPr marL="0" indent="0">
              <a:lnSpc>
                <a:spcPts val="1300"/>
              </a:lnSpc>
              <a:buNone/>
            </a:pPr>
            <a:r>
              <a:rPr lang="en-US" sz="1000" dirty="0">
                <a:solidFill>
                  <a:srgbClr val="54657E"/>
                </a:solidFill>
                <a:latin typeface="Calibri" pitchFamily="34" charset="0"/>
                <a:ea typeface="Calibri" pitchFamily="34" charset="-122"/>
                <a:cs typeface="Calibri" pitchFamily="34" charset="-120"/>
              </a:rPr>
              <a:t>Sweeps discount depths and keeps the one that beats writing the item off.</a:t>
            </a:r>
            <a:endParaRPr lang="en-US" sz="1000" dirty="0"/>
          </a:p>
        </p:txBody>
      </p:sp>
      <p:sp>
        <p:nvSpPr>
          <p:cNvPr id="22" name="Shape 17"/>
          <p:cNvSpPr/>
          <p:nvPr/>
        </p:nvSpPr>
        <p:spPr>
          <a:xfrm>
            <a:off x="9217152" y="1554480"/>
            <a:ext cx="2670048" cy="2240280"/>
          </a:xfrm>
          <a:prstGeom prst="roundRect">
            <a:avLst>
              <a:gd name="adj" fmla="val 3673"/>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23" name="Shape 18"/>
          <p:cNvSpPr/>
          <p:nvPr/>
        </p:nvSpPr>
        <p:spPr>
          <a:xfrm>
            <a:off x="9454896" y="1810512"/>
            <a:ext cx="512064" cy="512064"/>
          </a:xfrm>
          <a:prstGeom prst="ellipse">
            <a:avLst/>
          </a:prstGeom>
          <a:solidFill>
            <a:srgbClr val="EEF3FA"/>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9577791" y="1933407"/>
            <a:ext cx="266273" cy="266273"/>
          </a:xfrm>
          <a:prstGeom prst="rect">
            <a:avLst/>
          </a:prstGeom>
        </p:spPr>
      </p:pic>
      <p:sp>
        <p:nvSpPr>
          <p:cNvPr id="25" name="Text 19"/>
          <p:cNvSpPr/>
          <p:nvPr/>
        </p:nvSpPr>
        <p:spPr>
          <a:xfrm>
            <a:off x="9454896" y="2414016"/>
            <a:ext cx="2212848" cy="320040"/>
          </a:xfrm>
          <a:prstGeom prst="rect">
            <a:avLst/>
          </a:prstGeom>
          <a:noFill/>
          <a:ln/>
        </p:spPr>
        <p:txBody>
          <a:bodyPr wrap="square" lIns="0" tIns="0" rIns="0" bIns="0" rtlCol="0" anchor="ctr"/>
          <a:lstStyle/>
          <a:p>
            <a:pPr marL="0" indent="0">
              <a:buNone/>
            </a:pPr>
            <a:r>
              <a:rPr lang="en-US" sz="1350" b="1" dirty="0">
                <a:solidFill>
                  <a:srgbClr val="10294A"/>
                </a:solidFill>
                <a:latin typeface="Calibri" pitchFamily="34" charset="0"/>
                <a:ea typeface="Calibri" pitchFamily="34" charset="-122"/>
                <a:cs typeface="Calibri" pitchFamily="34" charset="-120"/>
              </a:rPr>
              <a:t>Demand Forecast</a:t>
            </a:r>
            <a:endParaRPr lang="en-US" sz="1350" dirty="0"/>
          </a:p>
        </p:txBody>
      </p:sp>
      <p:sp>
        <p:nvSpPr>
          <p:cNvPr id="26" name="Text 20"/>
          <p:cNvSpPr/>
          <p:nvPr/>
        </p:nvSpPr>
        <p:spPr>
          <a:xfrm>
            <a:off x="9454896" y="2706624"/>
            <a:ext cx="2212848" cy="274320"/>
          </a:xfrm>
          <a:prstGeom prst="rect">
            <a:avLst/>
          </a:prstGeom>
          <a:noFill/>
          <a:ln/>
        </p:spPr>
        <p:txBody>
          <a:bodyPr wrap="square" lIns="0" tIns="0" rIns="0" bIns="0" rtlCol="0" anchor="ctr"/>
          <a:lstStyle/>
          <a:p>
            <a:pPr marL="0" indent="0">
              <a:buNone/>
            </a:pPr>
            <a:r>
              <a:rPr lang="en-US" sz="1050" b="1" dirty="0">
                <a:solidFill>
                  <a:srgbClr val="0F8A8A"/>
                </a:solidFill>
                <a:latin typeface="Calibri" pitchFamily="34" charset="0"/>
                <a:ea typeface="Calibri" pitchFamily="34" charset="-122"/>
                <a:cs typeface="Calibri" pitchFamily="34" charset="-120"/>
              </a:rPr>
              <a:t>1,996 forecasts</a:t>
            </a:r>
            <a:endParaRPr lang="en-US" sz="1050" dirty="0"/>
          </a:p>
        </p:txBody>
      </p:sp>
      <p:sp>
        <p:nvSpPr>
          <p:cNvPr id="27" name="Text 21"/>
          <p:cNvSpPr/>
          <p:nvPr/>
        </p:nvSpPr>
        <p:spPr>
          <a:xfrm>
            <a:off x="9454896" y="2999232"/>
            <a:ext cx="2212848" cy="731520"/>
          </a:xfrm>
          <a:prstGeom prst="rect">
            <a:avLst/>
          </a:prstGeom>
          <a:noFill/>
          <a:ln/>
        </p:spPr>
        <p:txBody>
          <a:bodyPr wrap="square" lIns="0" tIns="0" rIns="0" bIns="0" rtlCol="0" anchor="ctr"/>
          <a:lstStyle/>
          <a:p>
            <a:pPr marL="0" indent="0">
              <a:lnSpc>
                <a:spcPts val="1300"/>
              </a:lnSpc>
              <a:buNone/>
            </a:pPr>
            <a:r>
              <a:rPr lang="en-US" sz="1000" dirty="0">
                <a:solidFill>
                  <a:srgbClr val="54657E"/>
                </a:solidFill>
                <a:latin typeface="Calibri" pitchFamily="34" charset="0"/>
                <a:ea typeface="Calibri" pitchFamily="34" charset="-122"/>
                <a:cs typeface="Calibri" pitchFamily="34" charset="-120"/>
              </a:rPr>
              <a:t>Hour-of-day × day-of-week × level (EWMA). Backtested honestly at store-day grain.</a:t>
            </a:r>
            <a:endParaRPr lang="en-US" sz="1000" dirty="0"/>
          </a:p>
        </p:txBody>
      </p:sp>
      <p:sp>
        <p:nvSpPr>
          <p:cNvPr id="28" name="Shape 22"/>
          <p:cNvSpPr/>
          <p:nvPr/>
        </p:nvSpPr>
        <p:spPr>
          <a:xfrm>
            <a:off x="685800" y="4014216"/>
            <a:ext cx="2670048" cy="2240280"/>
          </a:xfrm>
          <a:prstGeom prst="roundRect">
            <a:avLst>
              <a:gd name="adj" fmla="val 3673"/>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29" name="Shape 23"/>
          <p:cNvSpPr/>
          <p:nvPr/>
        </p:nvSpPr>
        <p:spPr>
          <a:xfrm>
            <a:off x="923544" y="4270248"/>
            <a:ext cx="512064" cy="512064"/>
          </a:xfrm>
          <a:prstGeom prst="ellipse">
            <a:avLst/>
          </a:prstGeom>
          <a:solidFill>
            <a:srgbClr val="EEF3FA"/>
          </a:solidFill>
          <a:ln/>
        </p:spPr>
        <p:txBody>
          <a:bodyPr/>
          <a:lstStyle/>
          <a:p>
            <a:endParaRPr lang="en-US"/>
          </a:p>
        </p:txBody>
      </p:sp>
      <p:pic>
        <p:nvPicPr>
          <p:cNvPr id="30" name="Image 4" descr="preencoded.png"/>
          <p:cNvPicPr>
            <a:picLocks noChangeAspect="1"/>
          </p:cNvPicPr>
          <p:nvPr/>
        </p:nvPicPr>
        <p:blipFill>
          <a:blip r:embed="rId7"/>
          <a:stretch>
            <a:fillRect/>
          </a:stretch>
        </p:blipFill>
        <p:spPr>
          <a:xfrm>
            <a:off x="1046439" y="4393143"/>
            <a:ext cx="266273" cy="266273"/>
          </a:xfrm>
          <a:prstGeom prst="rect">
            <a:avLst/>
          </a:prstGeom>
        </p:spPr>
      </p:pic>
      <p:sp>
        <p:nvSpPr>
          <p:cNvPr id="31" name="Text 24"/>
          <p:cNvSpPr/>
          <p:nvPr/>
        </p:nvSpPr>
        <p:spPr>
          <a:xfrm>
            <a:off x="923544" y="4873752"/>
            <a:ext cx="2212848" cy="320040"/>
          </a:xfrm>
          <a:prstGeom prst="rect">
            <a:avLst/>
          </a:prstGeom>
          <a:noFill/>
          <a:ln/>
        </p:spPr>
        <p:txBody>
          <a:bodyPr wrap="square" lIns="0" tIns="0" rIns="0" bIns="0" rtlCol="0" anchor="ctr"/>
          <a:lstStyle/>
          <a:p>
            <a:pPr marL="0" indent="0">
              <a:buNone/>
            </a:pPr>
            <a:r>
              <a:rPr lang="en-US" sz="1350" b="1" dirty="0">
                <a:solidFill>
                  <a:srgbClr val="10294A"/>
                </a:solidFill>
                <a:latin typeface="Calibri" pitchFamily="34" charset="0"/>
                <a:ea typeface="Calibri" pitchFamily="34" charset="-122"/>
                <a:cs typeface="Calibri" pitchFamily="34" charset="-120"/>
              </a:rPr>
              <a:t>Basket Affinity</a:t>
            </a:r>
            <a:endParaRPr lang="en-US" sz="1350" dirty="0"/>
          </a:p>
        </p:txBody>
      </p:sp>
      <p:sp>
        <p:nvSpPr>
          <p:cNvPr id="32" name="Text 25"/>
          <p:cNvSpPr/>
          <p:nvPr/>
        </p:nvSpPr>
        <p:spPr>
          <a:xfrm>
            <a:off x="923544" y="5166360"/>
            <a:ext cx="2212848" cy="274320"/>
          </a:xfrm>
          <a:prstGeom prst="rect">
            <a:avLst/>
          </a:prstGeom>
          <a:noFill/>
          <a:ln/>
        </p:spPr>
        <p:txBody>
          <a:bodyPr wrap="square" lIns="0" tIns="0" rIns="0" bIns="0" rtlCol="0" anchor="ctr"/>
          <a:lstStyle/>
          <a:p>
            <a:pPr marL="0" indent="0">
              <a:buNone/>
            </a:pPr>
            <a:r>
              <a:rPr lang="en-US" sz="1050" b="1" dirty="0">
                <a:solidFill>
                  <a:srgbClr val="2E9B5B"/>
                </a:solidFill>
                <a:latin typeface="Calibri" pitchFamily="34" charset="0"/>
                <a:ea typeface="Calibri" pitchFamily="34" charset="-122"/>
                <a:cs typeface="Calibri" pitchFamily="34" charset="-120"/>
              </a:rPr>
              <a:t>33 rules · 26 cross-zone</a:t>
            </a:r>
            <a:endParaRPr lang="en-US" sz="1050" dirty="0"/>
          </a:p>
        </p:txBody>
      </p:sp>
      <p:sp>
        <p:nvSpPr>
          <p:cNvPr id="33" name="Text 26"/>
          <p:cNvSpPr/>
          <p:nvPr/>
        </p:nvSpPr>
        <p:spPr>
          <a:xfrm>
            <a:off x="923544" y="5458968"/>
            <a:ext cx="2212848" cy="731520"/>
          </a:xfrm>
          <a:prstGeom prst="rect">
            <a:avLst/>
          </a:prstGeom>
          <a:noFill/>
          <a:ln/>
        </p:spPr>
        <p:txBody>
          <a:bodyPr wrap="square" lIns="0" tIns="0" rIns="0" bIns="0" rtlCol="0" anchor="ctr"/>
          <a:lstStyle/>
          <a:p>
            <a:pPr marL="0" indent="0">
              <a:lnSpc>
                <a:spcPts val="1300"/>
              </a:lnSpc>
              <a:buNone/>
            </a:pPr>
            <a:r>
              <a:rPr lang="en-US" sz="1000" dirty="0">
                <a:solidFill>
                  <a:srgbClr val="54657E"/>
                </a:solidFill>
                <a:latin typeface="Calibri" pitchFamily="34" charset="0"/>
                <a:ea typeface="Calibri" pitchFamily="34" charset="-122"/>
                <a:cs typeface="Calibri" pitchFamily="34" charset="-120"/>
              </a:rPr>
              <a:t>Association rules; flags pairs that sell together but sit in different zones.</a:t>
            </a:r>
            <a:endParaRPr lang="en-US" sz="1000" dirty="0"/>
          </a:p>
        </p:txBody>
      </p:sp>
      <p:sp>
        <p:nvSpPr>
          <p:cNvPr id="34" name="Shape 27"/>
          <p:cNvSpPr/>
          <p:nvPr/>
        </p:nvSpPr>
        <p:spPr>
          <a:xfrm>
            <a:off x="3529584" y="4014216"/>
            <a:ext cx="2670048" cy="2240280"/>
          </a:xfrm>
          <a:prstGeom prst="roundRect">
            <a:avLst>
              <a:gd name="adj" fmla="val 3673"/>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35" name="Shape 28"/>
          <p:cNvSpPr/>
          <p:nvPr/>
        </p:nvSpPr>
        <p:spPr>
          <a:xfrm>
            <a:off x="3767328" y="4270248"/>
            <a:ext cx="512064" cy="512064"/>
          </a:xfrm>
          <a:prstGeom prst="ellipse">
            <a:avLst/>
          </a:prstGeom>
          <a:solidFill>
            <a:srgbClr val="EEF3FA"/>
          </a:solidFill>
          <a:ln/>
        </p:spPr>
        <p:txBody>
          <a:bodyPr/>
          <a:lstStyle/>
          <a:p>
            <a:endParaRPr lang="en-US"/>
          </a:p>
        </p:txBody>
      </p:sp>
      <p:pic>
        <p:nvPicPr>
          <p:cNvPr id="36" name="Image 5" descr="preencoded.png"/>
          <p:cNvPicPr>
            <a:picLocks noChangeAspect="1"/>
          </p:cNvPicPr>
          <p:nvPr/>
        </p:nvPicPr>
        <p:blipFill>
          <a:blip r:embed="rId8"/>
          <a:stretch>
            <a:fillRect/>
          </a:stretch>
        </p:blipFill>
        <p:spPr>
          <a:xfrm>
            <a:off x="3890223" y="4393143"/>
            <a:ext cx="266273" cy="266273"/>
          </a:xfrm>
          <a:prstGeom prst="rect">
            <a:avLst/>
          </a:prstGeom>
        </p:spPr>
      </p:pic>
      <p:sp>
        <p:nvSpPr>
          <p:cNvPr id="37" name="Text 29"/>
          <p:cNvSpPr/>
          <p:nvPr/>
        </p:nvSpPr>
        <p:spPr>
          <a:xfrm>
            <a:off x="3767328" y="4873752"/>
            <a:ext cx="2212848" cy="320040"/>
          </a:xfrm>
          <a:prstGeom prst="rect">
            <a:avLst/>
          </a:prstGeom>
          <a:noFill/>
          <a:ln/>
        </p:spPr>
        <p:txBody>
          <a:bodyPr wrap="square" lIns="0" tIns="0" rIns="0" bIns="0" rtlCol="0" anchor="ctr"/>
          <a:lstStyle/>
          <a:p>
            <a:pPr marL="0" indent="0">
              <a:buNone/>
            </a:pPr>
            <a:r>
              <a:rPr lang="en-US" sz="1350" b="1" dirty="0">
                <a:solidFill>
                  <a:srgbClr val="10294A"/>
                </a:solidFill>
                <a:latin typeface="Calibri" pitchFamily="34" charset="0"/>
                <a:ea typeface="Calibri" pitchFamily="34" charset="-122"/>
                <a:cs typeface="Calibri" pitchFamily="34" charset="-120"/>
              </a:rPr>
              <a:t>Personal Offers</a:t>
            </a:r>
            <a:endParaRPr lang="en-US" sz="1350" dirty="0"/>
          </a:p>
        </p:txBody>
      </p:sp>
      <p:sp>
        <p:nvSpPr>
          <p:cNvPr id="38" name="Text 30"/>
          <p:cNvSpPr/>
          <p:nvPr/>
        </p:nvSpPr>
        <p:spPr>
          <a:xfrm>
            <a:off x="3767328" y="5166360"/>
            <a:ext cx="2212848" cy="274320"/>
          </a:xfrm>
          <a:prstGeom prst="rect">
            <a:avLst/>
          </a:prstGeom>
          <a:noFill/>
          <a:ln/>
        </p:spPr>
        <p:txBody>
          <a:bodyPr wrap="square" lIns="0" tIns="0" rIns="0" bIns="0" rtlCol="0" anchor="ctr"/>
          <a:lstStyle/>
          <a:p>
            <a:pPr marL="0" indent="0">
              <a:buNone/>
            </a:pPr>
            <a:r>
              <a:rPr lang="en-US" sz="1050" b="1" dirty="0">
                <a:solidFill>
                  <a:srgbClr val="10294A"/>
                </a:solidFill>
                <a:latin typeface="Calibri" pitchFamily="34" charset="0"/>
                <a:ea typeface="Calibri" pitchFamily="34" charset="-122"/>
                <a:cs typeface="Calibri" pitchFamily="34" charset="-120"/>
              </a:rPr>
              <a:t>842 offers · €596</a:t>
            </a:r>
            <a:endParaRPr lang="en-US" sz="1050" dirty="0"/>
          </a:p>
        </p:txBody>
      </p:sp>
      <p:sp>
        <p:nvSpPr>
          <p:cNvPr id="39" name="Text 31"/>
          <p:cNvSpPr/>
          <p:nvPr/>
        </p:nvSpPr>
        <p:spPr>
          <a:xfrm>
            <a:off x="3767328" y="5458968"/>
            <a:ext cx="2212848" cy="731520"/>
          </a:xfrm>
          <a:prstGeom prst="rect">
            <a:avLst/>
          </a:prstGeom>
          <a:noFill/>
          <a:ln/>
        </p:spPr>
        <p:txBody>
          <a:bodyPr wrap="square" lIns="0" tIns="0" rIns="0" bIns="0" rtlCol="0" anchor="ctr"/>
          <a:lstStyle/>
          <a:p>
            <a:pPr marL="0" indent="0">
              <a:lnSpc>
                <a:spcPts val="1300"/>
              </a:lnSpc>
              <a:buNone/>
            </a:pPr>
            <a:r>
              <a:rPr lang="en-US" sz="1000" dirty="0">
                <a:solidFill>
                  <a:srgbClr val="54657E"/>
                </a:solidFill>
                <a:latin typeface="Calibri" pitchFamily="34" charset="0"/>
                <a:ea typeface="Calibri" pitchFamily="34" charset="-122"/>
                <a:cs typeface="Calibri" pitchFamily="34" charset="-120"/>
              </a:rPr>
              <a:t>Next-best-offer per app customer — consent enforced in the engine, not downstream.</a:t>
            </a:r>
            <a:endParaRPr lang="en-US" sz="1000" dirty="0"/>
          </a:p>
        </p:txBody>
      </p:sp>
      <p:sp>
        <p:nvSpPr>
          <p:cNvPr id="40" name="Shape 32"/>
          <p:cNvSpPr/>
          <p:nvPr/>
        </p:nvSpPr>
        <p:spPr>
          <a:xfrm>
            <a:off x="6373368" y="4014216"/>
            <a:ext cx="2670048" cy="2240280"/>
          </a:xfrm>
          <a:prstGeom prst="roundRect">
            <a:avLst>
              <a:gd name="adj" fmla="val 3673"/>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41" name="Shape 33"/>
          <p:cNvSpPr/>
          <p:nvPr/>
        </p:nvSpPr>
        <p:spPr>
          <a:xfrm>
            <a:off x="6611112" y="4270248"/>
            <a:ext cx="512064" cy="512064"/>
          </a:xfrm>
          <a:prstGeom prst="ellipse">
            <a:avLst/>
          </a:prstGeom>
          <a:solidFill>
            <a:srgbClr val="EEF3FA"/>
          </a:solidFill>
          <a:ln/>
        </p:spPr>
        <p:txBody>
          <a:bodyPr/>
          <a:lstStyle/>
          <a:p>
            <a:endParaRPr lang="en-US"/>
          </a:p>
        </p:txBody>
      </p:sp>
      <p:pic>
        <p:nvPicPr>
          <p:cNvPr id="42" name="Image 6" descr="preencoded.png"/>
          <p:cNvPicPr>
            <a:picLocks noChangeAspect="1"/>
          </p:cNvPicPr>
          <p:nvPr/>
        </p:nvPicPr>
        <p:blipFill>
          <a:blip r:embed="rId9"/>
          <a:stretch>
            <a:fillRect/>
          </a:stretch>
        </p:blipFill>
        <p:spPr>
          <a:xfrm>
            <a:off x="6734007" y="4393143"/>
            <a:ext cx="266273" cy="266273"/>
          </a:xfrm>
          <a:prstGeom prst="rect">
            <a:avLst/>
          </a:prstGeom>
        </p:spPr>
      </p:pic>
      <p:sp>
        <p:nvSpPr>
          <p:cNvPr id="43" name="Text 34"/>
          <p:cNvSpPr/>
          <p:nvPr/>
        </p:nvSpPr>
        <p:spPr>
          <a:xfrm>
            <a:off x="6611112" y="4873752"/>
            <a:ext cx="2212848" cy="320040"/>
          </a:xfrm>
          <a:prstGeom prst="rect">
            <a:avLst/>
          </a:prstGeom>
          <a:noFill/>
          <a:ln/>
        </p:spPr>
        <p:txBody>
          <a:bodyPr wrap="square" lIns="0" tIns="0" rIns="0" bIns="0" rtlCol="0" anchor="ctr"/>
          <a:lstStyle/>
          <a:p>
            <a:pPr marL="0" indent="0">
              <a:buNone/>
            </a:pPr>
            <a:r>
              <a:rPr lang="en-US" sz="1350" b="1" dirty="0">
                <a:solidFill>
                  <a:srgbClr val="10294A"/>
                </a:solidFill>
                <a:latin typeface="Calibri" pitchFamily="34" charset="0"/>
                <a:ea typeface="Calibri" pitchFamily="34" charset="-122"/>
                <a:cs typeface="Calibri" pitchFamily="34" charset="-120"/>
              </a:rPr>
              <a:t>Cold Chain</a:t>
            </a:r>
            <a:endParaRPr lang="en-US" sz="1350" dirty="0"/>
          </a:p>
        </p:txBody>
      </p:sp>
      <p:sp>
        <p:nvSpPr>
          <p:cNvPr id="44" name="Text 35"/>
          <p:cNvSpPr/>
          <p:nvPr/>
        </p:nvSpPr>
        <p:spPr>
          <a:xfrm>
            <a:off x="6611112" y="5166360"/>
            <a:ext cx="2212848" cy="274320"/>
          </a:xfrm>
          <a:prstGeom prst="rect">
            <a:avLst/>
          </a:prstGeom>
          <a:noFill/>
          <a:ln/>
        </p:spPr>
        <p:txBody>
          <a:bodyPr wrap="square" lIns="0" tIns="0" rIns="0" bIns="0" rtlCol="0" anchor="ctr"/>
          <a:lstStyle/>
          <a:p>
            <a:pPr marL="0" indent="0">
              <a:buNone/>
            </a:pPr>
            <a:r>
              <a:rPr lang="en-US" sz="1050" b="1" dirty="0">
                <a:solidFill>
                  <a:srgbClr val="5B9BD5"/>
                </a:solidFill>
                <a:latin typeface="Calibri" pitchFamily="34" charset="0"/>
                <a:ea typeface="Calibri" pitchFamily="34" charset="-122"/>
                <a:cs typeface="Calibri" pitchFamily="34" charset="-120"/>
              </a:rPr>
              <a:t>16 alerts · €601 at risk</a:t>
            </a:r>
            <a:endParaRPr lang="en-US" sz="1050" dirty="0"/>
          </a:p>
        </p:txBody>
      </p:sp>
      <p:sp>
        <p:nvSpPr>
          <p:cNvPr id="45" name="Text 36"/>
          <p:cNvSpPr/>
          <p:nvPr/>
        </p:nvSpPr>
        <p:spPr>
          <a:xfrm>
            <a:off x="6611112" y="5458968"/>
            <a:ext cx="2212848" cy="731520"/>
          </a:xfrm>
          <a:prstGeom prst="rect">
            <a:avLst/>
          </a:prstGeom>
          <a:noFill/>
          <a:ln/>
        </p:spPr>
        <p:txBody>
          <a:bodyPr wrap="square" lIns="0" tIns="0" rIns="0" bIns="0" rtlCol="0" anchor="ctr"/>
          <a:lstStyle/>
          <a:p>
            <a:pPr marL="0" indent="0">
              <a:lnSpc>
                <a:spcPts val="1300"/>
              </a:lnSpc>
              <a:buNone/>
            </a:pPr>
            <a:r>
              <a:rPr lang="en-US" sz="1000" dirty="0">
                <a:solidFill>
                  <a:srgbClr val="54657E"/>
                </a:solidFill>
                <a:latin typeface="Calibri" pitchFamily="34" charset="0"/>
                <a:ea typeface="Calibri" pitchFamily="34" charset="-122"/>
                <a:cs typeface="Calibri" pitchFamily="34" charset="-120"/>
              </a:rPr>
              <a:t>Fires only on sustained excursions; stock valued from the latest snapshot.</a:t>
            </a:r>
            <a:endParaRPr lang="en-US" sz="1000" dirty="0"/>
          </a:p>
        </p:txBody>
      </p:sp>
      <p:sp>
        <p:nvSpPr>
          <p:cNvPr id="46" name="Shape 37"/>
          <p:cNvSpPr/>
          <p:nvPr/>
        </p:nvSpPr>
        <p:spPr>
          <a:xfrm>
            <a:off x="9217152" y="4014216"/>
            <a:ext cx="2670048" cy="2240280"/>
          </a:xfrm>
          <a:prstGeom prst="roundRect">
            <a:avLst>
              <a:gd name="adj" fmla="val 3673"/>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47" name="Shape 38"/>
          <p:cNvSpPr/>
          <p:nvPr/>
        </p:nvSpPr>
        <p:spPr>
          <a:xfrm>
            <a:off x="9454896" y="4270248"/>
            <a:ext cx="512064" cy="512064"/>
          </a:xfrm>
          <a:prstGeom prst="ellipse">
            <a:avLst/>
          </a:prstGeom>
          <a:solidFill>
            <a:srgbClr val="EEF3FA"/>
          </a:solidFill>
          <a:ln/>
        </p:spPr>
        <p:txBody>
          <a:bodyPr/>
          <a:lstStyle/>
          <a:p>
            <a:endParaRPr lang="en-US"/>
          </a:p>
        </p:txBody>
      </p:sp>
      <p:pic>
        <p:nvPicPr>
          <p:cNvPr id="48" name="Image 7" descr="preencoded.png"/>
          <p:cNvPicPr>
            <a:picLocks noChangeAspect="1"/>
          </p:cNvPicPr>
          <p:nvPr/>
        </p:nvPicPr>
        <p:blipFill>
          <a:blip r:embed="rId10"/>
          <a:stretch>
            <a:fillRect/>
          </a:stretch>
        </p:blipFill>
        <p:spPr>
          <a:xfrm>
            <a:off x="9577791" y="4393143"/>
            <a:ext cx="266273" cy="266273"/>
          </a:xfrm>
          <a:prstGeom prst="rect">
            <a:avLst/>
          </a:prstGeom>
        </p:spPr>
      </p:pic>
      <p:sp>
        <p:nvSpPr>
          <p:cNvPr id="49" name="Text 39"/>
          <p:cNvSpPr/>
          <p:nvPr/>
        </p:nvSpPr>
        <p:spPr>
          <a:xfrm>
            <a:off x="9454896" y="4873752"/>
            <a:ext cx="2212848" cy="320040"/>
          </a:xfrm>
          <a:prstGeom prst="rect">
            <a:avLst/>
          </a:prstGeom>
          <a:noFill/>
          <a:ln/>
        </p:spPr>
        <p:txBody>
          <a:bodyPr wrap="square" lIns="0" tIns="0" rIns="0" bIns="0" rtlCol="0" anchor="ctr"/>
          <a:lstStyle/>
          <a:p>
            <a:pPr marL="0" indent="0">
              <a:buNone/>
            </a:pPr>
            <a:r>
              <a:rPr lang="en-US" sz="1350" b="1" dirty="0">
                <a:solidFill>
                  <a:srgbClr val="10294A"/>
                </a:solidFill>
                <a:latin typeface="Calibri" pitchFamily="34" charset="0"/>
                <a:ea typeface="Calibri" pitchFamily="34" charset="-122"/>
                <a:cs typeface="Calibri" pitchFamily="34" charset="-120"/>
              </a:rPr>
              <a:t>Unified Insight Feed</a:t>
            </a:r>
            <a:endParaRPr lang="en-US" sz="1350" dirty="0"/>
          </a:p>
        </p:txBody>
      </p:sp>
      <p:sp>
        <p:nvSpPr>
          <p:cNvPr id="50" name="Text 40"/>
          <p:cNvSpPr/>
          <p:nvPr/>
        </p:nvSpPr>
        <p:spPr>
          <a:xfrm>
            <a:off x="9454896" y="5166360"/>
            <a:ext cx="2212848" cy="274320"/>
          </a:xfrm>
          <a:prstGeom prst="rect">
            <a:avLst/>
          </a:prstGeom>
          <a:noFill/>
          <a:ln/>
        </p:spPr>
        <p:txBody>
          <a:bodyPr wrap="square" lIns="0" tIns="0" rIns="0" bIns="0" rtlCol="0" anchor="ctr"/>
          <a:lstStyle/>
          <a:p>
            <a:pPr marL="0" indent="0">
              <a:buNone/>
            </a:pPr>
            <a:r>
              <a:rPr lang="en-US" sz="1050" b="1" dirty="0">
                <a:solidFill>
                  <a:srgbClr val="1E578D"/>
                </a:solidFill>
                <a:latin typeface="Calibri" pitchFamily="34" charset="0"/>
                <a:ea typeface="Calibri" pitchFamily="34" charset="-122"/>
                <a:cs typeface="Calibri" pitchFamily="34" charset="-120"/>
              </a:rPr>
              <a:t>107 ranked insights</a:t>
            </a:r>
            <a:endParaRPr lang="en-US" sz="1050" dirty="0"/>
          </a:p>
        </p:txBody>
      </p:sp>
      <p:sp>
        <p:nvSpPr>
          <p:cNvPr id="51" name="Text 41"/>
          <p:cNvSpPr/>
          <p:nvPr/>
        </p:nvSpPr>
        <p:spPr>
          <a:xfrm>
            <a:off x="9454896" y="5458968"/>
            <a:ext cx="2212848" cy="731520"/>
          </a:xfrm>
          <a:prstGeom prst="rect">
            <a:avLst/>
          </a:prstGeom>
          <a:noFill/>
          <a:ln/>
        </p:spPr>
        <p:txBody>
          <a:bodyPr wrap="square" lIns="0" tIns="0" rIns="0" bIns="0" rtlCol="0" anchor="ctr"/>
          <a:lstStyle/>
          <a:p>
            <a:pPr marL="0" indent="0">
              <a:lnSpc>
                <a:spcPts val="1300"/>
              </a:lnSpc>
              <a:buNone/>
            </a:pPr>
            <a:r>
              <a:rPr lang="en-US" sz="1000" dirty="0">
                <a:solidFill>
                  <a:srgbClr val="54657E"/>
                </a:solidFill>
                <a:latin typeface="Calibri" pitchFamily="34" charset="0"/>
                <a:ea typeface="Calibri" pitchFamily="34" charset="-122"/>
                <a:cs typeface="Calibri" pitchFamily="34" charset="-120"/>
              </a:rPr>
              <a:t>Every scenario in one queue, ranked by € at stake weighted by model confidence.</a:t>
            </a:r>
            <a:endParaRPr lang="en-US" sz="1000" dirty="0"/>
          </a:p>
        </p:txBody>
      </p:sp>
      <p:sp>
        <p:nvSpPr>
          <p:cNvPr id="52" name="Text 42"/>
          <p:cNvSpPr/>
          <p:nvPr/>
        </p:nvSpPr>
        <p:spPr>
          <a:xfrm>
            <a:off x="11414455" y="6400800"/>
            <a:ext cx="457200" cy="274320"/>
          </a:xfrm>
          <a:prstGeom prst="rect">
            <a:avLst/>
          </a:prstGeom>
          <a:noFill/>
          <a:ln/>
        </p:spPr>
        <p:txBody>
          <a:bodyPr wrap="square" rtlCol="0" anchor="ctr"/>
          <a:lstStyle/>
          <a:p>
            <a:pPr marL="0" indent="0" algn="r">
              <a:buNone/>
            </a:pPr>
            <a:r>
              <a:rPr lang="en-US" sz="900" dirty="0">
                <a:solidFill>
                  <a:srgbClr val="A6B6CC"/>
                </a:solidFill>
                <a:latin typeface="Calibri" pitchFamily="34" charset="0"/>
                <a:ea typeface="Calibri" pitchFamily="34" charset="-122"/>
                <a:cs typeface="Calibri" pitchFamily="34" charset="-120"/>
              </a:rPr>
              <a:t>09</a:t>
            </a:r>
            <a:endParaRPr lang="en-US" sz="900" dirty="0"/>
          </a:p>
        </p:txBody>
      </p:sp>
      <p:pic>
        <p:nvPicPr>
          <p:cNvPr id="53" name="Image 8" descr="/home/claude/logo_wide_trim.png"/>
          <p:cNvPicPr>
            <a:picLocks noChangeAspect="1"/>
          </p:cNvPicPr>
          <p:nvPr/>
        </p:nvPicPr>
        <p:blipFill>
          <a:blip r:embed="rId11"/>
          <a:stretch>
            <a:fillRect/>
          </a:stretch>
        </p:blipFill>
        <p:spPr>
          <a:xfrm>
            <a:off x="457200" y="6345936"/>
            <a:ext cx="1234440" cy="24075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B32"/>
        </a:solidFill>
        <a:effectLst/>
      </p:bgPr>
    </p:bg>
    <p:spTree>
      <p:nvGrpSpPr>
        <p:cNvPr id="1" name=""/>
        <p:cNvGrpSpPr/>
        <p:nvPr/>
      </p:nvGrpSpPr>
      <p:grpSpPr>
        <a:xfrm>
          <a:off x="0" y="0"/>
          <a:ext cx="0" cy="0"/>
          <a:chOff x="0" y="0"/>
          <a:chExt cx="0" cy="0"/>
        </a:xfrm>
      </p:grpSpPr>
      <p:sp>
        <p:nvSpPr>
          <p:cNvPr id="2" name="Shape 0"/>
          <p:cNvSpPr/>
          <p:nvPr/>
        </p:nvSpPr>
        <p:spPr>
          <a:xfrm>
            <a:off x="-548640" y="2423160"/>
            <a:ext cx="2011680" cy="2011680"/>
          </a:xfrm>
          <a:prstGeom prst="ellipse">
            <a:avLst/>
          </a:prstGeom>
          <a:ln w="12700">
            <a:solidFill>
              <a:srgbClr val="1E578D">
                <a:alpha val="22000"/>
              </a:srgbClr>
            </a:solidFill>
            <a:prstDash val="solid"/>
          </a:ln>
        </p:spPr>
        <p:txBody>
          <a:bodyPr/>
          <a:lstStyle/>
          <a:p>
            <a:endParaRPr lang="en-US"/>
          </a:p>
        </p:txBody>
      </p:sp>
      <p:sp>
        <p:nvSpPr>
          <p:cNvPr id="3" name="Shape 1"/>
          <p:cNvSpPr/>
          <p:nvPr/>
        </p:nvSpPr>
        <p:spPr>
          <a:xfrm>
            <a:off x="-1143000" y="1828800"/>
            <a:ext cx="3200400" cy="3200400"/>
          </a:xfrm>
          <a:prstGeom prst="ellipse">
            <a:avLst/>
          </a:prstGeom>
          <a:ln w="12700">
            <a:solidFill>
              <a:srgbClr val="1E578D">
                <a:alpha val="22000"/>
              </a:srgbClr>
            </a:solidFill>
            <a:prstDash val="solid"/>
          </a:ln>
        </p:spPr>
        <p:txBody>
          <a:bodyPr/>
          <a:lstStyle/>
          <a:p>
            <a:endParaRPr lang="en-US"/>
          </a:p>
        </p:txBody>
      </p:sp>
      <p:sp>
        <p:nvSpPr>
          <p:cNvPr id="4" name="Shape 2"/>
          <p:cNvSpPr/>
          <p:nvPr/>
        </p:nvSpPr>
        <p:spPr>
          <a:xfrm>
            <a:off x="-1737360" y="1234440"/>
            <a:ext cx="4389120" cy="4389120"/>
          </a:xfrm>
          <a:prstGeom prst="ellipse">
            <a:avLst/>
          </a:prstGeom>
          <a:ln w="12700">
            <a:solidFill>
              <a:srgbClr val="1E578D">
                <a:alpha val="22000"/>
              </a:srgbClr>
            </a:solidFill>
            <a:prstDash val="solid"/>
          </a:ln>
        </p:spPr>
        <p:txBody>
          <a:bodyPr/>
          <a:lstStyle/>
          <a:p>
            <a:endParaRPr lang="en-US"/>
          </a:p>
        </p:txBody>
      </p:sp>
      <p:sp>
        <p:nvSpPr>
          <p:cNvPr id="5" name="Shape 3"/>
          <p:cNvSpPr/>
          <p:nvPr/>
        </p:nvSpPr>
        <p:spPr>
          <a:xfrm>
            <a:off x="-2331720" y="640080"/>
            <a:ext cx="5577840" cy="5577840"/>
          </a:xfrm>
          <a:prstGeom prst="ellipse">
            <a:avLst/>
          </a:prstGeom>
          <a:ln w="12700">
            <a:solidFill>
              <a:srgbClr val="1E578D">
                <a:alpha val="22000"/>
              </a:srgbClr>
            </a:solidFill>
            <a:prstDash val="solid"/>
          </a:ln>
        </p:spPr>
        <p:txBody>
          <a:bodyPr/>
          <a:lstStyle/>
          <a:p>
            <a:endParaRPr lang="en-US"/>
          </a:p>
        </p:txBody>
      </p:sp>
      <p:sp>
        <p:nvSpPr>
          <p:cNvPr id="6" name="Shape 4"/>
          <p:cNvSpPr/>
          <p:nvPr/>
        </p:nvSpPr>
        <p:spPr>
          <a:xfrm>
            <a:off x="-2926080" y="45720"/>
            <a:ext cx="6766560" cy="6766560"/>
          </a:xfrm>
          <a:prstGeom prst="ellipse">
            <a:avLst/>
          </a:prstGeom>
          <a:ln w="12700">
            <a:solidFill>
              <a:srgbClr val="1E578D">
                <a:alpha val="22000"/>
              </a:srgbClr>
            </a:solidFill>
            <a:prstDash val="solid"/>
          </a:ln>
        </p:spPr>
        <p:txBody>
          <a:bodyPr/>
          <a:lstStyle/>
          <a:p>
            <a:endParaRPr lang="en-US"/>
          </a:p>
        </p:txBody>
      </p:sp>
      <p:sp>
        <p:nvSpPr>
          <p:cNvPr id="7" name="Shape 5"/>
          <p:cNvSpPr/>
          <p:nvPr/>
        </p:nvSpPr>
        <p:spPr>
          <a:xfrm>
            <a:off x="-3520440" y="-548640"/>
            <a:ext cx="7955280" cy="7955280"/>
          </a:xfrm>
          <a:prstGeom prst="ellipse">
            <a:avLst/>
          </a:prstGeom>
          <a:ln w="12700">
            <a:solidFill>
              <a:srgbClr val="1E578D">
                <a:alpha val="22000"/>
              </a:srgbClr>
            </a:solidFill>
            <a:prstDash val="solid"/>
          </a:ln>
        </p:spPr>
        <p:txBody>
          <a:bodyPr/>
          <a:lstStyle/>
          <a:p>
            <a:endParaRPr lang="en-US"/>
          </a:p>
        </p:txBody>
      </p:sp>
      <p:pic>
        <p:nvPicPr>
          <p:cNvPr id="8" name="Image 0" descr="/home/claude/mark_white.png"/>
          <p:cNvPicPr>
            <a:picLocks noChangeAspect="1"/>
          </p:cNvPicPr>
          <p:nvPr/>
        </p:nvPicPr>
        <p:blipFill>
          <a:blip r:embed="rId3">
            <a:alphaModFix amt="45000"/>
          </a:blip>
          <a:stretch>
            <a:fillRect/>
          </a:stretch>
        </p:blipFill>
        <p:spPr>
          <a:xfrm>
            <a:off x="10241280" y="502920"/>
            <a:ext cx="1280160" cy="488308"/>
          </a:xfrm>
          <a:prstGeom prst="rect">
            <a:avLst/>
          </a:prstGeom>
        </p:spPr>
      </p:pic>
      <p:sp>
        <p:nvSpPr>
          <p:cNvPr id="9" name="Shape 6"/>
          <p:cNvSpPr/>
          <p:nvPr/>
        </p:nvSpPr>
        <p:spPr>
          <a:xfrm>
            <a:off x="5394960" y="1737360"/>
            <a:ext cx="1280160" cy="1280160"/>
          </a:xfrm>
          <a:prstGeom prst="ellipse">
            <a:avLst/>
          </a:prstGeom>
          <a:solidFill>
            <a:srgbClr val="1E578D"/>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5702198" y="2044598"/>
            <a:ext cx="665683" cy="665683"/>
          </a:xfrm>
          <a:prstGeom prst="rect">
            <a:avLst/>
          </a:prstGeom>
        </p:spPr>
      </p:pic>
      <p:sp>
        <p:nvSpPr>
          <p:cNvPr id="11" name="Shape 7"/>
          <p:cNvSpPr/>
          <p:nvPr/>
        </p:nvSpPr>
        <p:spPr>
          <a:xfrm>
            <a:off x="5257800" y="3383280"/>
            <a:ext cx="1572768" cy="274320"/>
          </a:xfrm>
          <a:prstGeom prst="roundRect">
            <a:avLst>
              <a:gd name="adj" fmla="val 50000"/>
            </a:avLst>
          </a:prstGeom>
          <a:solidFill>
            <a:srgbClr val="DE0024"/>
          </a:solidFill>
          <a:ln/>
        </p:spPr>
        <p:txBody>
          <a:bodyPr/>
          <a:lstStyle/>
          <a:p>
            <a:endParaRPr lang="en-US"/>
          </a:p>
        </p:txBody>
      </p:sp>
      <p:sp>
        <p:nvSpPr>
          <p:cNvPr id="12" name="Text 8"/>
          <p:cNvSpPr/>
          <p:nvPr/>
        </p:nvSpPr>
        <p:spPr>
          <a:xfrm>
            <a:off x="5257800" y="3383280"/>
            <a:ext cx="157276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LIVE  ·  ~12 MINUTES</a:t>
            </a:r>
            <a:endParaRPr lang="en-US" sz="1000" dirty="0"/>
          </a:p>
        </p:txBody>
      </p:sp>
      <p:sp>
        <p:nvSpPr>
          <p:cNvPr id="13" name="Text 9"/>
          <p:cNvSpPr/>
          <p:nvPr/>
        </p:nvSpPr>
        <p:spPr>
          <a:xfrm>
            <a:off x="914400" y="3703320"/>
            <a:ext cx="10332720" cy="822960"/>
          </a:xfrm>
          <a:prstGeom prst="rect">
            <a:avLst/>
          </a:prstGeom>
          <a:noFill/>
          <a:ln/>
        </p:spPr>
        <p:txBody>
          <a:bodyPr wrap="square" lIns="0" tIns="0" rIns="0" bIns="0" rtlCol="0" anchor="ctr"/>
          <a:lstStyle/>
          <a:p>
            <a:pPr marL="0" indent="0" algn="ctr">
              <a:buNone/>
            </a:pPr>
            <a:r>
              <a:rPr lang="en-US" sz="4400" b="1" dirty="0">
                <a:solidFill>
                  <a:srgbClr val="FFFFFF"/>
                </a:solidFill>
                <a:latin typeface="Bookman Old Style" pitchFamily="34" charset="0"/>
                <a:ea typeface="Bookman Old Style" pitchFamily="34" charset="-122"/>
                <a:cs typeface="Bookman Old Style" pitchFamily="34" charset="-120"/>
              </a:rPr>
              <a:t>Live walkthrough</a:t>
            </a:r>
            <a:endParaRPr lang="en-US" sz="4400" dirty="0"/>
          </a:p>
        </p:txBody>
      </p:sp>
      <p:sp>
        <p:nvSpPr>
          <p:cNvPr id="14" name="Text 10"/>
          <p:cNvSpPr/>
          <p:nvPr/>
        </p:nvSpPr>
        <p:spPr>
          <a:xfrm>
            <a:off x="914400" y="4572000"/>
            <a:ext cx="10332720" cy="457200"/>
          </a:xfrm>
          <a:prstGeom prst="rect">
            <a:avLst/>
          </a:prstGeom>
          <a:noFill/>
          <a:ln/>
        </p:spPr>
        <p:txBody>
          <a:bodyPr wrap="square" lIns="0" tIns="0" rIns="0" bIns="0" rtlCol="0" anchor="ctr"/>
          <a:lstStyle/>
          <a:p>
            <a:pPr marL="0" indent="0" algn="ctr">
              <a:buNone/>
            </a:pPr>
            <a:r>
              <a:rPr lang="en-US" sz="1600" dirty="0">
                <a:solidFill>
                  <a:srgbClr val="D6E4F2"/>
                </a:solidFill>
                <a:latin typeface="Calibri" pitchFamily="34" charset="0"/>
                <a:ea typeface="Calibri" pitchFamily="34" charset="-122"/>
                <a:cs typeface="Calibri" pitchFamily="34" charset="-120"/>
              </a:rPr>
              <a:t>Command Centre  →  Scenario Workbench  →  API Explorer  →  Re-run the engines</a:t>
            </a:r>
            <a:endParaRPr lang="en-US" sz="1600" dirty="0"/>
          </a:p>
        </p:txBody>
      </p:sp>
      <p:sp>
        <p:nvSpPr>
          <p:cNvPr id="15" name="Text 11"/>
          <p:cNvSpPr/>
          <p:nvPr/>
        </p:nvSpPr>
        <p:spPr>
          <a:xfrm>
            <a:off x="914400" y="5166360"/>
            <a:ext cx="10332720" cy="365760"/>
          </a:xfrm>
          <a:prstGeom prst="rect">
            <a:avLst/>
          </a:prstGeom>
          <a:noFill/>
          <a:ln/>
        </p:spPr>
        <p:txBody>
          <a:bodyPr wrap="square" lIns="0" tIns="0" rIns="0" bIns="0" rtlCol="0" anchor="ctr"/>
          <a:lstStyle/>
          <a:p>
            <a:pPr marL="0" indent="0" algn="ctr">
              <a:buNone/>
            </a:pPr>
            <a:r>
              <a:rPr lang="en-US" sz="1200" dirty="0">
                <a:solidFill>
                  <a:srgbClr val="5B9BD5"/>
                </a:solidFill>
                <a:latin typeface="Courier New" pitchFamily="34" charset="0"/>
                <a:ea typeface="Courier New" pitchFamily="34" charset="-122"/>
                <a:cs typeface="Courier New" pitchFamily="34" charset="-120"/>
              </a:rPr>
              <a:t>Approuter on SAP BTP with XSUAA sign-in · local fallback on port 4004 · air-gapped screens first</a:t>
            </a:r>
            <a:endParaRPr lang="en-US" sz="1200" dirty="0"/>
          </a:p>
        </p:txBody>
      </p:sp>
      <p:sp>
        <p:nvSpPr>
          <p:cNvPr id="16" name="Text 12"/>
          <p:cNvSpPr/>
          <p:nvPr/>
        </p:nvSpPr>
        <p:spPr>
          <a:xfrm>
            <a:off x="11414455" y="6400800"/>
            <a:ext cx="457200" cy="274320"/>
          </a:xfrm>
          <a:prstGeom prst="rect">
            <a:avLst/>
          </a:prstGeom>
          <a:noFill/>
          <a:ln/>
        </p:spPr>
        <p:txBody>
          <a:bodyPr wrap="square" rtlCol="0" anchor="ctr"/>
          <a:lstStyle/>
          <a:p>
            <a:pPr marL="0" indent="0" algn="r">
              <a:buNone/>
            </a:pPr>
            <a:r>
              <a:rPr lang="en-US" sz="900" dirty="0">
                <a:solidFill>
                  <a:srgbClr val="A6B6CC"/>
                </a:solidFill>
                <a:latin typeface="Calibri" pitchFamily="34" charset="0"/>
                <a:ea typeface="Calibri" pitchFamily="34" charset="-122"/>
                <a:cs typeface="Calibri" pitchFamily="34" charset="-120"/>
              </a:rPr>
              <a:t>10</a:t>
            </a:r>
            <a:endParaRPr lang="en-US" sz="900" dirty="0"/>
          </a:p>
        </p:txBody>
      </p:sp>
      <p:pic>
        <p:nvPicPr>
          <p:cNvPr id="17" name="Image 2" descr="/home/claude/mark_white.png"/>
          <p:cNvPicPr>
            <a:picLocks noChangeAspect="1"/>
          </p:cNvPicPr>
          <p:nvPr/>
        </p:nvPicPr>
        <p:blipFill>
          <a:blip r:embed="rId3"/>
          <a:stretch>
            <a:fillRect/>
          </a:stretch>
        </p:blipFill>
        <p:spPr>
          <a:xfrm>
            <a:off x="457200" y="6355080"/>
            <a:ext cx="457200" cy="302412"/>
          </a:xfrm>
          <a:prstGeom prst="rect">
            <a:avLst/>
          </a:prstGeom>
        </p:spPr>
      </p:pic>
      <p:sp>
        <p:nvSpPr>
          <p:cNvPr id="18" name="Text 13"/>
          <p:cNvSpPr/>
          <p:nvPr/>
        </p:nvSpPr>
        <p:spPr>
          <a:xfrm>
            <a:off x="960120" y="6400800"/>
            <a:ext cx="1828800" cy="274320"/>
          </a:xfrm>
          <a:prstGeom prst="rect">
            <a:avLst/>
          </a:prstGeom>
          <a:noFill/>
          <a:ln/>
        </p:spPr>
        <p:txBody>
          <a:bodyPr wrap="square" lIns="0" tIns="0" rIns="0" bIns="0" rtlCol="0" anchor="ctr"/>
          <a:lstStyle/>
          <a:p>
            <a:pPr marL="0" indent="0">
              <a:buNone/>
            </a:pPr>
            <a:r>
              <a:rPr lang="en-US" sz="850" b="1" kern="0" spc="200" dirty="0">
                <a:solidFill>
                  <a:srgbClr val="A6B6CC"/>
                </a:solidFill>
                <a:latin typeface="Calibri" pitchFamily="34" charset="0"/>
                <a:ea typeface="Calibri" pitchFamily="34" charset="-122"/>
                <a:cs typeface="Calibri" pitchFamily="34" charset="-120"/>
              </a:rPr>
              <a:t>MSITEK</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7FB"/>
        </a:solidFill>
        <a:effectLst/>
      </p:bgPr>
    </p:bg>
    <p:spTree>
      <p:nvGrpSpPr>
        <p:cNvPr id="1" name=""/>
        <p:cNvGrpSpPr/>
        <p:nvPr/>
      </p:nvGrpSpPr>
      <p:grpSpPr>
        <a:xfrm>
          <a:off x="0" y="0"/>
          <a:ext cx="0" cy="0"/>
          <a:chOff x="0" y="0"/>
          <a:chExt cx="0" cy="0"/>
        </a:xfrm>
      </p:grpSpPr>
      <p:sp>
        <p:nvSpPr>
          <p:cNvPr id="2" name="Text 0"/>
          <p:cNvSpPr/>
          <p:nvPr/>
        </p:nvSpPr>
        <p:spPr>
          <a:xfrm>
            <a:off x="685800" y="457200"/>
            <a:ext cx="7315200" cy="274320"/>
          </a:xfrm>
          <a:prstGeom prst="rect">
            <a:avLst/>
          </a:prstGeom>
          <a:noFill/>
          <a:ln/>
        </p:spPr>
        <p:txBody>
          <a:bodyPr wrap="square" lIns="0" tIns="0" rIns="0" bIns="0" rtlCol="0" anchor="ctr"/>
          <a:lstStyle/>
          <a:p>
            <a:pPr marL="0" indent="0">
              <a:buNone/>
            </a:pPr>
            <a:r>
              <a:rPr lang="en-US" sz="1200" b="1" kern="0" spc="300" dirty="0">
                <a:solidFill>
                  <a:srgbClr val="1E578D"/>
                </a:solidFill>
                <a:latin typeface="Calibri" pitchFamily="34" charset="0"/>
                <a:ea typeface="Calibri" pitchFamily="34" charset="-122"/>
                <a:cs typeface="Calibri" pitchFamily="34" charset="-120"/>
              </a:rPr>
              <a:t>LIVE WALKTHROUGH · YOUR SCRIPT</a:t>
            </a:r>
            <a:endParaRPr lang="en-US" sz="1200" dirty="0"/>
          </a:p>
        </p:txBody>
      </p:sp>
      <p:sp>
        <p:nvSpPr>
          <p:cNvPr id="3" name="Text 1"/>
          <p:cNvSpPr/>
          <p:nvPr/>
        </p:nvSpPr>
        <p:spPr>
          <a:xfrm>
            <a:off x="658368" y="749808"/>
            <a:ext cx="10789920" cy="502920"/>
          </a:xfrm>
          <a:prstGeom prst="rect">
            <a:avLst/>
          </a:prstGeom>
          <a:noFill/>
          <a:ln/>
        </p:spPr>
        <p:txBody>
          <a:bodyPr wrap="square" lIns="0" tIns="0" rIns="0" bIns="0" rtlCol="0" anchor="ctr"/>
          <a:lstStyle/>
          <a:p>
            <a:pPr marL="0" indent="0">
              <a:buNone/>
            </a:pPr>
            <a:r>
              <a:rPr lang="en-US" sz="2800" b="1" dirty="0">
                <a:solidFill>
                  <a:srgbClr val="10294A"/>
                </a:solidFill>
                <a:latin typeface="Bookman Old Style" pitchFamily="34" charset="0"/>
                <a:ea typeface="Bookman Old Style" pitchFamily="34" charset="-122"/>
                <a:cs typeface="Bookman Old Style" pitchFamily="34" charset="-120"/>
              </a:rPr>
              <a:t>The five-minute happy path</a:t>
            </a:r>
            <a:endParaRPr lang="en-US" sz="2800" dirty="0"/>
          </a:p>
        </p:txBody>
      </p:sp>
      <p:sp>
        <p:nvSpPr>
          <p:cNvPr id="4" name="Shape 2"/>
          <p:cNvSpPr/>
          <p:nvPr/>
        </p:nvSpPr>
        <p:spPr>
          <a:xfrm>
            <a:off x="685800" y="1463040"/>
            <a:ext cx="10835640" cy="804672"/>
          </a:xfrm>
          <a:prstGeom prst="roundRect">
            <a:avLst>
              <a:gd name="adj" fmla="val 10227"/>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5" name="Shape 3"/>
          <p:cNvSpPr/>
          <p:nvPr/>
        </p:nvSpPr>
        <p:spPr>
          <a:xfrm>
            <a:off x="914400" y="1609344"/>
            <a:ext cx="512064" cy="512064"/>
          </a:xfrm>
          <a:prstGeom prst="ellipse">
            <a:avLst/>
          </a:prstGeom>
          <a:solidFill>
            <a:srgbClr val="1E578D"/>
          </a:solidFill>
          <a:ln/>
        </p:spPr>
        <p:txBody>
          <a:bodyPr/>
          <a:lstStyle/>
          <a:p>
            <a:endParaRPr lang="en-US"/>
          </a:p>
        </p:txBody>
      </p:sp>
      <p:sp>
        <p:nvSpPr>
          <p:cNvPr id="6" name="Text 4"/>
          <p:cNvSpPr/>
          <p:nvPr/>
        </p:nvSpPr>
        <p:spPr>
          <a:xfrm>
            <a:off x="914400" y="1609344"/>
            <a:ext cx="512064" cy="512064"/>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1</a:t>
            </a:r>
            <a:endParaRPr lang="en-US" sz="2200" dirty="0"/>
          </a:p>
        </p:txBody>
      </p:sp>
      <p:sp>
        <p:nvSpPr>
          <p:cNvPr id="7" name="Text 5"/>
          <p:cNvSpPr/>
          <p:nvPr/>
        </p:nvSpPr>
        <p:spPr>
          <a:xfrm>
            <a:off x="1600200" y="1581912"/>
            <a:ext cx="9601200" cy="310896"/>
          </a:xfrm>
          <a:prstGeom prst="rect">
            <a:avLst/>
          </a:prstGeom>
          <a:noFill/>
          <a:ln/>
        </p:spPr>
        <p:txBody>
          <a:bodyPr wrap="square" lIns="0" tIns="0" rIns="0" bIns="0" rtlCol="0" anchor="ctr"/>
          <a:lstStyle/>
          <a:p>
            <a:pPr marL="0" indent="0">
              <a:buNone/>
            </a:pPr>
            <a:r>
              <a:rPr lang="en-US" sz="1500" b="1" dirty="0">
                <a:solidFill>
                  <a:srgbClr val="10294A"/>
                </a:solidFill>
                <a:latin typeface="Calibri" pitchFamily="34" charset="0"/>
                <a:ea typeface="Calibri" pitchFamily="34" charset="-122"/>
                <a:cs typeface="Calibri" pitchFamily="34" charset="-120"/>
              </a:rPr>
              <a:t>Open the Command Centre</a:t>
            </a:r>
            <a:endParaRPr lang="en-US" sz="1500" dirty="0"/>
          </a:p>
        </p:txBody>
      </p:sp>
      <p:sp>
        <p:nvSpPr>
          <p:cNvPr id="8" name="Text 6"/>
          <p:cNvSpPr/>
          <p:nvPr/>
        </p:nvSpPr>
        <p:spPr>
          <a:xfrm>
            <a:off x="1600200" y="1883664"/>
            <a:ext cx="9692640" cy="402336"/>
          </a:xfrm>
          <a:prstGeom prst="rect">
            <a:avLst/>
          </a:prstGeom>
          <a:noFill/>
          <a:ln/>
        </p:spPr>
        <p:txBody>
          <a:bodyPr wrap="square" lIns="0" tIns="0" rIns="0" bIns="0" rtlCol="0" anchor="ctr"/>
          <a:lstStyle/>
          <a:p>
            <a:pPr marL="0" indent="0">
              <a:lnSpc>
                <a:spcPts val="1400"/>
              </a:lnSpc>
              <a:buNone/>
            </a:pPr>
            <a:r>
              <a:rPr lang="en-US" sz="1100" dirty="0">
                <a:solidFill>
                  <a:srgbClr val="54657E"/>
                </a:solidFill>
                <a:latin typeface="Calibri" pitchFamily="34" charset="0"/>
                <a:ea typeface="Calibri" pitchFamily="34" charset="-122"/>
                <a:cs typeface="Calibri" pitchFamily="34" charset="-120"/>
              </a:rPr>
              <a:t>Start on the overview. Point at the six KPI tiles, then the "value at stake by scenario" bar and the checkout-integrity-by-pattern bar. Say: this is what is costing money right now, ranked.</a:t>
            </a:r>
            <a:endParaRPr lang="en-US" sz="1100" dirty="0"/>
          </a:p>
        </p:txBody>
      </p:sp>
      <p:sp>
        <p:nvSpPr>
          <p:cNvPr id="9" name="Shape 7"/>
          <p:cNvSpPr/>
          <p:nvPr/>
        </p:nvSpPr>
        <p:spPr>
          <a:xfrm>
            <a:off x="685800" y="2395728"/>
            <a:ext cx="10835640" cy="804672"/>
          </a:xfrm>
          <a:prstGeom prst="roundRect">
            <a:avLst>
              <a:gd name="adj" fmla="val 10227"/>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10" name="Shape 8"/>
          <p:cNvSpPr/>
          <p:nvPr/>
        </p:nvSpPr>
        <p:spPr>
          <a:xfrm>
            <a:off x="914400" y="2542032"/>
            <a:ext cx="512064" cy="512064"/>
          </a:xfrm>
          <a:prstGeom prst="ellipse">
            <a:avLst/>
          </a:prstGeom>
          <a:solidFill>
            <a:srgbClr val="0F8A8A"/>
          </a:solidFill>
          <a:ln/>
        </p:spPr>
        <p:txBody>
          <a:bodyPr/>
          <a:lstStyle/>
          <a:p>
            <a:endParaRPr lang="en-US"/>
          </a:p>
        </p:txBody>
      </p:sp>
      <p:sp>
        <p:nvSpPr>
          <p:cNvPr id="11" name="Text 9"/>
          <p:cNvSpPr/>
          <p:nvPr/>
        </p:nvSpPr>
        <p:spPr>
          <a:xfrm>
            <a:off x="914400" y="2542032"/>
            <a:ext cx="512064" cy="512064"/>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2</a:t>
            </a:r>
            <a:endParaRPr lang="en-US" sz="2200" dirty="0"/>
          </a:p>
        </p:txBody>
      </p:sp>
      <p:sp>
        <p:nvSpPr>
          <p:cNvPr id="12" name="Text 10"/>
          <p:cNvSpPr/>
          <p:nvPr/>
        </p:nvSpPr>
        <p:spPr>
          <a:xfrm>
            <a:off x="1600200" y="2514600"/>
            <a:ext cx="9601200" cy="310896"/>
          </a:xfrm>
          <a:prstGeom prst="rect">
            <a:avLst/>
          </a:prstGeom>
          <a:noFill/>
          <a:ln/>
        </p:spPr>
        <p:txBody>
          <a:bodyPr wrap="square" lIns="0" tIns="0" rIns="0" bIns="0" rtlCol="0" anchor="ctr"/>
          <a:lstStyle/>
          <a:p>
            <a:pPr marL="0" indent="0">
              <a:buNone/>
            </a:pPr>
            <a:r>
              <a:rPr lang="en-US" sz="1500" b="1" dirty="0">
                <a:solidFill>
                  <a:srgbClr val="10294A"/>
                </a:solidFill>
                <a:latin typeface="Calibri" pitchFamily="34" charset="0"/>
                <a:ea typeface="Calibri" pitchFamily="34" charset="-122"/>
                <a:cs typeface="Calibri" pitchFamily="34" charset="-120"/>
              </a:rPr>
              <a:t>Read the trading curve</a:t>
            </a:r>
            <a:endParaRPr lang="en-US" sz="1500" dirty="0"/>
          </a:p>
        </p:txBody>
      </p:sp>
      <p:sp>
        <p:nvSpPr>
          <p:cNvPr id="13" name="Text 11"/>
          <p:cNvSpPr/>
          <p:nvPr/>
        </p:nvSpPr>
        <p:spPr>
          <a:xfrm>
            <a:off x="1600200" y="2816352"/>
            <a:ext cx="9692640" cy="402336"/>
          </a:xfrm>
          <a:prstGeom prst="rect">
            <a:avLst/>
          </a:prstGeom>
          <a:noFill/>
          <a:ln/>
        </p:spPr>
        <p:txBody>
          <a:bodyPr wrap="square" lIns="0" tIns="0" rIns="0" bIns="0" rtlCol="0" anchor="ctr"/>
          <a:lstStyle/>
          <a:p>
            <a:pPr marL="0" indent="0">
              <a:lnSpc>
                <a:spcPts val="1400"/>
              </a:lnSpc>
              <a:buNone/>
            </a:pPr>
            <a:r>
              <a:rPr lang="en-US" sz="1100" dirty="0">
                <a:solidFill>
                  <a:srgbClr val="54657E"/>
                </a:solidFill>
                <a:latin typeface="Calibri" pitchFamily="34" charset="0"/>
                <a:ea typeface="Calibri" pitchFamily="34" charset="-122"/>
                <a:cs typeface="Calibri" pitchFamily="34" charset="-120"/>
              </a:rPr>
              <a:t>The weekday lunch peak vs the flat weekend is the signature of a campus store — and the exact shape the demand engine learns. One picture that proves the data is real.</a:t>
            </a:r>
            <a:endParaRPr lang="en-US" sz="1100" dirty="0"/>
          </a:p>
        </p:txBody>
      </p:sp>
      <p:sp>
        <p:nvSpPr>
          <p:cNvPr id="14" name="Shape 12"/>
          <p:cNvSpPr/>
          <p:nvPr/>
        </p:nvSpPr>
        <p:spPr>
          <a:xfrm>
            <a:off x="685800" y="3328416"/>
            <a:ext cx="10835640" cy="804672"/>
          </a:xfrm>
          <a:prstGeom prst="roundRect">
            <a:avLst>
              <a:gd name="adj" fmla="val 10227"/>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15" name="Shape 13"/>
          <p:cNvSpPr/>
          <p:nvPr/>
        </p:nvSpPr>
        <p:spPr>
          <a:xfrm>
            <a:off x="914400" y="3474720"/>
            <a:ext cx="512064" cy="512064"/>
          </a:xfrm>
          <a:prstGeom prst="ellipse">
            <a:avLst/>
          </a:prstGeom>
          <a:solidFill>
            <a:srgbClr val="DE0024"/>
          </a:solidFill>
          <a:ln/>
        </p:spPr>
        <p:txBody>
          <a:bodyPr/>
          <a:lstStyle/>
          <a:p>
            <a:endParaRPr lang="en-US"/>
          </a:p>
        </p:txBody>
      </p:sp>
      <p:sp>
        <p:nvSpPr>
          <p:cNvPr id="16" name="Text 14"/>
          <p:cNvSpPr/>
          <p:nvPr/>
        </p:nvSpPr>
        <p:spPr>
          <a:xfrm>
            <a:off x="914400" y="3474720"/>
            <a:ext cx="512064" cy="512064"/>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3</a:t>
            </a:r>
            <a:endParaRPr lang="en-US" sz="2200" dirty="0"/>
          </a:p>
        </p:txBody>
      </p:sp>
      <p:sp>
        <p:nvSpPr>
          <p:cNvPr id="17" name="Text 15"/>
          <p:cNvSpPr/>
          <p:nvPr/>
        </p:nvSpPr>
        <p:spPr>
          <a:xfrm>
            <a:off x="1600200" y="3447288"/>
            <a:ext cx="9601200" cy="310896"/>
          </a:xfrm>
          <a:prstGeom prst="rect">
            <a:avLst/>
          </a:prstGeom>
          <a:noFill/>
          <a:ln/>
        </p:spPr>
        <p:txBody>
          <a:bodyPr wrap="square" lIns="0" tIns="0" rIns="0" bIns="0" rtlCol="0" anchor="ctr"/>
          <a:lstStyle/>
          <a:p>
            <a:pPr marL="0" indent="0">
              <a:buNone/>
            </a:pPr>
            <a:r>
              <a:rPr lang="en-US" sz="1500" b="1" dirty="0">
                <a:solidFill>
                  <a:srgbClr val="10294A"/>
                </a:solidFill>
                <a:latin typeface="Calibri" pitchFamily="34" charset="0"/>
                <a:ea typeface="Calibri" pitchFamily="34" charset="-122"/>
                <a:cs typeface="Calibri" pitchFamily="34" charset="-120"/>
              </a:rPr>
              <a:t>Jump to the Workbench</a:t>
            </a:r>
            <a:endParaRPr lang="en-US" sz="1500" dirty="0"/>
          </a:p>
        </p:txBody>
      </p:sp>
      <p:sp>
        <p:nvSpPr>
          <p:cNvPr id="18" name="Text 16"/>
          <p:cNvSpPr/>
          <p:nvPr/>
        </p:nvSpPr>
        <p:spPr>
          <a:xfrm>
            <a:off x="1600200" y="3749040"/>
            <a:ext cx="9692640" cy="402336"/>
          </a:xfrm>
          <a:prstGeom prst="rect">
            <a:avLst/>
          </a:prstGeom>
          <a:noFill/>
          <a:ln/>
        </p:spPr>
        <p:txBody>
          <a:bodyPr wrap="square" lIns="0" tIns="0" rIns="0" bIns="0" rtlCol="0" anchor="ctr"/>
          <a:lstStyle/>
          <a:p>
            <a:pPr marL="0" indent="0">
              <a:lnSpc>
                <a:spcPts val="1400"/>
              </a:lnSpc>
              <a:buNone/>
            </a:pPr>
            <a:r>
              <a:rPr lang="en-US" sz="1100" dirty="0">
                <a:solidFill>
                  <a:srgbClr val="54657E"/>
                </a:solidFill>
                <a:latin typeface="Calibri" pitchFamily="34" charset="0"/>
                <a:ea typeface="Calibri" pitchFamily="34" charset="-122"/>
                <a:cs typeface="Calibri" pitchFamily="34" charset="-120"/>
              </a:rPr>
              <a:t>Open Checkout Integrity. Filter to one store, sort by value at risk, open the top row’s drawer. Read the evidence line aloud — the system explains itself.</a:t>
            </a:r>
            <a:endParaRPr lang="en-US" sz="1100" dirty="0"/>
          </a:p>
        </p:txBody>
      </p:sp>
      <p:sp>
        <p:nvSpPr>
          <p:cNvPr id="19" name="Shape 17"/>
          <p:cNvSpPr/>
          <p:nvPr/>
        </p:nvSpPr>
        <p:spPr>
          <a:xfrm>
            <a:off x="685800" y="4261104"/>
            <a:ext cx="10835640" cy="804672"/>
          </a:xfrm>
          <a:prstGeom prst="roundRect">
            <a:avLst>
              <a:gd name="adj" fmla="val 10227"/>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20" name="Shape 18"/>
          <p:cNvSpPr/>
          <p:nvPr/>
        </p:nvSpPr>
        <p:spPr>
          <a:xfrm>
            <a:off x="914400" y="4407408"/>
            <a:ext cx="512064" cy="512064"/>
          </a:xfrm>
          <a:prstGeom prst="ellipse">
            <a:avLst/>
          </a:prstGeom>
          <a:solidFill>
            <a:srgbClr val="DE0024"/>
          </a:solidFill>
          <a:ln/>
        </p:spPr>
        <p:txBody>
          <a:bodyPr/>
          <a:lstStyle/>
          <a:p>
            <a:endParaRPr lang="en-US"/>
          </a:p>
        </p:txBody>
      </p:sp>
      <p:sp>
        <p:nvSpPr>
          <p:cNvPr id="21" name="Text 19"/>
          <p:cNvSpPr/>
          <p:nvPr/>
        </p:nvSpPr>
        <p:spPr>
          <a:xfrm>
            <a:off x="914400" y="4407408"/>
            <a:ext cx="512064" cy="512064"/>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4</a:t>
            </a:r>
            <a:endParaRPr lang="en-US" sz="2200" dirty="0"/>
          </a:p>
        </p:txBody>
      </p:sp>
      <p:sp>
        <p:nvSpPr>
          <p:cNvPr id="22" name="Text 20"/>
          <p:cNvSpPr/>
          <p:nvPr/>
        </p:nvSpPr>
        <p:spPr>
          <a:xfrm>
            <a:off x="1600200" y="4379976"/>
            <a:ext cx="9601200" cy="310896"/>
          </a:xfrm>
          <a:prstGeom prst="rect">
            <a:avLst/>
          </a:prstGeom>
          <a:noFill/>
          <a:ln/>
        </p:spPr>
        <p:txBody>
          <a:bodyPr wrap="square" lIns="0" tIns="0" rIns="0" bIns="0" rtlCol="0" anchor="ctr"/>
          <a:lstStyle/>
          <a:p>
            <a:pPr marL="0" indent="0">
              <a:buNone/>
            </a:pPr>
            <a:r>
              <a:rPr lang="en-US" sz="1500" b="1" dirty="0">
                <a:solidFill>
                  <a:srgbClr val="10294A"/>
                </a:solidFill>
                <a:latin typeface="Calibri" pitchFamily="34" charset="0"/>
                <a:ea typeface="Calibri" pitchFamily="34" charset="-122"/>
                <a:cs typeface="Calibri" pitchFamily="34" charset="-120"/>
              </a:rPr>
              <a:t>Show the API Explorer</a:t>
            </a:r>
            <a:endParaRPr lang="en-US" sz="1500" dirty="0"/>
          </a:p>
        </p:txBody>
      </p:sp>
      <p:sp>
        <p:nvSpPr>
          <p:cNvPr id="23" name="Text 21"/>
          <p:cNvSpPr/>
          <p:nvPr/>
        </p:nvSpPr>
        <p:spPr>
          <a:xfrm>
            <a:off x="1600200" y="4681728"/>
            <a:ext cx="9692640" cy="402336"/>
          </a:xfrm>
          <a:prstGeom prst="rect">
            <a:avLst/>
          </a:prstGeom>
          <a:noFill/>
          <a:ln/>
        </p:spPr>
        <p:txBody>
          <a:bodyPr wrap="square" lIns="0" tIns="0" rIns="0" bIns="0" rtlCol="0" anchor="ctr"/>
          <a:lstStyle/>
          <a:p>
            <a:pPr marL="0" indent="0">
              <a:lnSpc>
                <a:spcPts val="1400"/>
              </a:lnSpc>
              <a:buNone/>
            </a:pPr>
            <a:r>
              <a:rPr lang="en-US" sz="1100" dirty="0">
                <a:solidFill>
                  <a:srgbClr val="54657E"/>
                </a:solidFill>
                <a:latin typeface="Calibri" pitchFamily="34" charset="0"/>
                <a:ea typeface="Calibri" pitchFamily="34" charset="-122"/>
                <a:cs typeface="Calibri" pitchFamily="34" charset="-120"/>
              </a:rPr>
              <a:t>Run one OData query live. This proves the dashboards read a real service, not a fixture. Point at the live row counts.</a:t>
            </a:r>
            <a:endParaRPr lang="en-US" sz="1100" dirty="0"/>
          </a:p>
        </p:txBody>
      </p:sp>
      <p:sp>
        <p:nvSpPr>
          <p:cNvPr id="24" name="Shape 22"/>
          <p:cNvSpPr/>
          <p:nvPr/>
        </p:nvSpPr>
        <p:spPr>
          <a:xfrm>
            <a:off x="685800" y="5193792"/>
            <a:ext cx="10835640" cy="804672"/>
          </a:xfrm>
          <a:prstGeom prst="roundRect">
            <a:avLst>
              <a:gd name="adj" fmla="val 10227"/>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25" name="Shape 23"/>
          <p:cNvSpPr/>
          <p:nvPr/>
        </p:nvSpPr>
        <p:spPr>
          <a:xfrm>
            <a:off x="914400" y="5340096"/>
            <a:ext cx="512064" cy="512064"/>
          </a:xfrm>
          <a:prstGeom prst="ellipse">
            <a:avLst/>
          </a:prstGeom>
          <a:solidFill>
            <a:srgbClr val="2E9B5B"/>
          </a:solidFill>
          <a:ln/>
        </p:spPr>
        <p:txBody>
          <a:bodyPr/>
          <a:lstStyle/>
          <a:p>
            <a:endParaRPr lang="en-US"/>
          </a:p>
        </p:txBody>
      </p:sp>
      <p:sp>
        <p:nvSpPr>
          <p:cNvPr id="26" name="Text 24"/>
          <p:cNvSpPr/>
          <p:nvPr/>
        </p:nvSpPr>
        <p:spPr>
          <a:xfrm>
            <a:off x="914400" y="5340096"/>
            <a:ext cx="512064" cy="512064"/>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5</a:t>
            </a:r>
            <a:endParaRPr lang="en-US" sz="2200" dirty="0"/>
          </a:p>
        </p:txBody>
      </p:sp>
      <p:sp>
        <p:nvSpPr>
          <p:cNvPr id="27" name="Text 25"/>
          <p:cNvSpPr/>
          <p:nvPr/>
        </p:nvSpPr>
        <p:spPr>
          <a:xfrm>
            <a:off x="1600200" y="5312664"/>
            <a:ext cx="9601200" cy="310896"/>
          </a:xfrm>
          <a:prstGeom prst="rect">
            <a:avLst/>
          </a:prstGeom>
          <a:noFill/>
          <a:ln/>
        </p:spPr>
        <p:txBody>
          <a:bodyPr wrap="square" lIns="0" tIns="0" rIns="0" bIns="0" rtlCol="0" anchor="ctr"/>
          <a:lstStyle/>
          <a:p>
            <a:pPr marL="0" indent="0">
              <a:buNone/>
            </a:pPr>
            <a:r>
              <a:rPr lang="en-US" sz="1500" b="1" dirty="0">
                <a:solidFill>
                  <a:srgbClr val="10294A"/>
                </a:solidFill>
                <a:latin typeface="Calibri" pitchFamily="34" charset="0"/>
                <a:ea typeface="Calibri" pitchFamily="34" charset="-122"/>
                <a:cs typeface="Calibri" pitchFamily="34" charset="-120"/>
              </a:rPr>
              <a:t>Re-run the engines</a:t>
            </a:r>
            <a:endParaRPr lang="en-US" sz="1500" dirty="0"/>
          </a:p>
        </p:txBody>
      </p:sp>
      <p:sp>
        <p:nvSpPr>
          <p:cNvPr id="28" name="Text 26"/>
          <p:cNvSpPr/>
          <p:nvPr/>
        </p:nvSpPr>
        <p:spPr>
          <a:xfrm>
            <a:off x="1600200" y="5614416"/>
            <a:ext cx="9692640" cy="402336"/>
          </a:xfrm>
          <a:prstGeom prst="rect">
            <a:avLst/>
          </a:prstGeom>
          <a:noFill/>
          <a:ln/>
        </p:spPr>
        <p:txBody>
          <a:bodyPr wrap="square" lIns="0" tIns="0" rIns="0" bIns="0" rtlCol="0" anchor="ctr"/>
          <a:lstStyle/>
          <a:p>
            <a:pPr marL="0" indent="0">
              <a:lnSpc>
                <a:spcPts val="1400"/>
              </a:lnSpc>
              <a:buNone/>
            </a:pPr>
            <a:r>
              <a:rPr lang="en-US" sz="1100" dirty="0">
                <a:solidFill>
                  <a:srgbClr val="54657E"/>
                </a:solidFill>
                <a:latin typeface="Calibri" pitchFamily="34" charset="0"/>
                <a:ea typeface="Calibri" pitchFamily="34" charset="-122"/>
                <a:cs typeface="Calibri" pitchFamily="34" charset="-120"/>
              </a:rPr>
              <a:t>Hit "Re-run engines". The models respond to current data, not a fixed extract. Close by returning to the feed.</a:t>
            </a:r>
            <a:endParaRPr lang="en-US" sz="1100" dirty="0"/>
          </a:p>
        </p:txBody>
      </p:sp>
      <p:sp>
        <p:nvSpPr>
          <p:cNvPr id="29" name="Text 27"/>
          <p:cNvSpPr/>
          <p:nvPr/>
        </p:nvSpPr>
        <p:spPr>
          <a:xfrm>
            <a:off x="11414455" y="6400800"/>
            <a:ext cx="457200" cy="274320"/>
          </a:xfrm>
          <a:prstGeom prst="rect">
            <a:avLst/>
          </a:prstGeom>
          <a:noFill/>
          <a:ln/>
        </p:spPr>
        <p:txBody>
          <a:bodyPr wrap="square" rtlCol="0" anchor="ctr"/>
          <a:lstStyle/>
          <a:p>
            <a:pPr marL="0" indent="0" algn="r">
              <a:buNone/>
            </a:pPr>
            <a:r>
              <a:rPr lang="en-US" sz="900" dirty="0">
                <a:solidFill>
                  <a:srgbClr val="A6B6CC"/>
                </a:solidFill>
                <a:latin typeface="Calibri" pitchFamily="34" charset="0"/>
                <a:ea typeface="Calibri" pitchFamily="34" charset="-122"/>
                <a:cs typeface="Calibri" pitchFamily="34" charset="-120"/>
              </a:rPr>
              <a:t>11</a:t>
            </a:r>
            <a:endParaRPr lang="en-US" sz="900" dirty="0"/>
          </a:p>
        </p:txBody>
      </p:sp>
      <p:pic>
        <p:nvPicPr>
          <p:cNvPr id="30" name="Image 0" descr="/home/claude/logo_wide_trim.png"/>
          <p:cNvPicPr>
            <a:picLocks noChangeAspect="1"/>
          </p:cNvPicPr>
          <p:nvPr/>
        </p:nvPicPr>
        <p:blipFill>
          <a:blip r:embed="rId3"/>
          <a:stretch>
            <a:fillRect/>
          </a:stretch>
        </p:blipFill>
        <p:spPr>
          <a:xfrm>
            <a:off x="457200" y="6345936"/>
            <a:ext cx="1234440" cy="24075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294A"/>
        </a:solidFill>
        <a:effectLst/>
      </p:bgPr>
    </p:bg>
    <p:spTree>
      <p:nvGrpSpPr>
        <p:cNvPr id="1" name=""/>
        <p:cNvGrpSpPr/>
        <p:nvPr/>
      </p:nvGrpSpPr>
      <p:grpSpPr>
        <a:xfrm>
          <a:off x="0" y="0"/>
          <a:ext cx="0" cy="0"/>
          <a:chOff x="0" y="0"/>
          <a:chExt cx="0" cy="0"/>
        </a:xfrm>
      </p:grpSpPr>
      <p:sp>
        <p:nvSpPr>
          <p:cNvPr id="2" name="Text 0"/>
          <p:cNvSpPr/>
          <p:nvPr/>
        </p:nvSpPr>
        <p:spPr>
          <a:xfrm>
            <a:off x="685800" y="502920"/>
            <a:ext cx="7315200" cy="274320"/>
          </a:xfrm>
          <a:prstGeom prst="rect">
            <a:avLst/>
          </a:prstGeom>
          <a:noFill/>
          <a:ln/>
        </p:spPr>
        <p:txBody>
          <a:bodyPr wrap="square" lIns="0" tIns="0" rIns="0" bIns="0" rtlCol="0" anchor="ctr"/>
          <a:lstStyle/>
          <a:p>
            <a:pPr marL="0" indent="0">
              <a:buNone/>
            </a:pPr>
            <a:r>
              <a:rPr lang="en-US" sz="1200" b="1" kern="0" spc="300" dirty="0">
                <a:solidFill>
                  <a:srgbClr val="5B9BD5"/>
                </a:solidFill>
                <a:latin typeface="Calibri" pitchFamily="34" charset="0"/>
                <a:ea typeface="Calibri" pitchFamily="34" charset="-122"/>
                <a:cs typeface="Calibri" pitchFamily="34" charset="-120"/>
              </a:rPr>
              <a:t>WHAT THE ENGINES FOUND · NOBODY PLANTED THIS</a:t>
            </a:r>
            <a:endParaRPr lang="en-US" sz="1200" dirty="0"/>
          </a:p>
        </p:txBody>
      </p:sp>
      <p:sp>
        <p:nvSpPr>
          <p:cNvPr id="3" name="Text 1"/>
          <p:cNvSpPr/>
          <p:nvPr/>
        </p:nvSpPr>
        <p:spPr>
          <a:xfrm>
            <a:off x="658368" y="822960"/>
            <a:ext cx="10789920" cy="548640"/>
          </a:xfrm>
          <a:prstGeom prst="rect">
            <a:avLst/>
          </a:prstGeom>
          <a:noFill/>
          <a:ln/>
        </p:spPr>
        <p:txBody>
          <a:bodyPr wrap="square" lIns="0" tIns="0" rIns="0" bIns="0" rtlCol="0" anchor="ctr"/>
          <a:lstStyle/>
          <a:p>
            <a:pPr marL="0" indent="0">
              <a:buNone/>
            </a:pPr>
            <a:r>
              <a:rPr lang="en-US" sz="3000" b="1" dirty="0">
                <a:solidFill>
                  <a:srgbClr val="FFFFFF"/>
                </a:solidFill>
                <a:latin typeface="Bookman Old Style" pitchFamily="34" charset="0"/>
                <a:ea typeface="Bookman Old Style" pitchFamily="34" charset="-122"/>
                <a:cs typeface="Bookman Old Style" pitchFamily="34" charset="-120"/>
              </a:rPr>
              <a:t>A master-data fault worth €635.94</a:t>
            </a:r>
            <a:endParaRPr lang="en-US" sz="3000" dirty="0"/>
          </a:p>
        </p:txBody>
      </p:sp>
      <p:sp>
        <p:nvSpPr>
          <p:cNvPr id="4" name="Shape 2"/>
          <p:cNvSpPr/>
          <p:nvPr/>
        </p:nvSpPr>
        <p:spPr>
          <a:xfrm>
            <a:off x="685800" y="1737360"/>
            <a:ext cx="5486400" cy="3931920"/>
          </a:xfrm>
          <a:prstGeom prst="roundRect">
            <a:avLst>
              <a:gd name="adj" fmla="val 2093"/>
            </a:avLst>
          </a:prstGeom>
          <a:solidFill>
            <a:srgbClr val="183A61"/>
          </a:solidFill>
          <a:ln w="12700">
            <a:solidFill>
              <a:srgbClr val="DE0024"/>
            </a:solidFill>
            <a:prstDash val="solid"/>
          </a:ln>
          <a:effectLst>
            <a:outerShdw blurRad="88900" dist="25400" dir="5400000" algn="bl" rotWithShape="0">
              <a:srgbClr val="10294A">
                <a:alpha val="12000"/>
              </a:srgbClr>
            </a:outerShdw>
          </a:effectLst>
        </p:spPr>
        <p:txBody>
          <a:bodyPr/>
          <a:lstStyle/>
          <a:p>
            <a:endParaRPr lang="en-US"/>
          </a:p>
        </p:txBody>
      </p:sp>
      <p:sp>
        <p:nvSpPr>
          <p:cNvPr id="5" name="Shape 3"/>
          <p:cNvSpPr/>
          <p:nvPr/>
        </p:nvSpPr>
        <p:spPr>
          <a:xfrm>
            <a:off x="960120" y="2011680"/>
            <a:ext cx="1709928" cy="274320"/>
          </a:xfrm>
          <a:prstGeom prst="roundRect">
            <a:avLst>
              <a:gd name="adj" fmla="val 50000"/>
            </a:avLst>
          </a:prstGeom>
          <a:solidFill>
            <a:srgbClr val="DE0024"/>
          </a:solidFill>
          <a:ln/>
        </p:spPr>
        <p:txBody>
          <a:bodyPr/>
          <a:lstStyle/>
          <a:p>
            <a:endParaRPr lang="en-US"/>
          </a:p>
        </p:txBody>
      </p:sp>
      <p:sp>
        <p:nvSpPr>
          <p:cNvPr id="6" name="Text 4"/>
          <p:cNvSpPr/>
          <p:nvPr/>
        </p:nvSpPr>
        <p:spPr>
          <a:xfrm>
            <a:off x="960120" y="2011680"/>
            <a:ext cx="170992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CRITICAL · PRICE_ERROR</a:t>
            </a:r>
            <a:endParaRPr lang="en-US" sz="1000" dirty="0"/>
          </a:p>
        </p:txBody>
      </p:sp>
      <p:sp>
        <p:nvSpPr>
          <p:cNvPr id="7" name="Text 5"/>
          <p:cNvSpPr/>
          <p:nvPr/>
        </p:nvSpPr>
        <p:spPr>
          <a:xfrm>
            <a:off x="960120" y="2423160"/>
            <a:ext cx="5029200" cy="457200"/>
          </a:xfrm>
          <a:prstGeom prst="rect">
            <a:avLst/>
          </a:prstGeom>
          <a:noFill/>
          <a:ln/>
        </p:spPr>
        <p:txBody>
          <a:bodyPr wrap="square" lIns="0" tIns="0" rIns="0" bIns="0" rtlCol="0" anchor="ctr"/>
          <a:lstStyle/>
          <a:p>
            <a:pPr marL="0" indent="0">
              <a:buNone/>
            </a:pPr>
            <a:r>
              <a:rPr lang="en-US" sz="2200" b="1" dirty="0">
                <a:solidFill>
                  <a:srgbClr val="FFFFFF"/>
                </a:solidFill>
                <a:latin typeface="Bookman Old Style" pitchFamily="34" charset="0"/>
                <a:ea typeface="Bookman Old Style" pitchFamily="34" charset="-122"/>
                <a:cs typeface="Bookman Old Style" pitchFamily="34" charset="-120"/>
              </a:rPr>
              <a:t>Sunny Bites Banana Chips</a:t>
            </a:r>
            <a:endParaRPr lang="en-US" sz="2200" dirty="0"/>
          </a:p>
        </p:txBody>
      </p:sp>
      <p:sp>
        <p:nvSpPr>
          <p:cNvPr id="8" name="Text 6"/>
          <p:cNvSpPr/>
          <p:nvPr/>
        </p:nvSpPr>
        <p:spPr>
          <a:xfrm>
            <a:off x="960120" y="3017520"/>
            <a:ext cx="2651760" cy="365760"/>
          </a:xfrm>
          <a:prstGeom prst="rect">
            <a:avLst/>
          </a:prstGeom>
          <a:noFill/>
          <a:ln/>
        </p:spPr>
        <p:txBody>
          <a:bodyPr wrap="square" lIns="0" tIns="0" rIns="0" bIns="0" rtlCol="0" anchor="ctr"/>
          <a:lstStyle/>
          <a:p>
            <a:pPr marL="0" indent="0">
              <a:buNone/>
            </a:pPr>
            <a:r>
              <a:rPr lang="en-US" sz="1300" dirty="0">
                <a:solidFill>
                  <a:srgbClr val="D6E4F2"/>
                </a:solidFill>
                <a:latin typeface="Calibri" pitchFamily="34" charset="0"/>
                <a:ea typeface="Calibri" pitchFamily="34" charset="-122"/>
                <a:cs typeface="Calibri" pitchFamily="34" charset="-120"/>
              </a:rPr>
              <a:t>Cancelled value</a:t>
            </a:r>
            <a:endParaRPr lang="en-US" sz="1300" dirty="0"/>
          </a:p>
        </p:txBody>
      </p:sp>
      <p:sp>
        <p:nvSpPr>
          <p:cNvPr id="9" name="Text 7"/>
          <p:cNvSpPr/>
          <p:nvPr/>
        </p:nvSpPr>
        <p:spPr>
          <a:xfrm>
            <a:off x="3566160" y="3017520"/>
            <a:ext cx="2377440" cy="365760"/>
          </a:xfrm>
          <a:prstGeom prst="rect">
            <a:avLst/>
          </a:prstGeom>
          <a:noFill/>
          <a:ln/>
        </p:spPr>
        <p:txBody>
          <a:bodyPr wrap="square" lIns="0" tIns="0" rIns="0" bIns="0"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€635.94</a:t>
            </a:r>
            <a:endParaRPr lang="en-US" sz="1400" dirty="0"/>
          </a:p>
        </p:txBody>
      </p:sp>
      <p:sp>
        <p:nvSpPr>
          <p:cNvPr id="10" name="Shape 8"/>
          <p:cNvSpPr/>
          <p:nvPr/>
        </p:nvSpPr>
        <p:spPr>
          <a:xfrm>
            <a:off x="960120" y="3419856"/>
            <a:ext cx="4983480" cy="0"/>
          </a:xfrm>
          <a:prstGeom prst="line">
            <a:avLst/>
          </a:prstGeom>
          <a:noFill/>
          <a:ln w="6350">
            <a:solidFill>
              <a:srgbClr val="1E578D">
                <a:alpha val="40000"/>
              </a:srgbClr>
            </a:solidFill>
            <a:prstDash val="solid"/>
          </a:ln>
        </p:spPr>
        <p:txBody>
          <a:bodyPr/>
          <a:lstStyle/>
          <a:p>
            <a:endParaRPr lang="en-US"/>
          </a:p>
        </p:txBody>
      </p:sp>
      <p:sp>
        <p:nvSpPr>
          <p:cNvPr id="11" name="Text 9"/>
          <p:cNvSpPr/>
          <p:nvPr/>
        </p:nvSpPr>
        <p:spPr>
          <a:xfrm>
            <a:off x="960120" y="3474720"/>
            <a:ext cx="2651760" cy="365760"/>
          </a:xfrm>
          <a:prstGeom prst="rect">
            <a:avLst/>
          </a:prstGeom>
          <a:noFill/>
          <a:ln/>
        </p:spPr>
        <p:txBody>
          <a:bodyPr wrap="square" lIns="0" tIns="0" rIns="0" bIns="0" rtlCol="0" anchor="ctr"/>
          <a:lstStyle/>
          <a:p>
            <a:pPr marL="0" indent="0">
              <a:buNone/>
            </a:pPr>
            <a:r>
              <a:rPr lang="en-US" sz="1300" dirty="0">
                <a:solidFill>
                  <a:srgbClr val="D6E4F2"/>
                </a:solidFill>
                <a:latin typeface="Calibri" pitchFamily="34" charset="0"/>
                <a:ea typeface="Calibri" pitchFamily="34" charset="-122"/>
                <a:cs typeface="Calibri" pitchFamily="34" charset="-120"/>
              </a:rPr>
              <a:t>Units</a:t>
            </a:r>
            <a:endParaRPr lang="en-US" sz="1300" dirty="0"/>
          </a:p>
        </p:txBody>
      </p:sp>
      <p:sp>
        <p:nvSpPr>
          <p:cNvPr id="12" name="Text 10"/>
          <p:cNvSpPr/>
          <p:nvPr/>
        </p:nvSpPr>
        <p:spPr>
          <a:xfrm>
            <a:off x="3566160" y="3474720"/>
            <a:ext cx="2377440" cy="365760"/>
          </a:xfrm>
          <a:prstGeom prst="rect">
            <a:avLst/>
          </a:prstGeom>
          <a:noFill/>
          <a:ln/>
        </p:spPr>
        <p:txBody>
          <a:bodyPr wrap="square" lIns="0" tIns="0" rIns="0" bIns="0"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20 across 7 events</a:t>
            </a:r>
            <a:endParaRPr lang="en-US" sz="1400" dirty="0"/>
          </a:p>
        </p:txBody>
      </p:sp>
      <p:sp>
        <p:nvSpPr>
          <p:cNvPr id="13" name="Shape 11"/>
          <p:cNvSpPr/>
          <p:nvPr/>
        </p:nvSpPr>
        <p:spPr>
          <a:xfrm>
            <a:off x="960120" y="3877056"/>
            <a:ext cx="4983480" cy="0"/>
          </a:xfrm>
          <a:prstGeom prst="line">
            <a:avLst/>
          </a:prstGeom>
          <a:noFill/>
          <a:ln w="6350">
            <a:solidFill>
              <a:srgbClr val="1E578D">
                <a:alpha val="40000"/>
              </a:srgbClr>
            </a:solidFill>
            <a:prstDash val="solid"/>
          </a:ln>
        </p:spPr>
        <p:txBody>
          <a:bodyPr/>
          <a:lstStyle/>
          <a:p>
            <a:endParaRPr lang="en-US"/>
          </a:p>
        </p:txBody>
      </p:sp>
      <p:sp>
        <p:nvSpPr>
          <p:cNvPr id="14" name="Text 12"/>
          <p:cNvSpPr/>
          <p:nvPr/>
        </p:nvSpPr>
        <p:spPr>
          <a:xfrm>
            <a:off x="960120" y="3931920"/>
            <a:ext cx="2651760" cy="365760"/>
          </a:xfrm>
          <a:prstGeom prst="rect">
            <a:avLst/>
          </a:prstGeom>
          <a:noFill/>
          <a:ln/>
        </p:spPr>
        <p:txBody>
          <a:bodyPr wrap="square" lIns="0" tIns="0" rIns="0" bIns="0" rtlCol="0" anchor="ctr"/>
          <a:lstStyle/>
          <a:p>
            <a:pPr marL="0" indent="0">
              <a:buNone/>
            </a:pPr>
            <a:r>
              <a:rPr lang="en-US" sz="1300" dirty="0">
                <a:solidFill>
                  <a:srgbClr val="D6E4F2"/>
                </a:solidFill>
                <a:latin typeface="Calibri" pitchFamily="34" charset="0"/>
                <a:ea typeface="Calibri" pitchFamily="34" charset="-122"/>
                <a:cs typeface="Calibri" pitchFamily="34" charset="-120"/>
              </a:rPr>
              <a:t>Implied unit price</a:t>
            </a:r>
            <a:endParaRPr lang="en-US" sz="1300" dirty="0"/>
          </a:p>
        </p:txBody>
      </p:sp>
      <p:sp>
        <p:nvSpPr>
          <p:cNvPr id="15" name="Text 13"/>
          <p:cNvSpPr/>
          <p:nvPr/>
        </p:nvSpPr>
        <p:spPr>
          <a:xfrm>
            <a:off x="3566160" y="3931920"/>
            <a:ext cx="2377440" cy="365760"/>
          </a:xfrm>
          <a:prstGeom prst="rect">
            <a:avLst/>
          </a:prstGeom>
          <a:noFill/>
          <a:ln/>
        </p:spPr>
        <p:txBody>
          <a:bodyPr wrap="square" lIns="0" tIns="0" rIns="0" bIns="0" rtlCol="0" anchor="ctr"/>
          <a:lstStyle/>
          <a:p>
            <a:pPr marL="0" indent="0" algn="r">
              <a:buNone/>
            </a:pPr>
            <a:r>
              <a:rPr lang="en-US" sz="1400" b="1" dirty="0">
                <a:solidFill>
                  <a:srgbClr val="DE0024"/>
                </a:solidFill>
                <a:latin typeface="Calibri" pitchFamily="34" charset="0"/>
                <a:ea typeface="Calibri" pitchFamily="34" charset="-122"/>
                <a:cs typeface="Calibri" pitchFamily="34" charset="-120"/>
              </a:rPr>
              <a:t>€31.80</a:t>
            </a:r>
            <a:endParaRPr lang="en-US" sz="1400" dirty="0"/>
          </a:p>
        </p:txBody>
      </p:sp>
      <p:sp>
        <p:nvSpPr>
          <p:cNvPr id="16" name="Shape 14"/>
          <p:cNvSpPr/>
          <p:nvPr/>
        </p:nvSpPr>
        <p:spPr>
          <a:xfrm>
            <a:off x="960120" y="4334256"/>
            <a:ext cx="4983480" cy="0"/>
          </a:xfrm>
          <a:prstGeom prst="line">
            <a:avLst/>
          </a:prstGeom>
          <a:noFill/>
          <a:ln w="6350">
            <a:solidFill>
              <a:srgbClr val="1E578D">
                <a:alpha val="40000"/>
              </a:srgbClr>
            </a:solidFill>
            <a:prstDash val="solid"/>
          </a:ln>
        </p:spPr>
        <p:txBody>
          <a:bodyPr/>
          <a:lstStyle/>
          <a:p>
            <a:endParaRPr lang="en-US"/>
          </a:p>
        </p:txBody>
      </p:sp>
      <p:sp>
        <p:nvSpPr>
          <p:cNvPr id="17" name="Text 15"/>
          <p:cNvSpPr/>
          <p:nvPr/>
        </p:nvSpPr>
        <p:spPr>
          <a:xfrm>
            <a:off x="960120" y="4389120"/>
            <a:ext cx="2651760" cy="365760"/>
          </a:xfrm>
          <a:prstGeom prst="rect">
            <a:avLst/>
          </a:prstGeom>
          <a:noFill/>
          <a:ln/>
        </p:spPr>
        <p:txBody>
          <a:bodyPr wrap="square" lIns="0" tIns="0" rIns="0" bIns="0" rtlCol="0" anchor="ctr"/>
          <a:lstStyle/>
          <a:p>
            <a:pPr marL="0" indent="0">
              <a:buNone/>
            </a:pPr>
            <a:r>
              <a:rPr lang="en-US" sz="1300" dirty="0">
                <a:solidFill>
                  <a:srgbClr val="D6E4F2"/>
                </a:solidFill>
                <a:latin typeface="Calibri" pitchFamily="34" charset="0"/>
                <a:ea typeface="Calibri" pitchFamily="34" charset="-122"/>
                <a:cs typeface="Calibri" pitchFamily="34" charset="-120"/>
              </a:rPr>
              <a:t>Article master price</a:t>
            </a:r>
            <a:endParaRPr lang="en-US" sz="1300" dirty="0"/>
          </a:p>
        </p:txBody>
      </p:sp>
      <p:sp>
        <p:nvSpPr>
          <p:cNvPr id="18" name="Text 16"/>
          <p:cNvSpPr/>
          <p:nvPr/>
        </p:nvSpPr>
        <p:spPr>
          <a:xfrm>
            <a:off x="3566160" y="4389120"/>
            <a:ext cx="2377440" cy="365760"/>
          </a:xfrm>
          <a:prstGeom prst="rect">
            <a:avLst/>
          </a:prstGeom>
          <a:noFill/>
          <a:ln/>
        </p:spPr>
        <p:txBody>
          <a:bodyPr wrap="square" lIns="0" tIns="0" rIns="0" bIns="0" rtlCol="0" anchor="ctr"/>
          <a:lstStyle/>
          <a:p>
            <a:pPr marL="0" indent="0" algn="r">
              <a:buNone/>
            </a:pPr>
            <a:r>
              <a:rPr lang="en-US" sz="1400" b="1" dirty="0">
                <a:solidFill>
                  <a:srgbClr val="DE0024"/>
                </a:solidFill>
                <a:latin typeface="Calibri" pitchFamily="34" charset="0"/>
                <a:ea typeface="Calibri" pitchFamily="34" charset="-122"/>
                <a:cs typeface="Calibri" pitchFamily="34" charset="-120"/>
              </a:rPr>
              <a:t>€0.99</a:t>
            </a:r>
            <a:endParaRPr lang="en-US" sz="1400" dirty="0"/>
          </a:p>
        </p:txBody>
      </p:sp>
      <p:sp>
        <p:nvSpPr>
          <p:cNvPr id="19" name="Shape 17"/>
          <p:cNvSpPr/>
          <p:nvPr/>
        </p:nvSpPr>
        <p:spPr>
          <a:xfrm>
            <a:off x="960120" y="4791456"/>
            <a:ext cx="4983480" cy="0"/>
          </a:xfrm>
          <a:prstGeom prst="line">
            <a:avLst/>
          </a:prstGeom>
          <a:noFill/>
          <a:ln w="6350">
            <a:solidFill>
              <a:srgbClr val="1E578D">
                <a:alpha val="40000"/>
              </a:srgbClr>
            </a:solidFill>
            <a:prstDash val="solid"/>
          </a:ln>
        </p:spPr>
        <p:txBody>
          <a:bodyPr/>
          <a:lstStyle/>
          <a:p>
            <a:endParaRPr lang="en-US"/>
          </a:p>
        </p:txBody>
      </p:sp>
      <p:sp>
        <p:nvSpPr>
          <p:cNvPr id="20" name="Text 18"/>
          <p:cNvSpPr/>
          <p:nvPr/>
        </p:nvSpPr>
        <p:spPr>
          <a:xfrm>
            <a:off x="960120" y="4846320"/>
            <a:ext cx="2651760" cy="365760"/>
          </a:xfrm>
          <a:prstGeom prst="rect">
            <a:avLst/>
          </a:prstGeom>
          <a:noFill/>
          <a:ln/>
        </p:spPr>
        <p:txBody>
          <a:bodyPr wrap="square" lIns="0" tIns="0" rIns="0" bIns="0" rtlCol="0" anchor="ctr"/>
          <a:lstStyle/>
          <a:p>
            <a:pPr marL="0" indent="0">
              <a:buNone/>
            </a:pPr>
            <a:r>
              <a:rPr lang="en-US" sz="1300" dirty="0">
                <a:solidFill>
                  <a:srgbClr val="D6E4F2"/>
                </a:solidFill>
                <a:latin typeface="Calibri" pitchFamily="34" charset="0"/>
                <a:ea typeface="Calibri" pitchFamily="34" charset="-122"/>
                <a:cs typeface="Calibri" pitchFamily="34" charset="-120"/>
              </a:rPr>
              <a:t>Factor</a:t>
            </a:r>
            <a:endParaRPr lang="en-US" sz="1300" dirty="0"/>
          </a:p>
        </p:txBody>
      </p:sp>
      <p:sp>
        <p:nvSpPr>
          <p:cNvPr id="21" name="Text 19"/>
          <p:cNvSpPr/>
          <p:nvPr/>
        </p:nvSpPr>
        <p:spPr>
          <a:xfrm>
            <a:off x="3566160" y="4846320"/>
            <a:ext cx="2377440" cy="365760"/>
          </a:xfrm>
          <a:prstGeom prst="rect">
            <a:avLst/>
          </a:prstGeom>
          <a:noFill/>
          <a:ln/>
        </p:spPr>
        <p:txBody>
          <a:bodyPr wrap="square" lIns="0" tIns="0" rIns="0" bIns="0" rtlCol="0" anchor="ctr"/>
          <a:lstStyle/>
          <a:p>
            <a:pPr marL="0" indent="0" algn="r">
              <a:buNone/>
            </a:pPr>
            <a:r>
              <a:rPr lang="en-US" sz="1400" b="1" dirty="0">
                <a:solidFill>
                  <a:srgbClr val="DE0024"/>
                </a:solidFill>
                <a:latin typeface="Calibri" pitchFamily="34" charset="0"/>
                <a:ea typeface="Calibri" pitchFamily="34" charset="-122"/>
                <a:cs typeface="Calibri" pitchFamily="34" charset="-120"/>
              </a:rPr>
              <a:t>32.1×</a:t>
            </a:r>
            <a:endParaRPr lang="en-US" sz="1400" dirty="0"/>
          </a:p>
        </p:txBody>
      </p:sp>
      <p:sp>
        <p:nvSpPr>
          <p:cNvPr id="22" name="Shape 20"/>
          <p:cNvSpPr/>
          <p:nvPr/>
        </p:nvSpPr>
        <p:spPr>
          <a:xfrm>
            <a:off x="6446520" y="1737360"/>
            <a:ext cx="5074920" cy="3931920"/>
          </a:xfrm>
          <a:prstGeom prst="roundRect">
            <a:avLst>
              <a:gd name="adj" fmla="val 2093"/>
            </a:avLst>
          </a:prstGeom>
          <a:solidFill>
            <a:srgbClr val="1E578D"/>
          </a:solidFill>
          <a:ln/>
          <a:effectLst>
            <a:outerShdw blurRad="88900" dist="25400" dir="5400000" algn="bl" rotWithShape="0">
              <a:srgbClr val="10294A">
                <a:alpha val="12000"/>
              </a:srgbClr>
            </a:outerShdw>
          </a:effectLst>
        </p:spPr>
        <p:txBody>
          <a:bodyPr/>
          <a:lstStyle/>
          <a:p>
            <a:endParaRPr lang="en-US"/>
          </a:p>
        </p:txBody>
      </p:sp>
      <p:pic>
        <p:nvPicPr>
          <p:cNvPr id="23" name="Image 0" descr="preencoded.png"/>
          <p:cNvPicPr>
            <a:picLocks noChangeAspect="1"/>
          </p:cNvPicPr>
          <p:nvPr/>
        </p:nvPicPr>
        <p:blipFill>
          <a:blip r:embed="rId3"/>
          <a:stretch>
            <a:fillRect/>
          </a:stretch>
        </p:blipFill>
        <p:spPr>
          <a:xfrm>
            <a:off x="6766560" y="2011680"/>
            <a:ext cx="502920" cy="502920"/>
          </a:xfrm>
          <a:prstGeom prst="rect">
            <a:avLst/>
          </a:prstGeom>
        </p:spPr>
      </p:pic>
      <p:sp>
        <p:nvSpPr>
          <p:cNvPr id="24" name="Text 21"/>
          <p:cNvSpPr/>
          <p:nvPr/>
        </p:nvSpPr>
        <p:spPr>
          <a:xfrm>
            <a:off x="6766560" y="2697480"/>
            <a:ext cx="4480560" cy="822960"/>
          </a:xfrm>
          <a:prstGeom prst="rect">
            <a:avLst/>
          </a:prstGeom>
          <a:noFill/>
          <a:ln/>
        </p:spPr>
        <p:txBody>
          <a:bodyPr wrap="square" lIns="0" tIns="0" rIns="0" bIns="0" rtlCol="0" anchor="ctr"/>
          <a:lstStyle/>
          <a:p>
            <a:pPr marL="0" indent="0">
              <a:lnSpc>
                <a:spcPts val="2400"/>
              </a:lnSpc>
              <a:buNone/>
            </a:pPr>
            <a:r>
              <a:rPr lang="en-US" sz="2000" b="1" dirty="0">
                <a:solidFill>
                  <a:srgbClr val="FFFFFF"/>
                </a:solidFill>
                <a:latin typeface="Bookman Old Style" pitchFamily="34" charset="0"/>
                <a:ea typeface="Bookman Old Style" pitchFamily="34" charset="-122"/>
                <a:cs typeface="Bookman Old Style" pitchFamily="34" charset="-120"/>
              </a:rPr>
              <a:t>The engine does not call this theft — and that is the point.</a:t>
            </a:r>
            <a:endParaRPr lang="en-US" sz="2000" dirty="0"/>
          </a:p>
        </p:txBody>
      </p:sp>
      <p:sp>
        <p:nvSpPr>
          <p:cNvPr id="25" name="Text 22"/>
          <p:cNvSpPr/>
          <p:nvPr/>
        </p:nvSpPr>
        <p:spPr>
          <a:xfrm>
            <a:off x="6766560" y="3657600"/>
            <a:ext cx="4480560" cy="1371600"/>
          </a:xfrm>
          <a:prstGeom prst="rect">
            <a:avLst/>
          </a:prstGeom>
          <a:noFill/>
          <a:ln/>
        </p:spPr>
        <p:txBody>
          <a:bodyPr wrap="square" lIns="0" tIns="0" rIns="0" bIns="0" rtlCol="0" anchor="ctr"/>
          <a:lstStyle/>
          <a:p>
            <a:pPr marL="0" indent="0">
              <a:lnSpc>
                <a:spcPts val="2000"/>
              </a:lnSpc>
              <a:buNone/>
            </a:pPr>
            <a:r>
              <a:rPr lang="en-US" sz="1350" dirty="0">
                <a:solidFill>
                  <a:srgbClr val="D6E4F2"/>
                </a:solidFill>
                <a:latin typeface="Calibri" pitchFamily="34" charset="0"/>
                <a:ea typeface="Calibri" pitchFamily="34" charset="-122"/>
                <a:cs typeface="Calibri" pitchFamily="34" charset="-120"/>
              </a:rPr>
              <a:t>A cancelled value that far from the master price is a data or shelf-label fault, not loss. So it is classified PRICE_ERROR and the recommended action is to reconcile the master price against the electronic shelf label.</a:t>
            </a:r>
            <a:endParaRPr lang="en-US" sz="1350" dirty="0"/>
          </a:p>
        </p:txBody>
      </p:sp>
      <p:sp>
        <p:nvSpPr>
          <p:cNvPr id="26" name="Text 23"/>
          <p:cNvSpPr/>
          <p:nvPr/>
        </p:nvSpPr>
        <p:spPr>
          <a:xfrm>
            <a:off x="6766560" y="5029200"/>
            <a:ext cx="4480560" cy="548640"/>
          </a:xfrm>
          <a:prstGeom prst="rect">
            <a:avLst/>
          </a:prstGeom>
          <a:noFill/>
          <a:ln/>
        </p:spPr>
        <p:txBody>
          <a:bodyPr wrap="square" lIns="0" tIns="0" rIns="0" bIns="0" rtlCol="0" anchor="ctr"/>
          <a:lstStyle/>
          <a:p>
            <a:pPr marL="0" indent="0">
              <a:lnSpc>
                <a:spcPts val="1700"/>
              </a:lnSpc>
              <a:buNone/>
            </a:pPr>
            <a:r>
              <a:rPr lang="en-US" sz="1250" b="1" dirty="0">
                <a:solidFill>
                  <a:srgbClr val="FFFFFF"/>
                </a:solidFill>
                <a:latin typeface="Calibri" pitchFamily="34" charset="0"/>
                <a:ea typeface="Calibri" pitchFamily="34" charset="-122"/>
                <a:cs typeface="Calibri" pitchFamily="34" charset="-120"/>
              </a:rPr>
              <a:t>Visible in the raw spreadsheet if you knew to look. The engine found it on its own — and ranked it #1.</a:t>
            </a:r>
            <a:endParaRPr lang="en-US" sz="1250" dirty="0"/>
          </a:p>
        </p:txBody>
      </p:sp>
      <p:sp>
        <p:nvSpPr>
          <p:cNvPr id="27" name="Text 24"/>
          <p:cNvSpPr/>
          <p:nvPr/>
        </p:nvSpPr>
        <p:spPr>
          <a:xfrm>
            <a:off x="11414455" y="6400800"/>
            <a:ext cx="457200" cy="274320"/>
          </a:xfrm>
          <a:prstGeom prst="rect">
            <a:avLst/>
          </a:prstGeom>
          <a:noFill/>
          <a:ln/>
        </p:spPr>
        <p:txBody>
          <a:bodyPr wrap="square" rtlCol="0" anchor="ctr"/>
          <a:lstStyle/>
          <a:p>
            <a:pPr marL="0" indent="0" algn="r">
              <a:buNone/>
            </a:pPr>
            <a:r>
              <a:rPr lang="en-US" sz="900" dirty="0">
                <a:solidFill>
                  <a:srgbClr val="A6B6CC"/>
                </a:solidFill>
                <a:latin typeface="Calibri" pitchFamily="34" charset="0"/>
                <a:ea typeface="Calibri" pitchFamily="34" charset="-122"/>
                <a:cs typeface="Calibri" pitchFamily="34" charset="-120"/>
              </a:rPr>
              <a:t>12</a:t>
            </a:r>
            <a:endParaRPr lang="en-US" sz="900" dirty="0"/>
          </a:p>
        </p:txBody>
      </p:sp>
      <p:pic>
        <p:nvPicPr>
          <p:cNvPr id="28" name="Image 1" descr="/home/claude/mark_white.png"/>
          <p:cNvPicPr>
            <a:picLocks noChangeAspect="1"/>
          </p:cNvPicPr>
          <p:nvPr/>
        </p:nvPicPr>
        <p:blipFill>
          <a:blip r:embed="rId4"/>
          <a:stretch>
            <a:fillRect/>
          </a:stretch>
        </p:blipFill>
        <p:spPr>
          <a:xfrm>
            <a:off x="457200" y="6355080"/>
            <a:ext cx="457200" cy="302412"/>
          </a:xfrm>
          <a:prstGeom prst="rect">
            <a:avLst/>
          </a:prstGeom>
        </p:spPr>
      </p:pic>
      <p:sp>
        <p:nvSpPr>
          <p:cNvPr id="29" name="Text 25"/>
          <p:cNvSpPr/>
          <p:nvPr/>
        </p:nvSpPr>
        <p:spPr>
          <a:xfrm>
            <a:off x="960120" y="6400800"/>
            <a:ext cx="1828800" cy="274320"/>
          </a:xfrm>
          <a:prstGeom prst="rect">
            <a:avLst/>
          </a:prstGeom>
          <a:noFill/>
          <a:ln/>
        </p:spPr>
        <p:txBody>
          <a:bodyPr wrap="square" lIns="0" tIns="0" rIns="0" bIns="0" rtlCol="0" anchor="ctr"/>
          <a:lstStyle/>
          <a:p>
            <a:pPr marL="0" indent="0">
              <a:buNone/>
            </a:pPr>
            <a:r>
              <a:rPr lang="en-US" sz="850" b="1" kern="0" spc="200" dirty="0">
                <a:solidFill>
                  <a:srgbClr val="A6B6CC"/>
                </a:solidFill>
                <a:latin typeface="Calibri" pitchFamily="34" charset="0"/>
                <a:ea typeface="Calibri" pitchFamily="34" charset="-122"/>
                <a:cs typeface="Calibri" pitchFamily="34" charset="-120"/>
              </a:rPr>
              <a:t>MSITEK</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7FB"/>
        </a:solidFill>
        <a:effectLst/>
      </p:bgPr>
    </p:bg>
    <p:spTree>
      <p:nvGrpSpPr>
        <p:cNvPr id="1" name=""/>
        <p:cNvGrpSpPr/>
        <p:nvPr/>
      </p:nvGrpSpPr>
      <p:grpSpPr>
        <a:xfrm>
          <a:off x="0" y="0"/>
          <a:ext cx="0" cy="0"/>
          <a:chOff x="0" y="0"/>
          <a:chExt cx="0" cy="0"/>
        </a:xfrm>
      </p:grpSpPr>
      <p:sp>
        <p:nvSpPr>
          <p:cNvPr id="2" name="Text 0"/>
          <p:cNvSpPr/>
          <p:nvPr/>
        </p:nvSpPr>
        <p:spPr>
          <a:xfrm>
            <a:off x="685800" y="502920"/>
            <a:ext cx="7315200" cy="274320"/>
          </a:xfrm>
          <a:prstGeom prst="rect">
            <a:avLst/>
          </a:prstGeom>
          <a:noFill/>
          <a:ln/>
        </p:spPr>
        <p:txBody>
          <a:bodyPr wrap="square" lIns="0" tIns="0" rIns="0" bIns="0" rtlCol="0" anchor="ctr"/>
          <a:lstStyle/>
          <a:p>
            <a:pPr marL="0" indent="0">
              <a:buNone/>
            </a:pPr>
            <a:r>
              <a:rPr lang="en-US" sz="1200" b="1" kern="0" spc="300" dirty="0">
                <a:solidFill>
                  <a:srgbClr val="1E578D"/>
                </a:solidFill>
                <a:latin typeface="Calibri" pitchFamily="34" charset="0"/>
                <a:ea typeface="Calibri" pitchFamily="34" charset="-122"/>
                <a:cs typeface="Calibri" pitchFamily="34" charset="-120"/>
              </a:rPr>
              <a:t>WHAT THE ENGINES FOUND · A STRUCTURAL PROBLEM</a:t>
            </a:r>
            <a:endParaRPr lang="en-US" sz="1200" dirty="0"/>
          </a:p>
        </p:txBody>
      </p:sp>
      <p:sp>
        <p:nvSpPr>
          <p:cNvPr id="3" name="Text 1"/>
          <p:cNvSpPr/>
          <p:nvPr/>
        </p:nvSpPr>
        <p:spPr>
          <a:xfrm>
            <a:off x="658368" y="822960"/>
            <a:ext cx="10789920" cy="548640"/>
          </a:xfrm>
          <a:prstGeom prst="rect">
            <a:avLst/>
          </a:prstGeom>
          <a:noFill/>
          <a:ln/>
        </p:spPr>
        <p:txBody>
          <a:bodyPr wrap="square" lIns="0" tIns="0" rIns="0" bIns="0" rtlCol="0" anchor="ctr"/>
          <a:lstStyle/>
          <a:p>
            <a:pPr marL="0" indent="0">
              <a:buNone/>
            </a:pPr>
            <a:r>
              <a:rPr lang="en-US" sz="3000" b="1" dirty="0">
                <a:solidFill>
                  <a:srgbClr val="10294A"/>
                </a:solidFill>
                <a:latin typeface="Bookman Old Style" pitchFamily="34" charset="0"/>
                <a:ea typeface="Bookman Old Style" pitchFamily="34" charset="-122"/>
                <a:cs typeface="Bookman Old Style" pitchFamily="34" charset="-120"/>
              </a:rPr>
              <a:t>The deposit-return problem</a:t>
            </a:r>
            <a:endParaRPr lang="en-US" sz="3000" dirty="0"/>
          </a:p>
        </p:txBody>
      </p:sp>
      <p:sp>
        <p:nvSpPr>
          <p:cNvPr id="4" name="Text 2"/>
          <p:cNvSpPr/>
          <p:nvPr/>
        </p:nvSpPr>
        <p:spPr>
          <a:xfrm>
            <a:off x="685800" y="1554480"/>
            <a:ext cx="10607040" cy="640080"/>
          </a:xfrm>
          <a:prstGeom prst="rect">
            <a:avLst/>
          </a:prstGeom>
          <a:noFill/>
          <a:ln/>
        </p:spPr>
        <p:txBody>
          <a:bodyPr wrap="square" lIns="0" tIns="0" rIns="0" bIns="0" rtlCol="0" anchor="ctr"/>
          <a:lstStyle/>
          <a:p>
            <a:pPr marL="0" indent="0">
              <a:lnSpc>
                <a:spcPts val="2300"/>
              </a:lnSpc>
              <a:buNone/>
            </a:pPr>
            <a:r>
              <a:rPr lang="en-US" sz="1600" dirty="0">
                <a:solidFill>
                  <a:srgbClr val="10294A"/>
                </a:solidFill>
                <a:latin typeface="Calibri" pitchFamily="34" charset="0"/>
                <a:ea typeface="Calibri" pitchFamily="34" charset="-122"/>
                <a:cs typeface="Calibri" pitchFamily="34" charset="-120"/>
              </a:rPr>
              <a:t>Leergut 0,25 EUR — the German bottle deposit — is the most cancelled line in the store: 694 cancellations, 508 of them at the unstaffed payfree gate. Flagged TAG_ABSENT.</a:t>
            </a:r>
            <a:endParaRPr lang="en-US" sz="1600" dirty="0"/>
          </a:p>
        </p:txBody>
      </p:sp>
      <p:sp>
        <p:nvSpPr>
          <p:cNvPr id="5" name="Shape 3"/>
          <p:cNvSpPr/>
          <p:nvPr/>
        </p:nvSpPr>
        <p:spPr>
          <a:xfrm>
            <a:off x="685800" y="2377440"/>
            <a:ext cx="5120640" cy="3246120"/>
          </a:xfrm>
          <a:prstGeom prst="roundRect">
            <a:avLst>
              <a:gd name="adj" fmla="val 2535"/>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6" name="Shape 4"/>
          <p:cNvSpPr/>
          <p:nvPr/>
        </p:nvSpPr>
        <p:spPr>
          <a:xfrm>
            <a:off x="960120" y="2651760"/>
            <a:ext cx="548640" cy="548640"/>
          </a:xfrm>
          <a:prstGeom prst="ellipse">
            <a:avLst/>
          </a:prstGeom>
          <a:solidFill>
            <a:srgbClr val="FDF3DA"/>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91794" y="2783434"/>
            <a:ext cx="285293" cy="285293"/>
          </a:xfrm>
          <a:prstGeom prst="rect">
            <a:avLst/>
          </a:prstGeom>
        </p:spPr>
      </p:pic>
      <p:sp>
        <p:nvSpPr>
          <p:cNvPr id="8" name="Text 5"/>
          <p:cNvSpPr/>
          <p:nvPr/>
        </p:nvSpPr>
        <p:spPr>
          <a:xfrm>
            <a:off x="1645920" y="2697480"/>
            <a:ext cx="3931920" cy="411480"/>
          </a:xfrm>
          <a:prstGeom prst="rect">
            <a:avLst/>
          </a:prstGeom>
          <a:noFill/>
          <a:ln/>
        </p:spPr>
        <p:txBody>
          <a:bodyPr wrap="square" lIns="0" tIns="0" rIns="0" bIns="0" rtlCol="0" anchor="ctr"/>
          <a:lstStyle/>
          <a:p>
            <a:pPr marL="0" indent="0">
              <a:buNone/>
            </a:pPr>
            <a:r>
              <a:rPr lang="en-US" sz="1600" b="1" dirty="0">
                <a:solidFill>
                  <a:srgbClr val="10294A"/>
                </a:solidFill>
                <a:latin typeface="Calibri" pitchFamily="34" charset="0"/>
                <a:ea typeface="Calibri" pitchFamily="34" charset="-122"/>
                <a:cs typeface="Calibri" pitchFamily="34" charset="-120"/>
              </a:rPr>
              <a:t>Why it happens</a:t>
            </a:r>
            <a:endParaRPr lang="en-US" sz="1600" dirty="0"/>
          </a:p>
        </p:txBody>
      </p:sp>
      <p:sp>
        <p:nvSpPr>
          <p:cNvPr id="9" name="Text 6"/>
          <p:cNvSpPr/>
          <p:nvPr/>
        </p:nvSpPr>
        <p:spPr>
          <a:xfrm>
            <a:off x="960120" y="3337560"/>
            <a:ext cx="4572000" cy="1280160"/>
          </a:xfrm>
          <a:prstGeom prst="rect">
            <a:avLst/>
          </a:prstGeom>
          <a:noFill/>
          <a:ln/>
        </p:spPr>
        <p:txBody>
          <a:bodyPr wrap="square" lIns="0" tIns="0" rIns="0" bIns="0" rtlCol="0" anchor="ctr"/>
          <a:lstStyle/>
          <a:p>
            <a:pPr marL="0" indent="0">
              <a:lnSpc>
                <a:spcPts val="2000"/>
              </a:lnSpc>
              <a:buNone/>
            </a:pPr>
            <a:r>
              <a:rPr lang="en-US" sz="1350" dirty="0">
                <a:solidFill>
                  <a:srgbClr val="54657E"/>
                </a:solidFill>
                <a:latin typeface="Calibri" pitchFamily="34" charset="0"/>
                <a:ea typeface="Calibri" pitchFamily="34" charset="-122"/>
                <a:cs typeface="Calibri" pitchFamily="34" charset="-120"/>
              </a:rPr>
              <a:t>Empty bottles returned for their deposit cannot carry an RFID tag. The payfree gate is built entirely around reading tags. So every deposit return is a fight with the technology — by design, not by accident.</a:t>
            </a:r>
            <a:endParaRPr lang="en-US" sz="1350" dirty="0"/>
          </a:p>
        </p:txBody>
      </p:sp>
      <p:sp>
        <p:nvSpPr>
          <p:cNvPr id="10" name="Text 7"/>
          <p:cNvSpPr/>
          <p:nvPr/>
        </p:nvSpPr>
        <p:spPr>
          <a:xfrm>
            <a:off x="960120" y="4663440"/>
            <a:ext cx="4572000" cy="822960"/>
          </a:xfrm>
          <a:prstGeom prst="rect">
            <a:avLst/>
          </a:prstGeom>
          <a:noFill/>
          <a:ln/>
        </p:spPr>
        <p:txBody>
          <a:bodyPr wrap="square" lIns="0" tIns="0" rIns="0" bIns="0" rtlCol="0" anchor="ctr"/>
          <a:lstStyle/>
          <a:p>
            <a:pPr marL="0" indent="0">
              <a:lnSpc>
                <a:spcPts val="1800"/>
              </a:lnSpc>
              <a:buNone/>
            </a:pPr>
            <a:r>
              <a:rPr lang="en-US" sz="1300" b="1" dirty="0">
                <a:solidFill>
                  <a:srgbClr val="10294A"/>
                </a:solidFill>
                <a:latin typeface="Calibri" pitchFamily="34" charset="0"/>
                <a:ea typeface="Calibri" pitchFamily="34" charset="-122"/>
                <a:cs typeface="Calibri" pitchFamily="34" charset="-120"/>
              </a:rPr>
              <a:t>Three of the four highest-volume lines in the store are deposit returns. This is a daily occurrence, not an edge case.</a:t>
            </a:r>
            <a:endParaRPr lang="en-US" sz="1300" dirty="0"/>
          </a:p>
        </p:txBody>
      </p:sp>
      <p:sp>
        <p:nvSpPr>
          <p:cNvPr id="11" name="Shape 8"/>
          <p:cNvSpPr/>
          <p:nvPr/>
        </p:nvSpPr>
        <p:spPr>
          <a:xfrm>
            <a:off x="6035040" y="2377440"/>
            <a:ext cx="5486400" cy="3246120"/>
          </a:xfrm>
          <a:prstGeom prst="roundRect">
            <a:avLst>
              <a:gd name="adj" fmla="val 2535"/>
            </a:avLst>
          </a:prstGeom>
          <a:solidFill>
            <a:srgbClr val="10294A"/>
          </a:solidFill>
          <a:ln/>
          <a:effectLst>
            <a:outerShdw blurRad="88900" dist="25400" dir="5400000" algn="bl" rotWithShape="0">
              <a:srgbClr val="10294A">
                <a:alpha val="12000"/>
              </a:srgbClr>
            </a:outerShdw>
          </a:effectLst>
        </p:spPr>
        <p:txBody>
          <a:bodyPr/>
          <a:lstStyle/>
          <a:p>
            <a:endParaRPr lang="en-US"/>
          </a:p>
        </p:txBody>
      </p:sp>
      <p:sp>
        <p:nvSpPr>
          <p:cNvPr id="12" name="Text 9"/>
          <p:cNvSpPr/>
          <p:nvPr/>
        </p:nvSpPr>
        <p:spPr>
          <a:xfrm>
            <a:off x="6355080" y="2651760"/>
            <a:ext cx="4846320" cy="457200"/>
          </a:xfrm>
          <a:prstGeom prst="rect">
            <a:avLst/>
          </a:prstGeom>
          <a:noFill/>
          <a:ln/>
        </p:spPr>
        <p:txBody>
          <a:bodyPr wrap="square" lIns="0" tIns="0" rIns="0" bIns="0" rtlCol="0" anchor="ctr"/>
          <a:lstStyle/>
          <a:p>
            <a:pPr marL="0" indent="0">
              <a:buNone/>
            </a:pPr>
            <a:r>
              <a:rPr lang="en-US" sz="1800" b="1" dirty="0">
                <a:solidFill>
                  <a:srgbClr val="FFFFFF"/>
                </a:solidFill>
                <a:latin typeface="Bookman Old Style" pitchFamily="34" charset="0"/>
                <a:ea typeface="Bookman Old Style" pitchFamily="34" charset="-122"/>
                <a:cs typeface="Bookman Old Style" pitchFamily="34" charset="-120"/>
              </a:rPr>
              <a:t>Only visible once the data is joined up</a:t>
            </a:r>
            <a:endParaRPr lang="en-US" sz="1800" dirty="0"/>
          </a:p>
        </p:txBody>
      </p:sp>
      <p:sp>
        <p:nvSpPr>
          <p:cNvPr id="13" name="Text 10"/>
          <p:cNvSpPr/>
          <p:nvPr/>
        </p:nvSpPr>
        <p:spPr>
          <a:xfrm>
            <a:off x="6355080" y="3246120"/>
            <a:ext cx="2286000" cy="365760"/>
          </a:xfrm>
          <a:prstGeom prst="rect">
            <a:avLst/>
          </a:prstGeom>
          <a:noFill/>
          <a:ln/>
        </p:spPr>
        <p:txBody>
          <a:bodyPr wrap="square" lIns="0" tIns="0" rIns="0" bIns="0" rtlCol="0" anchor="ctr"/>
          <a:lstStyle/>
          <a:p>
            <a:pPr marL="0" indent="0">
              <a:buNone/>
            </a:pPr>
            <a:r>
              <a:rPr lang="en-US" sz="1300" b="1" dirty="0">
                <a:solidFill>
                  <a:srgbClr val="5B9BD5"/>
                </a:solidFill>
                <a:latin typeface="Calibri" pitchFamily="34" charset="0"/>
                <a:ea typeface="Calibri" pitchFamily="34" charset="-122"/>
                <a:cs typeface="Calibri" pitchFamily="34" charset="-120"/>
              </a:rPr>
              <a:t>Cancellation report</a:t>
            </a:r>
            <a:endParaRPr lang="en-US" sz="1300" dirty="0"/>
          </a:p>
        </p:txBody>
      </p:sp>
      <p:sp>
        <p:nvSpPr>
          <p:cNvPr id="14" name="Text 11"/>
          <p:cNvSpPr/>
          <p:nvPr/>
        </p:nvSpPr>
        <p:spPr>
          <a:xfrm>
            <a:off x="8686800" y="3246120"/>
            <a:ext cx="2560320" cy="365760"/>
          </a:xfrm>
          <a:prstGeom prst="rect">
            <a:avLst/>
          </a:prstGeom>
          <a:noFill/>
          <a:ln/>
        </p:spPr>
        <p:txBody>
          <a:bodyPr wrap="square" lIns="0" tIns="0" rIns="0" bIns="0" rtlCol="0" anchor="ctr"/>
          <a:lstStyle/>
          <a:p>
            <a:pPr marL="0" indent="0">
              <a:buNone/>
            </a:pPr>
            <a:r>
              <a:rPr lang="en-US" sz="1150" dirty="0">
                <a:solidFill>
                  <a:srgbClr val="D6E4F2"/>
                </a:solidFill>
                <a:latin typeface="Calibri" pitchFamily="34" charset="0"/>
                <a:ea typeface="Calibri" pitchFamily="34" charset="-122"/>
                <a:cs typeface="Calibri" pitchFamily="34" charset="-120"/>
              </a:rPr>
              <a:t>tells you Leergut is cancelled a lot</a:t>
            </a:r>
            <a:endParaRPr lang="en-US" sz="1150" dirty="0"/>
          </a:p>
        </p:txBody>
      </p:sp>
      <p:sp>
        <p:nvSpPr>
          <p:cNvPr id="15" name="Text 12"/>
          <p:cNvSpPr/>
          <p:nvPr/>
        </p:nvSpPr>
        <p:spPr>
          <a:xfrm>
            <a:off x="6355080" y="3813048"/>
            <a:ext cx="2286000" cy="365760"/>
          </a:xfrm>
          <a:prstGeom prst="rect">
            <a:avLst/>
          </a:prstGeom>
          <a:noFill/>
          <a:ln/>
        </p:spPr>
        <p:txBody>
          <a:bodyPr wrap="square" lIns="0" tIns="0" rIns="0" bIns="0" rtlCol="0" anchor="ctr"/>
          <a:lstStyle/>
          <a:p>
            <a:pPr marL="0" indent="0">
              <a:buNone/>
            </a:pPr>
            <a:r>
              <a:rPr lang="en-US" sz="1300" b="1" dirty="0">
                <a:solidFill>
                  <a:srgbClr val="5B9BD5"/>
                </a:solidFill>
                <a:latin typeface="Calibri" pitchFamily="34" charset="0"/>
                <a:ea typeface="Calibri" pitchFamily="34" charset="-122"/>
                <a:cs typeface="Calibri" pitchFamily="34" charset="-120"/>
              </a:rPr>
              <a:t>+ Article master</a:t>
            </a:r>
            <a:endParaRPr lang="en-US" sz="1300" dirty="0"/>
          </a:p>
        </p:txBody>
      </p:sp>
      <p:sp>
        <p:nvSpPr>
          <p:cNvPr id="16" name="Text 13"/>
          <p:cNvSpPr/>
          <p:nvPr/>
        </p:nvSpPr>
        <p:spPr>
          <a:xfrm>
            <a:off x="8686800" y="3813048"/>
            <a:ext cx="2560320" cy="365760"/>
          </a:xfrm>
          <a:prstGeom prst="rect">
            <a:avLst/>
          </a:prstGeom>
          <a:noFill/>
          <a:ln/>
        </p:spPr>
        <p:txBody>
          <a:bodyPr wrap="square" lIns="0" tIns="0" rIns="0" bIns="0" rtlCol="0" anchor="ctr"/>
          <a:lstStyle/>
          <a:p>
            <a:pPr marL="0" indent="0">
              <a:buNone/>
            </a:pPr>
            <a:r>
              <a:rPr lang="en-US" sz="1150" dirty="0">
                <a:solidFill>
                  <a:srgbClr val="D6E4F2"/>
                </a:solidFill>
                <a:latin typeface="Calibri" pitchFamily="34" charset="0"/>
                <a:ea typeface="Calibri" pitchFamily="34" charset="-122"/>
                <a:cs typeface="Calibri" pitchFamily="34" charset="-120"/>
              </a:rPr>
              <a:t>records whether a line is RFID-tagged</a:t>
            </a:r>
            <a:endParaRPr lang="en-US" sz="1150" dirty="0"/>
          </a:p>
        </p:txBody>
      </p:sp>
      <p:sp>
        <p:nvSpPr>
          <p:cNvPr id="17" name="Text 14"/>
          <p:cNvSpPr/>
          <p:nvPr/>
        </p:nvSpPr>
        <p:spPr>
          <a:xfrm>
            <a:off x="6355080" y="4379976"/>
            <a:ext cx="2286000" cy="365760"/>
          </a:xfrm>
          <a:prstGeom prst="rect">
            <a:avLst/>
          </a:prstGeom>
          <a:noFill/>
          <a:ln/>
        </p:spPr>
        <p:txBody>
          <a:bodyPr wrap="square" lIns="0" tIns="0" rIns="0" bIns="0" rtlCol="0" anchor="ctr"/>
          <a:lstStyle/>
          <a:p>
            <a:pPr marL="0" indent="0">
              <a:buNone/>
            </a:pPr>
            <a:r>
              <a:rPr lang="en-US" sz="1300" b="1" dirty="0">
                <a:solidFill>
                  <a:srgbClr val="5B9BD5"/>
                </a:solidFill>
                <a:latin typeface="Calibri" pitchFamily="34" charset="0"/>
                <a:ea typeface="Calibri" pitchFamily="34" charset="-122"/>
                <a:cs typeface="Calibri" pitchFamily="34" charset="-120"/>
              </a:rPr>
              <a:t>+ Terminal master</a:t>
            </a:r>
            <a:endParaRPr lang="en-US" sz="1300" dirty="0"/>
          </a:p>
        </p:txBody>
      </p:sp>
      <p:sp>
        <p:nvSpPr>
          <p:cNvPr id="18" name="Text 15"/>
          <p:cNvSpPr/>
          <p:nvPr/>
        </p:nvSpPr>
        <p:spPr>
          <a:xfrm>
            <a:off x="8686800" y="4379976"/>
            <a:ext cx="2560320" cy="365760"/>
          </a:xfrm>
          <a:prstGeom prst="rect">
            <a:avLst/>
          </a:prstGeom>
          <a:noFill/>
          <a:ln/>
        </p:spPr>
        <p:txBody>
          <a:bodyPr wrap="square" lIns="0" tIns="0" rIns="0" bIns="0" rtlCol="0" anchor="ctr"/>
          <a:lstStyle/>
          <a:p>
            <a:pPr marL="0" indent="0">
              <a:buNone/>
            </a:pPr>
            <a:r>
              <a:rPr lang="en-US" sz="1150" dirty="0">
                <a:solidFill>
                  <a:srgbClr val="D6E4F2"/>
                </a:solidFill>
                <a:latin typeface="Calibri" pitchFamily="34" charset="0"/>
                <a:ea typeface="Calibri" pitchFamily="34" charset="-122"/>
                <a:cs typeface="Calibri" pitchFamily="34" charset="-120"/>
              </a:rPr>
              <a:t>records whether a lane is staffed</a:t>
            </a:r>
            <a:endParaRPr lang="en-US" sz="1150" dirty="0"/>
          </a:p>
        </p:txBody>
      </p:sp>
      <p:sp>
        <p:nvSpPr>
          <p:cNvPr id="19" name="Text 16"/>
          <p:cNvSpPr/>
          <p:nvPr/>
        </p:nvSpPr>
        <p:spPr>
          <a:xfrm>
            <a:off x="6355080" y="4946904"/>
            <a:ext cx="2286000" cy="365760"/>
          </a:xfrm>
          <a:prstGeom prst="rect">
            <a:avLst/>
          </a:prstGeom>
          <a:noFill/>
          <a:ln/>
        </p:spPr>
        <p:txBody>
          <a:bodyPr wrap="square" lIns="0" tIns="0" rIns="0" bIns="0" rtlCol="0" anchor="ctr"/>
          <a:lstStyle/>
          <a:p>
            <a:pPr marL="0" indent="0">
              <a:buNone/>
            </a:pPr>
            <a:r>
              <a:rPr lang="en-US" sz="1300" b="1" dirty="0">
                <a:solidFill>
                  <a:srgbClr val="DE0024"/>
                </a:solidFill>
                <a:latin typeface="Calibri" pitchFamily="34" charset="0"/>
                <a:ea typeface="Calibri" pitchFamily="34" charset="-122"/>
                <a:cs typeface="Calibri" pitchFamily="34" charset="-120"/>
              </a:rPr>
              <a:t>= Diagnosis</a:t>
            </a:r>
            <a:endParaRPr lang="en-US" sz="1300" dirty="0"/>
          </a:p>
        </p:txBody>
      </p:sp>
      <p:sp>
        <p:nvSpPr>
          <p:cNvPr id="20" name="Text 17"/>
          <p:cNvSpPr/>
          <p:nvPr/>
        </p:nvSpPr>
        <p:spPr>
          <a:xfrm>
            <a:off x="8686800" y="4946904"/>
            <a:ext cx="2560320" cy="365760"/>
          </a:xfrm>
          <a:prstGeom prst="rect">
            <a:avLst/>
          </a:prstGeom>
          <a:noFill/>
          <a:ln/>
        </p:spPr>
        <p:txBody>
          <a:bodyPr wrap="square" lIns="0" tIns="0" rIns="0" bIns="0" rtlCol="0" anchor="ctr"/>
          <a:lstStyle/>
          <a:p>
            <a:pPr marL="0" indent="0">
              <a:buNone/>
            </a:pPr>
            <a:r>
              <a:rPr lang="en-US" sz="1150" dirty="0">
                <a:solidFill>
                  <a:srgbClr val="D6E4F2"/>
                </a:solidFill>
                <a:latin typeface="Calibri" pitchFamily="34" charset="0"/>
                <a:ea typeface="Calibri" pitchFamily="34" charset="-122"/>
                <a:cs typeface="Calibri" pitchFamily="34" charset="-120"/>
              </a:rPr>
              <a:t>a structural gate problem worth fixing</a:t>
            </a:r>
            <a:endParaRPr lang="en-US" sz="1150" dirty="0"/>
          </a:p>
        </p:txBody>
      </p:sp>
      <p:sp>
        <p:nvSpPr>
          <p:cNvPr id="21" name="Text 18"/>
          <p:cNvSpPr/>
          <p:nvPr/>
        </p:nvSpPr>
        <p:spPr>
          <a:xfrm>
            <a:off x="11414455" y="6400800"/>
            <a:ext cx="457200" cy="274320"/>
          </a:xfrm>
          <a:prstGeom prst="rect">
            <a:avLst/>
          </a:prstGeom>
          <a:noFill/>
          <a:ln/>
        </p:spPr>
        <p:txBody>
          <a:bodyPr wrap="square" rtlCol="0" anchor="ctr"/>
          <a:lstStyle/>
          <a:p>
            <a:pPr marL="0" indent="0" algn="r">
              <a:buNone/>
            </a:pPr>
            <a:r>
              <a:rPr lang="en-US" sz="900" dirty="0">
                <a:solidFill>
                  <a:srgbClr val="A6B6CC"/>
                </a:solidFill>
                <a:latin typeface="Calibri" pitchFamily="34" charset="0"/>
                <a:ea typeface="Calibri" pitchFamily="34" charset="-122"/>
                <a:cs typeface="Calibri" pitchFamily="34" charset="-120"/>
              </a:rPr>
              <a:t>13</a:t>
            </a:r>
            <a:endParaRPr lang="en-US" sz="900" dirty="0"/>
          </a:p>
        </p:txBody>
      </p:sp>
      <p:pic>
        <p:nvPicPr>
          <p:cNvPr id="22" name="Image 1" descr="/home/claude/logo_wide_trim.png"/>
          <p:cNvPicPr>
            <a:picLocks noChangeAspect="1"/>
          </p:cNvPicPr>
          <p:nvPr/>
        </p:nvPicPr>
        <p:blipFill>
          <a:blip r:embed="rId4"/>
          <a:stretch>
            <a:fillRect/>
          </a:stretch>
        </p:blipFill>
        <p:spPr>
          <a:xfrm>
            <a:off x="457200" y="6345936"/>
            <a:ext cx="1234440" cy="24075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294A"/>
        </a:solidFill>
        <a:effectLst/>
      </p:bgPr>
    </p:bg>
    <p:spTree>
      <p:nvGrpSpPr>
        <p:cNvPr id="1" name=""/>
        <p:cNvGrpSpPr/>
        <p:nvPr/>
      </p:nvGrpSpPr>
      <p:grpSpPr>
        <a:xfrm>
          <a:off x="0" y="0"/>
          <a:ext cx="0" cy="0"/>
          <a:chOff x="0" y="0"/>
          <a:chExt cx="0" cy="0"/>
        </a:xfrm>
      </p:grpSpPr>
      <p:sp>
        <p:nvSpPr>
          <p:cNvPr id="2" name="Text 0"/>
          <p:cNvSpPr/>
          <p:nvPr/>
        </p:nvSpPr>
        <p:spPr>
          <a:xfrm>
            <a:off x="685800" y="502920"/>
            <a:ext cx="7315200" cy="274320"/>
          </a:xfrm>
          <a:prstGeom prst="rect">
            <a:avLst/>
          </a:prstGeom>
          <a:noFill/>
          <a:ln/>
        </p:spPr>
        <p:txBody>
          <a:bodyPr wrap="square" lIns="0" tIns="0" rIns="0" bIns="0" rtlCol="0" anchor="ctr"/>
          <a:lstStyle/>
          <a:p>
            <a:pPr marL="0" indent="0">
              <a:buNone/>
            </a:pPr>
            <a:r>
              <a:rPr lang="en-US" sz="1200" b="1" kern="0" spc="300" dirty="0">
                <a:solidFill>
                  <a:srgbClr val="5B9BD5"/>
                </a:solidFill>
                <a:latin typeface="Calibri" pitchFamily="34" charset="0"/>
                <a:ea typeface="Calibri" pitchFamily="34" charset="-122"/>
                <a:cs typeface="Calibri" pitchFamily="34" charset="-120"/>
              </a:rPr>
              <a:t>DEPLOYMENT</a:t>
            </a:r>
            <a:endParaRPr lang="en-US" sz="1200" dirty="0"/>
          </a:p>
        </p:txBody>
      </p:sp>
      <p:sp>
        <p:nvSpPr>
          <p:cNvPr id="3" name="Text 1"/>
          <p:cNvSpPr/>
          <p:nvPr/>
        </p:nvSpPr>
        <p:spPr>
          <a:xfrm>
            <a:off x="658368" y="822960"/>
            <a:ext cx="10789920" cy="548640"/>
          </a:xfrm>
          <a:prstGeom prst="rect">
            <a:avLst/>
          </a:prstGeom>
          <a:noFill/>
          <a:ln/>
        </p:spPr>
        <p:txBody>
          <a:bodyPr wrap="square" lIns="0" tIns="0" rIns="0" bIns="0" rtlCol="0" anchor="ctr"/>
          <a:lstStyle/>
          <a:p>
            <a:pPr marL="0" indent="0">
              <a:buNone/>
            </a:pPr>
            <a:r>
              <a:rPr lang="en-US" sz="2900" b="1" dirty="0">
                <a:solidFill>
                  <a:srgbClr val="FFFFFF"/>
                </a:solidFill>
                <a:latin typeface="Bookman Old Style" pitchFamily="34" charset="0"/>
                <a:ea typeface="Bookman Old Style" pitchFamily="34" charset="-122"/>
                <a:cs typeface="Bookman Old Style" pitchFamily="34" charset="-120"/>
              </a:rPr>
              <a:t>Deployed to SAP HANA Cloud — and exercised</a:t>
            </a:r>
            <a:endParaRPr lang="en-US" sz="2900" dirty="0"/>
          </a:p>
        </p:txBody>
      </p:sp>
      <p:sp>
        <p:nvSpPr>
          <p:cNvPr id="4" name="Shape 2"/>
          <p:cNvSpPr/>
          <p:nvPr/>
        </p:nvSpPr>
        <p:spPr>
          <a:xfrm>
            <a:off x="685800" y="1691640"/>
            <a:ext cx="2084832" cy="1188720"/>
          </a:xfrm>
          <a:prstGeom prst="roundRect">
            <a:avLst>
              <a:gd name="adj" fmla="val 6923"/>
            </a:avLst>
          </a:prstGeom>
          <a:solidFill>
            <a:srgbClr val="183A61"/>
          </a:solidFill>
          <a:ln w="12700">
            <a:solidFill>
              <a:srgbClr val="1E578D"/>
            </a:solidFill>
            <a:prstDash val="solid"/>
          </a:ln>
          <a:effectLst>
            <a:outerShdw blurRad="88900" dist="25400" dir="5400000" algn="bl" rotWithShape="0">
              <a:srgbClr val="10294A">
                <a:alpha val="12000"/>
              </a:srgbClr>
            </a:outerShdw>
          </a:effectLst>
        </p:spPr>
        <p:txBody>
          <a:bodyPr/>
          <a:lstStyle/>
          <a:p>
            <a:endParaRPr lang="en-US"/>
          </a:p>
        </p:txBody>
      </p:sp>
      <p:sp>
        <p:nvSpPr>
          <p:cNvPr id="5" name="Text 3"/>
          <p:cNvSpPr/>
          <p:nvPr/>
        </p:nvSpPr>
        <p:spPr>
          <a:xfrm>
            <a:off x="685800" y="1828800"/>
            <a:ext cx="2084832" cy="548640"/>
          </a:xfrm>
          <a:prstGeom prst="rect">
            <a:avLst/>
          </a:prstGeom>
          <a:noFill/>
          <a:ln/>
        </p:spPr>
        <p:txBody>
          <a:bodyPr wrap="square" lIns="0" tIns="0" rIns="0" bIns="0" rtlCol="0" anchor="ctr"/>
          <a:lstStyle/>
          <a:p>
            <a:pPr marL="0" indent="0" algn="ctr">
              <a:buNone/>
            </a:pPr>
            <a:r>
              <a:rPr lang="en-US" sz="2600" b="1" dirty="0">
                <a:solidFill>
                  <a:srgbClr val="5B9BD5"/>
                </a:solidFill>
                <a:latin typeface="Bookman Old Style" pitchFamily="34" charset="0"/>
                <a:ea typeface="Bookman Old Style" pitchFamily="34" charset="-122"/>
                <a:cs typeface="Bookman Old Style" pitchFamily="34" charset="-120"/>
              </a:rPr>
              <a:t>131</a:t>
            </a:r>
            <a:endParaRPr lang="en-US" sz="2600" dirty="0"/>
          </a:p>
        </p:txBody>
      </p:sp>
      <p:sp>
        <p:nvSpPr>
          <p:cNvPr id="6" name="Text 4"/>
          <p:cNvSpPr/>
          <p:nvPr/>
        </p:nvSpPr>
        <p:spPr>
          <a:xfrm>
            <a:off x="685800" y="2377440"/>
            <a:ext cx="2084832" cy="365760"/>
          </a:xfrm>
          <a:prstGeom prst="rect">
            <a:avLst/>
          </a:prstGeom>
          <a:noFill/>
          <a:ln/>
        </p:spPr>
        <p:txBody>
          <a:bodyPr wrap="square" lIns="0" tIns="0" rIns="0" bIns="0" rtlCol="0" anchor="ctr"/>
          <a:lstStyle/>
          <a:p>
            <a:pPr marL="0" indent="0" algn="ctr">
              <a:buNone/>
            </a:pPr>
            <a:r>
              <a:rPr lang="en-US" sz="900" kern="0" spc="100" dirty="0">
                <a:solidFill>
                  <a:srgbClr val="A6B6CC"/>
                </a:solidFill>
                <a:latin typeface="Calibri" pitchFamily="34" charset="0"/>
                <a:ea typeface="Calibri" pitchFamily="34" charset="-122"/>
                <a:cs typeface="Calibri" pitchFamily="34" charset="-120"/>
              </a:rPr>
              <a:t>ARTIFACTS DEPLOYED</a:t>
            </a:r>
            <a:endParaRPr lang="en-US" sz="900" dirty="0"/>
          </a:p>
        </p:txBody>
      </p:sp>
      <p:sp>
        <p:nvSpPr>
          <p:cNvPr id="7" name="Shape 5"/>
          <p:cNvSpPr/>
          <p:nvPr/>
        </p:nvSpPr>
        <p:spPr>
          <a:xfrm>
            <a:off x="2907792" y="1691640"/>
            <a:ext cx="2084832" cy="1188720"/>
          </a:xfrm>
          <a:prstGeom prst="roundRect">
            <a:avLst>
              <a:gd name="adj" fmla="val 6923"/>
            </a:avLst>
          </a:prstGeom>
          <a:solidFill>
            <a:srgbClr val="183A61"/>
          </a:solidFill>
          <a:ln w="12700">
            <a:solidFill>
              <a:srgbClr val="1E578D"/>
            </a:solidFill>
            <a:prstDash val="solid"/>
          </a:ln>
          <a:effectLst>
            <a:outerShdw blurRad="88900" dist="25400" dir="5400000" algn="bl" rotWithShape="0">
              <a:srgbClr val="10294A">
                <a:alpha val="12000"/>
              </a:srgbClr>
            </a:outerShdw>
          </a:effectLst>
        </p:spPr>
        <p:txBody>
          <a:bodyPr/>
          <a:lstStyle/>
          <a:p>
            <a:endParaRPr lang="en-US"/>
          </a:p>
        </p:txBody>
      </p:sp>
      <p:sp>
        <p:nvSpPr>
          <p:cNvPr id="8" name="Text 6"/>
          <p:cNvSpPr/>
          <p:nvPr/>
        </p:nvSpPr>
        <p:spPr>
          <a:xfrm>
            <a:off x="2907792" y="1828800"/>
            <a:ext cx="2084832" cy="548640"/>
          </a:xfrm>
          <a:prstGeom prst="rect">
            <a:avLst/>
          </a:prstGeom>
          <a:noFill/>
          <a:ln/>
        </p:spPr>
        <p:txBody>
          <a:bodyPr wrap="square" lIns="0" tIns="0" rIns="0" bIns="0" rtlCol="0" anchor="ctr"/>
          <a:lstStyle/>
          <a:p>
            <a:pPr marL="0" indent="0" algn="ctr">
              <a:buNone/>
            </a:pPr>
            <a:r>
              <a:rPr lang="en-US" sz="2600" b="1" dirty="0">
                <a:solidFill>
                  <a:srgbClr val="5B9BD5"/>
                </a:solidFill>
                <a:latin typeface="Bookman Old Style" pitchFamily="34" charset="0"/>
                <a:ea typeface="Bookman Old Style" pitchFamily="34" charset="-122"/>
                <a:cs typeface="Bookman Old Style" pitchFamily="34" charset="-120"/>
              </a:rPr>
              <a:t>0</a:t>
            </a:r>
            <a:endParaRPr lang="en-US" sz="2600" dirty="0"/>
          </a:p>
        </p:txBody>
      </p:sp>
      <p:sp>
        <p:nvSpPr>
          <p:cNvPr id="9" name="Text 7"/>
          <p:cNvSpPr/>
          <p:nvPr/>
        </p:nvSpPr>
        <p:spPr>
          <a:xfrm>
            <a:off x="2907792" y="2377440"/>
            <a:ext cx="2084832" cy="365760"/>
          </a:xfrm>
          <a:prstGeom prst="rect">
            <a:avLst/>
          </a:prstGeom>
          <a:noFill/>
          <a:ln/>
        </p:spPr>
        <p:txBody>
          <a:bodyPr wrap="square" lIns="0" tIns="0" rIns="0" bIns="0" rtlCol="0" anchor="ctr"/>
          <a:lstStyle/>
          <a:p>
            <a:pPr marL="0" indent="0" algn="ctr">
              <a:buNone/>
            </a:pPr>
            <a:r>
              <a:rPr lang="en-US" sz="900" kern="0" spc="100" dirty="0">
                <a:solidFill>
                  <a:srgbClr val="A6B6CC"/>
                </a:solidFill>
                <a:latin typeface="Calibri" pitchFamily="34" charset="0"/>
                <a:ea typeface="Calibri" pitchFamily="34" charset="-122"/>
                <a:cs typeface="Calibri" pitchFamily="34" charset="-120"/>
              </a:rPr>
              <a:t>WARNINGS</a:t>
            </a:r>
            <a:endParaRPr lang="en-US" sz="900" dirty="0"/>
          </a:p>
        </p:txBody>
      </p:sp>
      <p:sp>
        <p:nvSpPr>
          <p:cNvPr id="10" name="Shape 8"/>
          <p:cNvSpPr/>
          <p:nvPr/>
        </p:nvSpPr>
        <p:spPr>
          <a:xfrm>
            <a:off x="5129784" y="1691640"/>
            <a:ext cx="2084832" cy="1188720"/>
          </a:xfrm>
          <a:prstGeom prst="roundRect">
            <a:avLst>
              <a:gd name="adj" fmla="val 6923"/>
            </a:avLst>
          </a:prstGeom>
          <a:solidFill>
            <a:srgbClr val="183A61"/>
          </a:solidFill>
          <a:ln w="12700">
            <a:solidFill>
              <a:srgbClr val="1E578D"/>
            </a:solidFill>
            <a:prstDash val="solid"/>
          </a:ln>
          <a:effectLst>
            <a:outerShdw blurRad="88900" dist="25400" dir="5400000" algn="bl" rotWithShape="0">
              <a:srgbClr val="10294A">
                <a:alpha val="12000"/>
              </a:srgbClr>
            </a:outerShdw>
          </a:effectLst>
        </p:spPr>
        <p:txBody>
          <a:bodyPr/>
          <a:lstStyle/>
          <a:p>
            <a:endParaRPr lang="en-US"/>
          </a:p>
        </p:txBody>
      </p:sp>
      <p:sp>
        <p:nvSpPr>
          <p:cNvPr id="11" name="Text 9"/>
          <p:cNvSpPr/>
          <p:nvPr/>
        </p:nvSpPr>
        <p:spPr>
          <a:xfrm>
            <a:off x="5129784" y="1828800"/>
            <a:ext cx="2084832" cy="548640"/>
          </a:xfrm>
          <a:prstGeom prst="rect">
            <a:avLst/>
          </a:prstGeom>
          <a:noFill/>
          <a:ln/>
        </p:spPr>
        <p:txBody>
          <a:bodyPr wrap="square" lIns="0" tIns="0" rIns="0" bIns="0" rtlCol="0" anchor="ctr"/>
          <a:lstStyle/>
          <a:p>
            <a:pPr marL="0" indent="0" algn="ctr">
              <a:buNone/>
            </a:pPr>
            <a:r>
              <a:rPr lang="en-US" sz="2600" b="1" dirty="0">
                <a:solidFill>
                  <a:srgbClr val="5B9BD5"/>
                </a:solidFill>
                <a:latin typeface="Bookman Old Style" pitchFamily="34" charset="0"/>
                <a:ea typeface="Bookman Old Style" pitchFamily="34" charset="-122"/>
                <a:cs typeface="Bookman Old Style" pitchFamily="34" charset="-120"/>
              </a:rPr>
              <a:t>14</a:t>
            </a:r>
            <a:endParaRPr lang="en-US" sz="2600" dirty="0"/>
          </a:p>
        </p:txBody>
      </p:sp>
      <p:sp>
        <p:nvSpPr>
          <p:cNvPr id="12" name="Text 10"/>
          <p:cNvSpPr/>
          <p:nvPr/>
        </p:nvSpPr>
        <p:spPr>
          <a:xfrm>
            <a:off x="5129784" y="2377440"/>
            <a:ext cx="2084832" cy="365760"/>
          </a:xfrm>
          <a:prstGeom prst="rect">
            <a:avLst/>
          </a:prstGeom>
          <a:noFill/>
          <a:ln/>
        </p:spPr>
        <p:txBody>
          <a:bodyPr wrap="square" lIns="0" tIns="0" rIns="0" bIns="0" rtlCol="0" anchor="ctr"/>
          <a:lstStyle/>
          <a:p>
            <a:pPr marL="0" indent="0" algn="ctr">
              <a:buNone/>
            </a:pPr>
            <a:r>
              <a:rPr lang="en-US" sz="900" kern="0" spc="100" dirty="0">
                <a:solidFill>
                  <a:srgbClr val="A6B6CC"/>
                </a:solidFill>
                <a:latin typeface="Calibri" pitchFamily="34" charset="0"/>
                <a:ea typeface="Calibri" pitchFamily="34" charset="-122"/>
                <a:cs typeface="Calibri" pitchFamily="34" charset="-120"/>
              </a:rPr>
              <a:t>TABLES LOADED</a:t>
            </a:r>
            <a:endParaRPr lang="en-US" sz="900" dirty="0"/>
          </a:p>
        </p:txBody>
      </p:sp>
      <p:sp>
        <p:nvSpPr>
          <p:cNvPr id="13" name="Shape 11"/>
          <p:cNvSpPr/>
          <p:nvPr/>
        </p:nvSpPr>
        <p:spPr>
          <a:xfrm>
            <a:off x="7351776" y="1691640"/>
            <a:ext cx="2084832" cy="1188720"/>
          </a:xfrm>
          <a:prstGeom prst="roundRect">
            <a:avLst>
              <a:gd name="adj" fmla="val 6923"/>
            </a:avLst>
          </a:prstGeom>
          <a:solidFill>
            <a:srgbClr val="183A61"/>
          </a:solidFill>
          <a:ln w="12700">
            <a:solidFill>
              <a:srgbClr val="1E578D"/>
            </a:solidFill>
            <a:prstDash val="solid"/>
          </a:ln>
          <a:effectLst>
            <a:outerShdw blurRad="88900" dist="25400" dir="5400000" algn="bl" rotWithShape="0">
              <a:srgbClr val="10294A">
                <a:alpha val="12000"/>
              </a:srgbClr>
            </a:outerShdw>
          </a:effectLst>
        </p:spPr>
        <p:txBody>
          <a:bodyPr/>
          <a:lstStyle/>
          <a:p>
            <a:endParaRPr lang="en-US"/>
          </a:p>
        </p:txBody>
      </p:sp>
      <p:sp>
        <p:nvSpPr>
          <p:cNvPr id="14" name="Text 12"/>
          <p:cNvSpPr/>
          <p:nvPr/>
        </p:nvSpPr>
        <p:spPr>
          <a:xfrm>
            <a:off x="7351776" y="1828800"/>
            <a:ext cx="2084832" cy="548640"/>
          </a:xfrm>
          <a:prstGeom prst="rect">
            <a:avLst/>
          </a:prstGeom>
          <a:noFill/>
          <a:ln/>
        </p:spPr>
        <p:txBody>
          <a:bodyPr wrap="square" lIns="0" tIns="0" rIns="0" bIns="0" rtlCol="0" anchor="ctr"/>
          <a:lstStyle/>
          <a:p>
            <a:pPr marL="0" indent="0" algn="ctr">
              <a:buNone/>
            </a:pPr>
            <a:r>
              <a:rPr lang="en-US" sz="2600" b="1" dirty="0">
                <a:solidFill>
                  <a:srgbClr val="5B9BD5"/>
                </a:solidFill>
                <a:latin typeface="Bookman Old Style" pitchFamily="34" charset="0"/>
                <a:ea typeface="Bookman Old Style" pitchFamily="34" charset="-122"/>
                <a:cs typeface="Bookman Old Style" pitchFamily="34" charset="-120"/>
              </a:rPr>
              <a:t>120,324</a:t>
            </a:r>
            <a:endParaRPr lang="en-US" sz="2600" dirty="0"/>
          </a:p>
        </p:txBody>
      </p:sp>
      <p:sp>
        <p:nvSpPr>
          <p:cNvPr id="15" name="Text 13"/>
          <p:cNvSpPr/>
          <p:nvPr/>
        </p:nvSpPr>
        <p:spPr>
          <a:xfrm>
            <a:off x="7351776" y="2377440"/>
            <a:ext cx="2084832" cy="365760"/>
          </a:xfrm>
          <a:prstGeom prst="rect">
            <a:avLst/>
          </a:prstGeom>
          <a:noFill/>
          <a:ln/>
        </p:spPr>
        <p:txBody>
          <a:bodyPr wrap="square" lIns="0" tIns="0" rIns="0" bIns="0" rtlCol="0" anchor="ctr"/>
          <a:lstStyle/>
          <a:p>
            <a:pPr marL="0" indent="0" algn="ctr">
              <a:buNone/>
            </a:pPr>
            <a:r>
              <a:rPr lang="en-US" sz="900" kern="0" spc="100" dirty="0">
                <a:solidFill>
                  <a:srgbClr val="A6B6CC"/>
                </a:solidFill>
                <a:latin typeface="Calibri" pitchFamily="34" charset="0"/>
                <a:ea typeface="Calibri" pitchFamily="34" charset="-122"/>
                <a:cs typeface="Calibri" pitchFamily="34" charset="-120"/>
              </a:rPr>
              <a:t>ROWS</a:t>
            </a:r>
            <a:endParaRPr lang="en-US" sz="900" dirty="0"/>
          </a:p>
        </p:txBody>
      </p:sp>
      <p:sp>
        <p:nvSpPr>
          <p:cNvPr id="16" name="Shape 14"/>
          <p:cNvSpPr/>
          <p:nvPr/>
        </p:nvSpPr>
        <p:spPr>
          <a:xfrm>
            <a:off x="9573768" y="1691640"/>
            <a:ext cx="2084832" cy="1188720"/>
          </a:xfrm>
          <a:prstGeom prst="roundRect">
            <a:avLst>
              <a:gd name="adj" fmla="val 6923"/>
            </a:avLst>
          </a:prstGeom>
          <a:solidFill>
            <a:srgbClr val="183A61"/>
          </a:solidFill>
          <a:ln w="12700">
            <a:solidFill>
              <a:srgbClr val="1E578D"/>
            </a:solidFill>
            <a:prstDash val="solid"/>
          </a:ln>
          <a:effectLst>
            <a:outerShdw blurRad="88900" dist="25400" dir="5400000" algn="bl" rotWithShape="0">
              <a:srgbClr val="10294A">
                <a:alpha val="12000"/>
              </a:srgbClr>
            </a:outerShdw>
          </a:effectLst>
        </p:spPr>
        <p:txBody>
          <a:bodyPr/>
          <a:lstStyle/>
          <a:p>
            <a:endParaRPr lang="en-US"/>
          </a:p>
        </p:txBody>
      </p:sp>
      <p:sp>
        <p:nvSpPr>
          <p:cNvPr id="17" name="Text 15"/>
          <p:cNvSpPr/>
          <p:nvPr/>
        </p:nvSpPr>
        <p:spPr>
          <a:xfrm>
            <a:off x="9573768" y="1828800"/>
            <a:ext cx="2084832" cy="548640"/>
          </a:xfrm>
          <a:prstGeom prst="rect">
            <a:avLst/>
          </a:prstGeom>
          <a:noFill/>
          <a:ln/>
        </p:spPr>
        <p:txBody>
          <a:bodyPr wrap="square" lIns="0" tIns="0" rIns="0" bIns="0" rtlCol="0" anchor="ctr"/>
          <a:lstStyle/>
          <a:p>
            <a:pPr marL="0" indent="0" algn="ctr">
              <a:buNone/>
            </a:pPr>
            <a:r>
              <a:rPr lang="en-US" sz="2600" b="1" dirty="0">
                <a:solidFill>
                  <a:srgbClr val="5B9BD5"/>
                </a:solidFill>
                <a:latin typeface="Bookman Old Style" pitchFamily="34" charset="0"/>
                <a:ea typeface="Bookman Old Style" pitchFamily="34" charset="-122"/>
                <a:cs typeface="Bookman Old Style" pitchFamily="34" charset="-120"/>
              </a:rPr>
              <a:t>5.9s</a:t>
            </a:r>
            <a:endParaRPr lang="en-US" sz="2600" dirty="0"/>
          </a:p>
        </p:txBody>
      </p:sp>
      <p:sp>
        <p:nvSpPr>
          <p:cNvPr id="18" name="Text 16"/>
          <p:cNvSpPr/>
          <p:nvPr/>
        </p:nvSpPr>
        <p:spPr>
          <a:xfrm>
            <a:off x="9573768" y="2377440"/>
            <a:ext cx="2084832" cy="365760"/>
          </a:xfrm>
          <a:prstGeom prst="rect">
            <a:avLst/>
          </a:prstGeom>
          <a:noFill/>
          <a:ln/>
        </p:spPr>
        <p:txBody>
          <a:bodyPr wrap="square" lIns="0" tIns="0" rIns="0" bIns="0" rtlCol="0" anchor="ctr"/>
          <a:lstStyle/>
          <a:p>
            <a:pPr marL="0" indent="0" algn="ctr">
              <a:buNone/>
            </a:pPr>
            <a:r>
              <a:rPr lang="en-US" sz="900" kern="0" spc="100" dirty="0">
                <a:solidFill>
                  <a:srgbClr val="A6B6CC"/>
                </a:solidFill>
                <a:latin typeface="Calibri" pitchFamily="34" charset="0"/>
                <a:ea typeface="Calibri" pitchFamily="34" charset="-122"/>
                <a:cs typeface="Calibri" pitchFamily="34" charset="-120"/>
              </a:rPr>
              <a:t>DEPLOY TIME</a:t>
            </a:r>
            <a:endParaRPr lang="en-US" sz="900" dirty="0"/>
          </a:p>
        </p:txBody>
      </p:sp>
      <p:sp>
        <p:nvSpPr>
          <p:cNvPr id="19" name="Shape 17"/>
          <p:cNvSpPr/>
          <p:nvPr/>
        </p:nvSpPr>
        <p:spPr>
          <a:xfrm>
            <a:off x="685800" y="3108960"/>
            <a:ext cx="5349240" cy="2560320"/>
          </a:xfrm>
          <a:prstGeom prst="roundRect">
            <a:avLst>
              <a:gd name="adj" fmla="val 3214"/>
            </a:avLst>
          </a:prstGeom>
          <a:solidFill>
            <a:srgbClr val="183A61"/>
          </a:solidFill>
          <a:ln w="12700">
            <a:solidFill>
              <a:srgbClr val="1E578D"/>
            </a:solidFill>
            <a:prstDash val="solid"/>
          </a:ln>
          <a:effectLst>
            <a:outerShdw blurRad="88900" dist="25400" dir="5400000" algn="bl" rotWithShape="0">
              <a:srgbClr val="10294A">
                <a:alpha val="12000"/>
              </a:srgbClr>
            </a:outerShdw>
          </a:effectLst>
        </p:spPr>
        <p:txBody>
          <a:bodyPr/>
          <a:lstStyle/>
          <a:p>
            <a:endParaRPr lang="en-US"/>
          </a:p>
        </p:txBody>
      </p:sp>
      <p:sp>
        <p:nvSpPr>
          <p:cNvPr id="20" name="Text 18"/>
          <p:cNvSpPr/>
          <p:nvPr/>
        </p:nvSpPr>
        <p:spPr>
          <a:xfrm>
            <a:off x="960120" y="3337560"/>
            <a:ext cx="4572000" cy="365760"/>
          </a:xfrm>
          <a:prstGeom prst="rect">
            <a:avLst/>
          </a:prstGeom>
          <a:noFill/>
          <a:ln/>
        </p:spPr>
        <p:txBody>
          <a:bodyPr wrap="square" lIns="0" tIns="0" rIns="0" bIns="0" rtlCol="0" anchor="ctr"/>
          <a:lstStyle/>
          <a:p>
            <a:pPr marL="0" indent="0">
              <a:buNone/>
            </a:pPr>
            <a:r>
              <a:rPr lang="en-US" sz="1500" b="1" dirty="0">
                <a:solidFill>
                  <a:srgbClr val="5B9BD5"/>
                </a:solidFill>
                <a:latin typeface="Calibri" pitchFamily="34" charset="0"/>
                <a:ea typeface="Calibri" pitchFamily="34" charset="-122"/>
                <a:cs typeface="Calibri" pitchFamily="34" charset="-120"/>
              </a:rPr>
              <a:t>What it proved</a:t>
            </a:r>
            <a:endParaRPr lang="en-US" sz="1500" dirty="0"/>
          </a:p>
        </p:txBody>
      </p:sp>
      <p:pic>
        <p:nvPicPr>
          <p:cNvPr id="21" name="Image 0" descr="preencoded.png"/>
          <p:cNvPicPr>
            <a:picLocks noChangeAspect="1"/>
          </p:cNvPicPr>
          <p:nvPr/>
        </p:nvPicPr>
        <p:blipFill>
          <a:blip r:embed="rId3"/>
          <a:stretch>
            <a:fillRect/>
          </a:stretch>
        </p:blipFill>
        <p:spPr>
          <a:xfrm>
            <a:off x="960120" y="3767328"/>
            <a:ext cx="237744" cy="237744"/>
          </a:xfrm>
          <a:prstGeom prst="rect">
            <a:avLst/>
          </a:prstGeom>
        </p:spPr>
      </p:pic>
      <p:sp>
        <p:nvSpPr>
          <p:cNvPr id="22" name="Text 19"/>
          <p:cNvSpPr/>
          <p:nvPr/>
        </p:nvSpPr>
        <p:spPr>
          <a:xfrm>
            <a:off x="1298448" y="3703320"/>
            <a:ext cx="4526280" cy="457200"/>
          </a:xfrm>
          <a:prstGeom prst="rect">
            <a:avLst/>
          </a:prstGeom>
          <a:noFill/>
          <a:ln/>
        </p:spPr>
        <p:txBody>
          <a:bodyPr wrap="square" lIns="0" tIns="0" rIns="0" bIns="0" rtlCol="0" anchor="t"/>
          <a:lstStyle/>
          <a:p>
            <a:pPr marL="0" indent="0">
              <a:lnSpc>
                <a:spcPts val="1400"/>
              </a:lnSpc>
              <a:buNone/>
            </a:pPr>
            <a:r>
              <a:rPr lang="en-US" sz="1150" dirty="0">
                <a:solidFill>
                  <a:srgbClr val="D6E4F2"/>
                </a:solidFill>
                <a:latin typeface="Calibri" pitchFamily="34" charset="0"/>
                <a:ea typeface="Calibri" pitchFamily="34" charset="-122"/>
                <a:cs typeface="Calibri" pitchFamily="34" charset="-120"/>
              </a:rPr>
              <a:t>The CDS model compiles to HANA unchanged — no construct rewritten</a:t>
            </a:r>
            <a:endParaRPr lang="en-US" sz="1150" dirty="0"/>
          </a:p>
        </p:txBody>
      </p:sp>
      <p:pic>
        <p:nvPicPr>
          <p:cNvPr id="23" name="Image 1" descr="preencoded.png"/>
          <p:cNvPicPr>
            <a:picLocks noChangeAspect="1"/>
          </p:cNvPicPr>
          <p:nvPr/>
        </p:nvPicPr>
        <p:blipFill>
          <a:blip r:embed="rId3"/>
          <a:stretch>
            <a:fillRect/>
          </a:stretch>
        </p:blipFill>
        <p:spPr>
          <a:xfrm>
            <a:off x="960120" y="4242816"/>
            <a:ext cx="237744" cy="237744"/>
          </a:xfrm>
          <a:prstGeom prst="rect">
            <a:avLst/>
          </a:prstGeom>
        </p:spPr>
      </p:pic>
      <p:sp>
        <p:nvSpPr>
          <p:cNvPr id="24" name="Text 20"/>
          <p:cNvSpPr/>
          <p:nvPr/>
        </p:nvSpPr>
        <p:spPr>
          <a:xfrm>
            <a:off x="1298448" y="4178808"/>
            <a:ext cx="4526280" cy="457200"/>
          </a:xfrm>
          <a:prstGeom prst="rect">
            <a:avLst/>
          </a:prstGeom>
          <a:noFill/>
          <a:ln/>
        </p:spPr>
        <p:txBody>
          <a:bodyPr wrap="square" lIns="0" tIns="0" rIns="0" bIns="0" rtlCol="0" anchor="t"/>
          <a:lstStyle/>
          <a:p>
            <a:pPr marL="0" indent="0">
              <a:lnSpc>
                <a:spcPts val="1400"/>
              </a:lnSpc>
              <a:buNone/>
            </a:pPr>
            <a:r>
              <a:rPr lang="en-US" sz="1150" dirty="0">
                <a:solidFill>
                  <a:srgbClr val="D6E4F2"/>
                </a:solidFill>
                <a:latin typeface="Calibri" pitchFamily="34" charset="0"/>
                <a:ea typeface="Calibri" pitchFamily="34" charset="-122"/>
                <a:cs typeface="Calibri" pitchFamily="34" charset="-120"/>
              </a:rPr>
              <a:t>Aggregate views deployed with zero warnings</a:t>
            </a:r>
            <a:endParaRPr lang="en-US" sz="1150" dirty="0"/>
          </a:p>
        </p:txBody>
      </p:sp>
      <p:pic>
        <p:nvPicPr>
          <p:cNvPr id="25" name="Image 2" descr="preencoded.png"/>
          <p:cNvPicPr>
            <a:picLocks noChangeAspect="1"/>
          </p:cNvPicPr>
          <p:nvPr/>
        </p:nvPicPr>
        <p:blipFill>
          <a:blip r:embed="rId3"/>
          <a:stretch>
            <a:fillRect/>
          </a:stretch>
        </p:blipFill>
        <p:spPr>
          <a:xfrm>
            <a:off x="960120" y="4718304"/>
            <a:ext cx="237744" cy="237744"/>
          </a:xfrm>
          <a:prstGeom prst="rect">
            <a:avLst/>
          </a:prstGeom>
        </p:spPr>
      </p:pic>
      <p:sp>
        <p:nvSpPr>
          <p:cNvPr id="26" name="Text 21"/>
          <p:cNvSpPr/>
          <p:nvPr/>
        </p:nvSpPr>
        <p:spPr>
          <a:xfrm>
            <a:off x="1298448" y="4654296"/>
            <a:ext cx="4526280" cy="457200"/>
          </a:xfrm>
          <a:prstGeom prst="rect">
            <a:avLst/>
          </a:prstGeom>
          <a:noFill/>
          <a:ln/>
        </p:spPr>
        <p:txBody>
          <a:bodyPr wrap="square" lIns="0" tIns="0" rIns="0" bIns="0" rtlCol="0" anchor="t"/>
          <a:lstStyle/>
          <a:p>
            <a:pPr marL="0" indent="0">
              <a:lnSpc>
                <a:spcPts val="1400"/>
              </a:lnSpc>
              <a:buNone/>
            </a:pPr>
            <a:r>
              <a:rPr lang="en-US" sz="1150" dirty="0">
                <a:solidFill>
                  <a:srgbClr val="D6E4F2"/>
                </a:solidFill>
                <a:latin typeface="Calibri" pitchFamily="34" charset="0"/>
                <a:ea typeface="Calibri" pitchFamily="34" charset="-122"/>
                <a:cs typeface="Calibri" pitchFamily="34" charset="-120"/>
              </a:rPr>
              <a:t>Reads, views and a full recalculate round-trip all exercised</a:t>
            </a:r>
            <a:endParaRPr lang="en-US" sz="1150" dirty="0"/>
          </a:p>
        </p:txBody>
      </p:sp>
      <p:pic>
        <p:nvPicPr>
          <p:cNvPr id="27" name="Image 3" descr="preencoded.png"/>
          <p:cNvPicPr>
            <a:picLocks noChangeAspect="1"/>
          </p:cNvPicPr>
          <p:nvPr/>
        </p:nvPicPr>
        <p:blipFill>
          <a:blip r:embed="rId3"/>
          <a:stretch>
            <a:fillRect/>
          </a:stretch>
        </p:blipFill>
        <p:spPr>
          <a:xfrm>
            <a:off x="960120" y="5193792"/>
            <a:ext cx="237744" cy="237744"/>
          </a:xfrm>
          <a:prstGeom prst="rect">
            <a:avLst/>
          </a:prstGeom>
        </p:spPr>
      </p:pic>
      <p:sp>
        <p:nvSpPr>
          <p:cNvPr id="28" name="Text 22"/>
          <p:cNvSpPr/>
          <p:nvPr/>
        </p:nvSpPr>
        <p:spPr>
          <a:xfrm>
            <a:off x="1298448" y="5129784"/>
            <a:ext cx="4526280" cy="457200"/>
          </a:xfrm>
          <a:prstGeom prst="rect">
            <a:avLst/>
          </a:prstGeom>
          <a:noFill/>
          <a:ln/>
        </p:spPr>
        <p:txBody>
          <a:bodyPr wrap="square" lIns="0" tIns="0" rIns="0" bIns="0" rtlCol="0" anchor="t"/>
          <a:lstStyle/>
          <a:p>
            <a:pPr marL="0" indent="0">
              <a:lnSpc>
                <a:spcPts val="1400"/>
              </a:lnSpc>
              <a:buNone/>
            </a:pPr>
            <a:r>
              <a:rPr lang="en-US" sz="1150" dirty="0">
                <a:solidFill>
                  <a:srgbClr val="D6E4F2"/>
                </a:solidFill>
                <a:latin typeface="Calibri" pitchFamily="34" charset="0"/>
                <a:ea typeface="Calibri" pitchFamily="34" charset="-122"/>
                <a:cs typeface="Calibri" pitchFamily="34" charset="-120"/>
              </a:rPr>
              <a:t>The portability claim was the one thing resting on generated artifacts. It holds.</a:t>
            </a:r>
            <a:endParaRPr lang="en-US" sz="1150" dirty="0"/>
          </a:p>
        </p:txBody>
      </p:sp>
      <p:sp>
        <p:nvSpPr>
          <p:cNvPr id="29" name="Shape 23"/>
          <p:cNvSpPr/>
          <p:nvPr/>
        </p:nvSpPr>
        <p:spPr>
          <a:xfrm>
            <a:off x="6172200" y="3108960"/>
            <a:ext cx="5349240" cy="2560320"/>
          </a:xfrm>
          <a:prstGeom prst="roundRect">
            <a:avLst>
              <a:gd name="adj" fmla="val 3214"/>
            </a:avLst>
          </a:prstGeom>
          <a:solidFill>
            <a:srgbClr val="DE0024"/>
          </a:solidFill>
          <a:ln/>
          <a:effectLst>
            <a:outerShdw blurRad="88900" dist="25400" dir="5400000" algn="bl" rotWithShape="0">
              <a:srgbClr val="10294A">
                <a:alpha val="12000"/>
              </a:srgbClr>
            </a:outerShdw>
          </a:effectLst>
        </p:spPr>
        <p:txBody>
          <a:bodyPr/>
          <a:lstStyle/>
          <a:p>
            <a:endParaRPr lang="en-US"/>
          </a:p>
        </p:txBody>
      </p:sp>
      <p:pic>
        <p:nvPicPr>
          <p:cNvPr id="30" name="Image 4" descr="preencoded.png"/>
          <p:cNvPicPr>
            <a:picLocks noChangeAspect="1"/>
          </p:cNvPicPr>
          <p:nvPr/>
        </p:nvPicPr>
        <p:blipFill>
          <a:blip r:embed="rId4"/>
          <a:stretch>
            <a:fillRect/>
          </a:stretch>
        </p:blipFill>
        <p:spPr>
          <a:xfrm>
            <a:off x="6446520" y="3337560"/>
            <a:ext cx="365760" cy="365760"/>
          </a:xfrm>
          <a:prstGeom prst="rect">
            <a:avLst/>
          </a:prstGeom>
        </p:spPr>
      </p:pic>
      <p:sp>
        <p:nvSpPr>
          <p:cNvPr id="31" name="Text 24"/>
          <p:cNvSpPr/>
          <p:nvPr/>
        </p:nvSpPr>
        <p:spPr>
          <a:xfrm>
            <a:off x="6903720" y="3337560"/>
            <a:ext cx="4389120" cy="365760"/>
          </a:xfrm>
          <a:prstGeom prst="rect">
            <a:avLst/>
          </a:prstGeom>
          <a:noFill/>
          <a:ln/>
        </p:spPr>
        <p:txBody>
          <a:bodyPr wrap="square" lIns="0" tIns="0" rIns="0" bIns="0" rtlCol="0" anchor="ctr"/>
          <a:lstStyle/>
          <a:p>
            <a:pPr marL="0" indent="0">
              <a:buNone/>
            </a:pPr>
            <a:r>
              <a:rPr lang="en-US" sz="1500" b="1" dirty="0">
                <a:solidFill>
                  <a:srgbClr val="10294A"/>
                </a:solidFill>
                <a:latin typeface="Calibri" pitchFamily="34" charset="0"/>
                <a:ea typeface="Calibri" pitchFamily="34" charset="-122"/>
                <a:cs typeface="Calibri" pitchFamily="34" charset="-120"/>
              </a:rPr>
              <a:t>One honest efficiency finding</a:t>
            </a:r>
            <a:endParaRPr lang="en-US" sz="1500" dirty="0"/>
          </a:p>
        </p:txBody>
      </p:sp>
      <p:sp>
        <p:nvSpPr>
          <p:cNvPr id="32" name="Text 25"/>
          <p:cNvSpPr/>
          <p:nvPr/>
        </p:nvSpPr>
        <p:spPr>
          <a:xfrm>
            <a:off x="6446520" y="3886200"/>
            <a:ext cx="4846320" cy="1097280"/>
          </a:xfrm>
          <a:prstGeom prst="rect">
            <a:avLst/>
          </a:prstGeom>
          <a:noFill/>
          <a:ln/>
        </p:spPr>
        <p:txBody>
          <a:bodyPr wrap="square" lIns="0" tIns="0" rIns="0" bIns="0" rtlCol="0" anchor="ctr"/>
          <a:lstStyle/>
          <a:p>
            <a:pPr marL="0" indent="0">
              <a:lnSpc>
                <a:spcPts val="1800"/>
              </a:lnSpc>
              <a:buNone/>
            </a:pPr>
            <a:r>
              <a:rPr lang="en-US" sz="1250" dirty="0">
                <a:solidFill>
                  <a:srgbClr val="10294A"/>
                </a:solidFill>
                <a:latin typeface="Calibri" pitchFamily="34" charset="0"/>
                <a:ea typeface="Calibri" pitchFamily="34" charset="-122"/>
                <a:cs typeface="Calibri" pitchFamily="34" charset="-120"/>
              </a:rPr>
              <a:t>A full checkout-integrity recalculate took 2.37s against HANA — but the engine was only 128ms of that. The rest is loadBase fetching all twelve base tables when the scenario needs five.</a:t>
            </a:r>
            <a:endParaRPr lang="en-US" sz="1250" dirty="0"/>
          </a:p>
        </p:txBody>
      </p:sp>
      <p:sp>
        <p:nvSpPr>
          <p:cNvPr id="33" name="Text 26"/>
          <p:cNvSpPr/>
          <p:nvPr/>
        </p:nvSpPr>
        <p:spPr>
          <a:xfrm>
            <a:off x="6446520" y="4983480"/>
            <a:ext cx="4846320" cy="640080"/>
          </a:xfrm>
          <a:prstGeom prst="rect">
            <a:avLst/>
          </a:prstGeom>
          <a:noFill/>
          <a:ln/>
        </p:spPr>
        <p:txBody>
          <a:bodyPr wrap="square" lIns="0" tIns="0" rIns="0" bIns="0" rtlCol="0" anchor="ctr"/>
          <a:lstStyle/>
          <a:p>
            <a:pPr marL="0" indent="0">
              <a:lnSpc>
                <a:spcPts val="1600"/>
              </a:lnSpc>
              <a:buNone/>
            </a:pPr>
            <a:r>
              <a:rPr lang="en-US" sz="1200" b="1" dirty="0">
                <a:solidFill>
                  <a:srgbClr val="0A1B32"/>
                </a:solidFill>
                <a:latin typeface="Calibri" pitchFamily="34" charset="0"/>
                <a:ea typeface="Calibri" pitchFamily="34" charset="-122"/>
                <a:cs typeface="Calibri" pitchFamily="34" charset="-120"/>
              </a:rPr>
              <a:t>The fix — make loadBase scenario-aware — roughly halves it. Invisible until a real database was involved.</a:t>
            </a:r>
            <a:endParaRPr lang="en-US" sz="1200" dirty="0"/>
          </a:p>
        </p:txBody>
      </p:sp>
      <p:sp>
        <p:nvSpPr>
          <p:cNvPr id="34" name="Text 27"/>
          <p:cNvSpPr/>
          <p:nvPr/>
        </p:nvSpPr>
        <p:spPr>
          <a:xfrm>
            <a:off x="11414455" y="6400800"/>
            <a:ext cx="457200" cy="274320"/>
          </a:xfrm>
          <a:prstGeom prst="rect">
            <a:avLst/>
          </a:prstGeom>
          <a:noFill/>
          <a:ln/>
        </p:spPr>
        <p:txBody>
          <a:bodyPr wrap="square" rtlCol="0" anchor="ctr"/>
          <a:lstStyle/>
          <a:p>
            <a:pPr marL="0" indent="0" algn="r">
              <a:buNone/>
            </a:pPr>
            <a:r>
              <a:rPr lang="en-US" sz="900" dirty="0">
                <a:solidFill>
                  <a:srgbClr val="A6B6CC"/>
                </a:solidFill>
                <a:latin typeface="Calibri" pitchFamily="34" charset="0"/>
                <a:ea typeface="Calibri" pitchFamily="34" charset="-122"/>
                <a:cs typeface="Calibri" pitchFamily="34" charset="-120"/>
              </a:rPr>
              <a:t>14</a:t>
            </a:r>
            <a:endParaRPr lang="en-US" sz="900" dirty="0"/>
          </a:p>
        </p:txBody>
      </p:sp>
      <p:pic>
        <p:nvPicPr>
          <p:cNvPr id="35" name="Image 5" descr="/home/claude/mark_white.png"/>
          <p:cNvPicPr>
            <a:picLocks noChangeAspect="1"/>
          </p:cNvPicPr>
          <p:nvPr/>
        </p:nvPicPr>
        <p:blipFill>
          <a:blip r:embed="rId5"/>
          <a:stretch>
            <a:fillRect/>
          </a:stretch>
        </p:blipFill>
        <p:spPr>
          <a:xfrm>
            <a:off x="457200" y="6355080"/>
            <a:ext cx="457200" cy="302412"/>
          </a:xfrm>
          <a:prstGeom prst="rect">
            <a:avLst/>
          </a:prstGeom>
        </p:spPr>
      </p:pic>
      <p:sp>
        <p:nvSpPr>
          <p:cNvPr id="36" name="Text 28"/>
          <p:cNvSpPr/>
          <p:nvPr/>
        </p:nvSpPr>
        <p:spPr>
          <a:xfrm>
            <a:off x="960120" y="6400800"/>
            <a:ext cx="1828800" cy="274320"/>
          </a:xfrm>
          <a:prstGeom prst="rect">
            <a:avLst/>
          </a:prstGeom>
          <a:noFill/>
          <a:ln/>
        </p:spPr>
        <p:txBody>
          <a:bodyPr wrap="square" lIns="0" tIns="0" rIns="0" bIns="0" rtlCol="0" anchor="ctr"/>
          <a:lstStyle/>
          <a:p>
            <a:pPr marL="0" indent="0">
              <a:buNone/>
            </a:pPr>
            <a:r>
              <a:rPr lang="en-US" sz="850" b="1" kern="0" spc="200" dirty="0">
                <a:solidFill>
                  <a:srgbClr val="A6B6CC"/>
                </a:solidFill>
                <a:latin typeface="Calibri" pitchFamily="34" charset="0"/>
                <a:ea typeface="Calibri" pitchFamily="34" charset="-122"/>
                <a:cs typeface="Calibri" pitchFamily="34" charset="-120"/>
              </a:rPr>
              <a:t>MSITEK</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7FB"/>
        </a:solidFill>
        <a:effectLst/>
      </p:bgPr>
    </p:bg>
    <p:spTree>
      <p:nvGrpSpPr>
        <p:cNvPr id="1" name=""/>
        <p:cNvGrpSpPr/>
        <p:nvPr/>
      </p:nvGrpSpPr>
      <p:grpSpPr>
        <a:xfrm>
          <a:off x="0" y="0"/>
          <a:ext cx="0" cy="0"/>
          <a:chOff x="0" y="0"/>
          <a:chExt cx="0" cy="0"/>
        </a:xfrm>
      </p:grpSpPr>
      <p:sp>
        <p:nvSpPr>
          <p:cNvPr id="2" name="Text 0"/>
          <p:cNvSpPr/>
          <p:nvPr/>
        </p:nvSpPr>
        <p:spPr>
          <a:xfrm>
            <a:off x="685800" y="502920"/>
            <a:ext cx="7315200" cy="274320"/>
          </a:xfrm>
          <a:prstGeom prst="rect">
            <a:avLst/>
          </a:prstGeom>
          <a:noFill/>
          <a:ln/>
        </p:spPr>
        <p:txBody>
          <a:bodyPr wrap="square" lIns="0" tIns="0" rIns="0" bIns="0" rtlCol="0" anchor="ctr"/>
          <a:lstStyle/>
          <a:p>
            <a:pPr marL="0" indent="0">
              <a:buNone/>
            </a:pPr>
            <a:r>
              <a:rPr lang="en-US" sz="1200" b="1" kern="0" spc="300" dirty="0">
                <a:solidFill>
                  <a:srgbClr val="1E578D"/>
                </a:solidFill>
                <a:latin typeface="Calibri" pitchFamily="34" charset="0"/>
                <a:ea typeface="Calibri" pitchFamily="34" charset="-122"/>
                <a:cs typeface="Calibri" pitchFamily="34" charset="-120"/>
              </a:rPr>
              <a:t>MODEL ACCURACY, STATED PLAINLY</a:t>
            </a:r>
            <a:endParaRPr lang="en-US" sz="1200" dirty="0"/>
          </a:p>
        </p:txBody>
      </p:sp>
      <p:sp>
        <p:nvSpPr>
          <p:cNvPr id="3" name="Text 1"/>
          <p:cNvSpPr/>
          <p:nvPr/>
        </p:nvSpPr>
        <p:spPr>
          <a:xfrm>
            <a:off x="658368" y="822960"/>
            <a:ext cx="10789920" cy="548640"/>
          </a:xfrm>
          <a:prstGeom prst="rect">
            <a:avLst/>
          </a:prstGeom>
          <a:noFill/>
          <a:ln/>
        </p:spPr>
        <p:txBody>
          <a:bodyPr wrap="square" lIns="0" tIns="0" rIns="0" bIns="0" rtlCol="0" anchor="ctr"/>
          <a:lstStyle/>
          <a:p>
            <a:pPr marL="0" indent="0">
              <a:buNone/>
            </a:pPr>
            <a:r>
              <a:rPr lang="en-US" sz="2900" b="1" dirty="0">
                <a:solidFill>
                  <a:srgbClr val="10294A"/>
                </a:solidFill>
                <a:latin typeface="Bookman Old Style" pitchFamily="34" charset="0"/>
                <a:ea typeface="Bookman Old Style" pitchFamily="34" charset="-122"/>
                <a:cs typeface="Bookman Old Style" pitchFamily="34" charset="-120"/>
              </a:rPr>
              <a:t>We report the number you can trust</a:t>
            </a:r>
            <a:endParaRPr lang="en-US" sz="2900" dirty="0"/>
          </a:p>
        </p:txBody>
      </p:sp>
      <p:sp>
        <p:nvSpPr>
          <p:cNvPr id="4" name="Shape 2"/>
          <p:cNvSpPr/>
          <p:nvPr/>
        </p:nvSpPr>
        <p:spPr>
          <a:xfrm>
            <a:off x="685800" y="1645920"/>
            <a:ext cx="3520440" cy="2194560"/>
          </a:xfrm>
          <a:prstGeom prst="roundRect">
            <a:avLst>
              <a:gd name="adj" fmla="val 375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5" name="Text 3"/>
          <p:cNvSpPr/>
          <p:nvPr/>
        </p:nvSpPr>
        <p:spPr>
          <a:xfrm>
            <a:off x="960120" y="1828800"/>
            <a:ext cx="2971800" cy="685800"/>
          </a:xfrm>
          <a:prstGeom prst="rect">
            <a:avLst/>
          </a:prstGeom>
          <a:noFill/>
          <a:ln/>
        </p:spPr>
        <p:txBody>
          <a:bodyPr wrap="square" lIns="0" tIns="0" rIns="0" bIns="0" rtlCol="0" anchor="ctr"/>
          <a:lstStyle/>
          <a:p>
            <a:pPr marL="0" indent="0">
              <a:buNone/>
            </a:pPr>
            <a:r>
              <a:rPr lang="en-US" sz="4000" b="1" dirty="0">
                <a:solidFill>
                  <a:srgbClr val="2E9B5B"/>
                </a:solidFill>
                <a:latin typeface="Bookman Old Style" pitchFamily="34" charset="0"/>
                <a:ea typeface="Bookman Old Style" pitchFamily="34" charset="-122"/>
                <a:cs typeface="Bookman Old Style" pitchFamily="34" charset="-120"/>
              </a:rPr>
              <a:t>28.8%</a:t>
            </a:r>
            <a:endParaRPr lang="en-US" sz="4000" dirty="0"/>
          </a:p>
        </p:txBody>
      </p:sp>
      <p:sp>
        <p:nvSpPr>
          <p:cNvPr id="6" name="Text 4"/>
          <p:cNvSpPr/>
          <p:nvPr/>
        </p:nvSpPr>
        <p:spPr>
          <a:xfrm>
            <a:off x="960120" y="2560320"/>
            <a:ext cx="2971800" cy="365760"/>
          </a:xfrm>
          <a:prstGeom prst="rect">
            <a:avLst/>
          </a:prstGeom>
          <a:noFill/>
          <a:ln/>
        </p:spPr>
        <p:txBody>
          <a:bodyPr wrap="square" lIns="0" tIns="0" rIns="0" bIns="0" rtlCol="0" anchor="ctr"/>
          <a:lstStyle/>
          <a:p>
            <a:pPr marL="0" indent="0">
              <a:buNone/>
            </a:pPr>
            <a:r>
              <a:rPr lang="en-US" sz="1350" b="1" dirty="0">
                <a:solidFill>
                  <a:srgbClr val="10294A"/>
                </a:solidFill>
                <a:latin typeface="Calibri" pitchFamily="34" charset="0"/>
                <a:ea typeface="Calibri" pitchFamily="34" charset="-122"/>
                <a:cs typeface="Calibri" pitchFamily="34" charset="-120"/>
              </a:rPr>
              <a:t>WAPE at store-day grain</a:t>
            </a:r>
            <a:endParaRPr lang="en-US" sz="1350" dirty="0"/>
          </a:p>
        </p:txBody>
      </p:sp>
      <p:sp>
        <p:nvSpPr>
          <p:cNvPr id="7" name="Text 5"/>
          <p:cNvSpPr/>
          <p:nvPr/>
        </p:nvSpPr>
        <p:spPr>
          <a:xfrm>
            <a:off x="960120" y="2926080"/>
            <a:ext cx="2971800" cy="822960"/>
          </a:xfrm>
          <a:prstGeom prst="rect">
            <a:avLst/>
          </a:prstGeom>
          <a:noFill/>
          <a:ln/>
        </p:spPr>
        <p:txBody>
          <a:bodyPr wrap="square" lIns="0" tIns="0" rIns="0" bIns="0" rtlCol="0" anchor="ctr"/>
          <a:lstStyle/>
          <a:p>
            <a:pPr marL="0" indent="0">
              <a:lnSpc>
                <a:spcPts val="1500"/>
              </a:lnSpc>
              <a:buNone/>
            </a:pPr>
            <a:r>
              <a:rPr lang="en-US" sz="1150" dirty="0">
                <a:solidFill>
                  <a:srgbClr val="54657E"/>
                </a:solidFill>
                <a:latin typeface="Calibri" pitchFamily="34" charset="0"/>
                <a:ea typeface="Calibri" pitchFamily="34" charset="-122"/>
                <a:cs typeface="Calibri" pitchFamily="34" charset="-120"/>
              </a:rPr>
              <a:t>A credible planning-grade figure. This is the number to judge the model by.</a:t>
            </a:r>
            <a:endParaRPr lang="en-US" sz="1150" dirty="0"/>
          </a:p>
        </p:txBody>
      </p:sp>
      <p:sp>
        <p:nvSpPr>
          <p:cNvPr id="8" name="Shape 6"/>
          <p:cNvSpPr/>
          <p:nvPr/>
        </p:nvSpPr>
        <p:spPr>
          <a:xfrm>
            <a:off x="4480560" y="1645920"/>
            <a:ext cx="3520440" cy="2194560"/>
          </a:xfrm>
          <a:prstGeom prst="roundRect">
            <a:avLst>
              <a:gd name="adj" fmla="val 375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9" name="Text 7"/>
          <p:cNvSpPr/>
          <p:nvPr/>
        </p:nvSpPr>
        <p:spPr>
          <a:xfrm>
            <a:off x="4754880" y="1828800"/>
            <a:ext cx="2971800" cy="685800"/>
          </a:xfrm>
          <a:prstGeom prst="rect">
            <a:avLst/>
          </a:prstGeom>
          <a:noFill/>
          <a:ln/>
        </p:spPr>
        <p:txBody>
          <a:bodyPr wrap="square" lIns="0" tIns="0" rIns="0" bIns="0" rtlCol="0" anchor="ctr"/>
          <a:lstStyle/>
          <a:p>
            <a:pPr marL="0" indent="0">
              <a:buNone/>
            </a:pPr>
            <a:r>
              <a:rPr lang="en-US" sz="4000" b="1" dirty="0">
                <a:solidFill>
                  <a:srgbClr val="DE0024"/>
                </a:solidFill>
                <a:latin typeface="Bookman Old Style" pitchFamily="34" charset="0"/>
                <a:ea typeface="Bookman Old Style" pitchFamily="34" charset="-122"/>
                <a:cs typeface="Bookman Old Style" pitchFamily="34" charset="-120"/>
              </a:rPr>
              <a:t>186%</a:t>
            </a:r>
            <a:endParaRPr lang="en-US" sz="4000" dirty="0"/>
          </a:p>
        </p:txBody>
      </p:sp>
      <p:sp>
        <p:nvSpPr>
          <p:cNvPr id="10" name="Text 8"/>
          <p:cNvSpPr/>
          <p:nvPr/>
        </p:nvSpPr>
        <p:spPr>
          <a:xfrm>
            <a:off x="4754880" y="2560320"/>
            <a:ext cx="2971800" cy="365760"/>
          </a:xfrm>
          <a:prstGeom prst="rect">
            <a:avLst/>
          </a:prstGeom>
          <a:noFill/>
          <a:ln/>
        </p:spPr>
        <p:txBody>
          <a:bodyPr wrap="square" lIns="0" tIns="0" rIns="0" bIns="0" rtlCol="0" anchor="ctr"/>
          <a:lstStyle/>
          <a:p>
            <a:pPr marL="0" indent="0">
              <a:buNone/>
            </a:pPr>
            <a:r>
              <a:rPr lang="en-US" sz="1350" b="1" dirty="0">
                <a:solidFill>
                  <a:srgbClr val="10294A"/>
                </a:solidFill>
                <a:latin typeface="Calibri" pitchFamily="34" charset="0"/>
                <a:ea typeface="Calibri" pitchFamily="34" charset="-122"/>
                <a:cs typeface="Calibri" pitchFamily="34" charset="-120"/>
              </a:rPr>
              <a:t>WAPE at SKU-hour grain</a:t>
            </a:r>
            <a:endParaRPr lang="en-US" sz="1350" dirty="0"/>
          </a:p>
        </p:txBody>
      </p:sp>
      <p:sp>
        <p:nvSpPr>
          <p:cNvPr id="11" name="Text 9"/>
          <p:cNvSpPr/>
          <p:nvPr/>
        </p:nvSpPr>
        <p:spPr>
          <a:xfrm>
            <a:off x="4754880" y="2926080"/>
            <a:ext cx="2971800" cy="822960"/>
          </a:xfrm>
          <a:prstGeom prst="rect">
            <a:avLst/>
          </a:prstGeom>
          <a:noFill/>
          <a:ln/>
        </p:spPr>
        <p:txBody>
          <a:bodyPr wrap="square" lIns="0" tIns="0" rIns="0" bIns="0" rtlCol="0" anchor="ctr"/>
          <a:lstStyle/>
          <a:p>
            <a:pPr marL="0" indent="0">
              <a:lnSpc>
                <a:spcPts val="1500"/>
              </a:lnSpc>
              <a:buNone/>
            </a:pPr>
            <a:r>
              <a:rPr lang="en-US" sz="1150" dirty="0">
                <a:solidFill>
                  <a:srgbClr val="54657E"/>
                </a:solidFill>
                <a:latin typeface="Calibri" pitchFamily="34" charset="0"/>
                <a:ea typeface="Calibri" pitchFamily="34" charset="-122"/>
                <a:cs typeface="Calibri" pitchFamily="34" charset="-120"/>
              </a:rPr>
              <a:t>Poor — but the grain is genuinely very hard. Reported, not hidden.</a:t>
            </a:r>
            <a:endParaRPr lang="en-US" sz="1150" dirty="0"/>
          </a:p>
        </p:txBody>
      </p:sp>
      <p:sp>
        <p:nvSpPr>
          <p:cNvPr id="12" name="Shape 10"/>
          <p:cNvSpPr/>
          <p:nvPr/>
        </p:nvSpPr>
        <p:spPr>
          <a:xfrm>
            <a:off x="8275320" y="1645920"/>
            <a:ext cx="3520440" cy="2194560"/>
          </a:xfrm>
          <a:prstGeom prst="roundRect">
            <a:avLst>
              <a:gd name="adj" fmla="val 375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13" name="Text 11"/>
          <p:cNvSpPr/>
          <p:nvPr/>
        </p:nvSpPr>
        <p:spPr>
          <a:xfrm>
            <a:off x="8549640" y="1828800"/>
            <a:ext cx="2971800" cy="685800"/>
          </a:xfrm>
          <a:prstGeom prst="rect">
            <a:avLst/>
          </a:prstGeom>
          <a:noFill/>
          <a:ln/>
        </p:spPr>
        <p:txBody>
          <a:bodyPr wrap="square" lIns="0" tIns="0" rIns="0" bIns="0" rtlCol="0" anchor="ctr"/>
          <a:lstStyle/>
          <a:p>
            <a:pPr marL="0" indent="0">
              <a:buNone/>
            </a:pPr>
            <a:r>
              <a:rPr lang="en-US" sz="4000" b="1" dirty="0">
                <a:solidFill>
                  <a:srgbClr val="54657E"/>
                </a:solidFill>
                <a:latin typeface="Bookman Old Style" pitchFamily="34" charset="0"/>
                <a:ea typeface="Bookman Old Style" pitchFamily="34" charset="-122"/>
                <a:cs typeface="Bookman Old Style" pitchFamily="34" charset="-120"/>
              </a:rPr>
              <a:t>88.6%</a:t>
            </a:r>
            <a:endParaRPr lang="en-US" sz="4000" dirty="0"/>
          </a:p>
        </p:txBody>
      </p:sp>
      <p:sp>
        <p:nvSpPr>
          <p:cNvPr id="14" name="Text 12"/>
          <p:cNvSpPr/>
          <p:nvPr/>
        </p:nvSpPr>
        <p:spPr>
          <a:xfrm>
            <a:off x="8549640" y="2560320"/>
            <a:ext cx="2971800" cy="365760"/>
          </a:xfrm>
          <a:prstGeom prst="rect">
            <a:avLst/>
          </a:prstGeom>
          <a:noFill/>
          <a:ln/>
        </p:spPr>
        <p:txBody>
          <a:bodyPr wrap="square" lIns="0" tIns="0" rIns="0" bIns="0" rtlCol="0" anchor="ctr"/>
          <a:lstStyle/>
          <a:p>
            <a:pPr marL="0" indent="0">
              <a:buNone/>
            </a:pPr>
            <a:r>
              <a:rPr lang="en-US" sz="1350" b="1" dirty="0">
                <a:solidFill>
                  <a:srgbClr val="10294A"/>
                </a:solidFill>
                <a:latin typeface="Calibri" pitchFamily="34" charset="0"/>
                <a:ea typeface="Calibri" pitchFamily="34" charset="-122"/>
                <a:cs typeface="Calibri" pitchFamily="34" charset="-120"/>
              </a:rPr>
              <a:t>MAPE</a:t>
            </a:r>
            <a:endParaRPr lang="en-US" sz="1350" dirty="0"/>
          </a:p>
        </p:txBody>
      </p:sp>
      <p:sp>
        <p:nvSpPr>
          <p:cNvPr id="15" name="Text 13"/>
          <p:cNvSpPr/>
          <p:nvPr/>
        </p:nvSpPr>
        <p:spPr>
          <a:xfrm>
            <a:off x="8549640" y="2926080"/>
            <a:ext cx="2971800" cy="822960"/>
          </a:xfrm>
          <a:prstGeom prst="rect">
            <a:avLst/>
          </a:prstGeom>
          <a:noFill/>
          <a:ln/>
        </p:spPr>
        <p:txBody>
          <a:bodyPr wrap="square" lIns="0" tIns="0" rIns="0" bIns="0" rtlCol="0" anchor="ctr"/>
          <a:lstStyle/>
          <a:p>
            <a:pPr marL="0" indent="0">
              <a:lnSpc>
                <a:spcPts val="1500"/>
              </a:lnSpc>
              <a:buNone/>
            </a:pPr>
            <a:r>
              <a:rPr lang="en-US" sz="1150" dirty="0">
                <a:solidFill>
                  <a:srgbClr val="54657E"/>
                </a:solidFill>
                <a:latin typeface="Calibri" pitchFamily="34" charset="0"/>
                <a:ea typeface="Calibri" pitchFamily="34" charset="-122"/>
                <a:cs typeface="Calibri" pitchFamily="34" charset="-120"/>
              </a:rPr>
              <a:t>Included for reference only. Intermittent demand makes MAPE misleading.</a:t>
            </a:r>
            <a:endParaRPr lang="en-US" sz="1150" dirty="0"/>
          </a:p>
        </p:txBody>
      </p:sp>
      <p:sp>
        <p:nvSpPr>
          <p:cNvPr id="16" name="Shape 14"/>
          <p:cNvSpPr/>
          <p:nvPr/>
        </p:nvSpPr>
        <p:spPr>
          <a:xfrm>
            <a:off x="685800" y="4069080"/>
            <a:ext cx="10835640" cy="1600200"/>
          </a:xfrm>
          <a:prstGeom prst="roundRect">
            <a:avLst>
              <a:gd name="adj" fmla="val 5143"/>
            </a:avLst>
          </a:prstGeom>
          <a:solidFill>
            <a:srgbClr val="10294A"/>
          </a:solidFill>
          <a:ln/>
          <a:effectLst>
            <a:outerShdw blurRad="88900" dist="25400" dir="5400000" algn="bl" rotWithShape="0">
              <a:srgbClr val="10294A">
                <a:alpha val="12000"/>
              </a:srgbClr>
            </a:outerShdw>
          </a:effectLst>
        </p:spPr>
        <p:txBody>
          <a:bodyPr/>
          <a:lstStyle/>
          <a:p>
            <a:endParaRPr lang="en-US"/>
          </a:p>
        </p:txBody>
      </p:sp>
      <p:pic>
        <p:nvPicPr>
          <p:cNvPr id="17" name="Image 0" descr="preencoded.png"/>
          <p:cNvPicPr>
            <a:picLocks noChangeAspect="1"/>
          </p:cNvPicPr>
          <p:nvPr/>
        </p:nvPicPr>
        <p:blipFill>
          <a:blip r:embed="rId3"/>
          <a:stretch>
            <a:fillRect/>
          </a:stretch>
        </p:blipFill>
        <p:spPr>
          <a:xfrm>
            <a:off x="960120" y="4315968"/>
            <a:ext cx="411480" cy="411480"/>
          </a:xfrm>
          <a:prstGeom prst="rect">
            <a:avLst/>
          </a:prstGeom>
        </p:spPr>
      </p:pic>
      <p:sp>
        <p:nvSpPr>
          <p:cNvPr id="18" name="Text 15"/>
          <p:cNvSpPr/>
          <p:nvPr/>
        </p:nvSpPr>
        <p:spPr>
          <a:xfrm>
            <a:off x="1463040" y="4297680"/>
            <a:ext cx="987552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Two bugs were flattering the numbers — we made the measurement stricter, not softer</a:t>
            </a:r>
            <a:endParaRPr lang="en-US" sz="1500" dirty="0"/>
          </a:p>
        </p:txBody>
      </p:sp>
      <p:sp>
        <p:nvSpPr>
          <p:cNvPr id="19" name="Text 16"/>
          <p:cNvSpPr/>
          <p:nvPr/>
        </p:nvSpPr>
        <p:spPr>
          <a:xfrm>
            <a:off x="960120" y="4754880"/>
            <a:ext cx="10332720" cy="868680"/>
          </a:xfrm>
          <a:prstGeom prst="rect">
            <a:avLst/>
          </a:prstGeom>
          <a:noFill/>
          <a:ln/>
        </p:spPr>
        <p:txBody>
          <a:bodyPr wrap="square" lIns="0" tIns="0" rIns="0" bIns="0" rtlCol="0" anchor="ctr"/>
          <a:lstStyle/>
          <a:p>
            <a:pPr marL="0" indent="0">
              <a:lnSpc>
                <a:spcPts val="1700"/>
              </a:lnSpc>
              <a:buNone/>
            </a:pPr>
            <a:r>
              <a:rPr lang="en-US" sz="1200" dirty="0">
                <a:solidFill>
                  <a:srgbClr val="D6E4F2"/>
                </a:solidFill>
                <a:latin typeface="Calibri" pitchFamily="34" charset="0"/>
                <a:ea typeface="Calibri" pitchFamily="34" charset="-122"/>
                <a:cs typeface="Calibri" pitchFamily="34" charset="-120"/>
              </a:rPr>
              <a:t>The level averaged only the days an article sold (over-predicting ~6×), and the backtest scored only hours that had a sale — skipping the questions it got wrong. Scoring the full store × article × hour grid with true zeros made the numbers worse before better. Store-day WAPE went 336% → 28.8%: the model improved, the measurement didn’t soften.</a:t>
            </a:r>
            <a:endParaRPr lang="en-US" sz="1200" dirty="0"/>
          </a:p>
        </p:txBody>
      </p:sp>
      <p:sp>
        <p:nvSpPr>
          <p:cNvPr id="20" name="Text 17"/>
          <p:cNvSpPr/>
          <p:nvPr/>
        </p:nvSpPr>
        <p:spPr>
          <a:xfrm>
            <a:off x="11414455" y="6400800"/>
            <a:ext cx="457200" cy="274320"/>
          </a:xfrm>
          <a:prstGeom prst="rect">
            <a:avLst/>
          </a:prstGeom>
          <a:noFill/>
          <a:ln/>
        </p:spPr>
        <p:txBody>
          <a:bodyPr wrap="square" rtlCol="0" anchor="ctr"/>
          <a:lstStyle/>
          <a:p>
            <a:pPr marL="0" indent="0" algn="r">
              <a:buNone/>
            </a:pPr>
            <a:r>
              <a:rPr lang="en-US" sz="900" dirty="0">
                <a:solidFill>
                  <a:srgbClr val="A6B6CC"/>
                </a:solidFill>
                <a:latin typeface="Calibri" pitchFamily="34" charset="0"/>
                <a:ea typeface="Calibri" pitchFamily="34" charset="-122"/>
                <a:cs typeface="Calibri" pitchFamily="34" charset="-120"/>
              </a:rPr>
              <a:t>15</a:t>
            </a:r>
            <a:endParaRPr lang="en-US" sz="900" dirty="0"/>
          </a:p>
        </p:txBody>
      </p:sp>
      <p:pic>
        <p:nvPicPr>
          <p:cNvPr id="21" name="Image 1" descr="/home/claude/logo_wide_trim.png"/>
          <p:cNvPicPr>
            <a:picLocks noChangeAspect="1"/>
          </p:cNvPicPr>
          <p:nvPr/>
        </p:nvPicPr>
        <p:blipFill>
          <a:blip r:embed="rId4"/>
          <a:stretch>
            <a:fillRect/>
          </a:stretch>
        </p:blipFill>
        <p:spPr>
          <a:xfrm>
            <a:off x="457200" y="6345936"/>
            <a:ext cx="1234440" cy="24075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B32"/>
        </a:solidFill>
        <a:effectLst/>
      </p:bgPr>
    </p:bg>
    <p:spTree>
      <p:nvGrpSpPr>
        <p:cNvPr id="1" name=""/>
        <p:cNvGrpSpPr/>
        <p:nvPr/>
      </p:nvGrpSpPr>
      <p:grpSpPr>
        <a:xfrm>
          <a:off x="0" y="0"/>
          <a:ext cx="0" cy="0"/>
          <a:chOff x="0" y="0"/>
          <a:chExt cx="0" cy="0"/>
        </a:xfrm>
      </p:grpSpPr>
      <p:sp>
        <p:nvSpPr>
          <p:cNvPr id="2" name="Shape 0"/>
          <p:cNvSpPr/>
          <p:nvPr/>
        </p:nvSpPr>
        <p:spPr>
          <a:xfrm>
            <a:off x="8595360" y="548640"/>
            <a:ext cx="64008" cy="64008"/>
          </a:xfrm>
          <a:prstGeom prst="ellipse">
            <a:avLst/>
          </a:prstGeom>
          <a:solidFill>
            <a:srgbClr val="1E578D">
              <a:alpha val="55000"/>
            </a:srgbClr>
          </a:solidFill>
          <a:ln/>
        </p:spPr>
        <p:txBody>
          <a:bodyPr/>
          <a:lstStyle/>
          <a:p>
            <a:endParaRPr lang="en-US"/>
          </a:p>
        </p:txBody>
      </p:sp>
      <p:sp>
        <p:nvSpPr>
          <p:cNvPr id="3" name="Shape 1"/>
          <p:cNvSpPr/>
          <p:nvPr/>
        </p:nvSpPr>
        <p:spPr>
          <a:xfrm>
            <a:off x="8869680" y="548640"/>
            <a:ext cx="64008" cy="64008"/>
          </a:xfrm>
          <a:prstGeom prst="ellipse">
            <a:avLst/>
          </a:prstGeom>
          <a:solidFill>
            <a:srgbClr val="1E578D">
              <a:alpha val="55000"/>
            </a:srgbClr>
          </a:solidFill>
          <a:ln/>
        </p:spPr>
        <p:txBody>
          <a:bodyPr/>
          <a:lstStyle/>
          <a:p>
            <a:endParaRPr lang="en-US"/>
          </a:p>
        </p:txBody>
      </p:sp>
      <p:sp>
        <p:nvSpPr>
          <p:cNvPr id="4" name="Shape 2"/>
          <p:cNvSpPr/>
          <p:nvPr/>
        </p:nvSpPr>
        <p:spPr>
          <a:xfrm>
            <a:off x="9144000" y="548640"/>
            <a:ext cx="64008" cy="64008"/>
          </a:xfrm>
          <a:prstGeom prst="ellipse">
            <a:avLst/>
          </a:prstGeom>
          <a:solidFill>
            <a:srgbClr val="1E578D">
              <a:alpha val="55000"/>
            </a:srgbClr>
          </a:solidFill>
          <a:ln/>
        </p:spPr>
        <p:txBody>
          <a:bodyPr/>
          <a:lstStyle/>
          <a:p>
            <a:endParaRPr lang="en-US"/>
          </a:p>
        </p:txBody>
      </p:sp>
      <p:sp>
        <p:nvSpPr>
          <p:cNvPr id="5" name="Shape 3"/>
          <p:cNvSpPr/>
          <p:nvPr/>
        </p:nvSpPr>
        <p:spPr>
          <a:xfrm>
            <a:off x="9418320" y="548640"/>
            <a:ext cx="64008" cy="64008"/>
          </a:xfrm>
          <a:prstGeom prst="ellipse">
            <a:avLst/>
          </a:prstGeom>
          <a:solidFill>
            <a:srgbClr val="1E578D">
              <a:alpha val="55000"/>
            </a:srgbClr>
          </a:solidFill>
          <a:ln/>
        </p:spPr>
        <p:txBody>
          <a:bodyPr/>
          <a:lstStyle/>
          <a:p>
            <a:endParaRPr lang="en-US"/>
          </a:p>
        </p:txBody>
      </p:sp>
      <p:sp>
        <p:nvSpPr>
          <p:cNvPr id="6" name="Shape 4"/>
          <p:cNvSpPr/>
          <p:nvPr/>
        </p:nvSpPr>
        <p:spPr>
          <a:xfrm>
            <a:off x="9692640" y="548640"/>
            <a:ext cx="64008" cy="64008"/>
          </a:xfrm>
          <a:prstGeom prst="ellipse">
            <a:avLst/>
          </a:prstGeom>
          <a:solidFill>
            <a:srgbClr val="1E578D">
              <a:alpha val="55000"/>
            </a:srgbClr>
          </a:solidFill>
          <a:ln/>
        </p:spPr>
        <p:txBody>
          <a:bodyPr/>
          <a:lstStyle/>
          <a:p>
            <a:endParaRPr lang="en-US"/>
          </a:p>
        </p:txBody>
      </p:sp>
      <p:sp>
        <p:nvSpPr>
          <p:cNvPr id="7" name="Shape 5"/>
          <p:cNvSpPr/>
          <p:nvPr/>
        </p:nvSpPr>
        <p:spPr>
          <a:xfrm>
            <a:off x="9966960" y="548640"/>
            <a:ext cx="64008" cy="64008"/>
          </a:xfrm>
          <a:prstGeom prst="ellipse">
            <a:avLst/>
          </a:prstGeom>
          <a:solidFill>
            <a:srgbClr val="1E578D">
              <a:alpha val="55000"/>
            </a:srgbClr>
          </a:solidFill>
          <a:ln/>
        </p:spPr>
        <p:txBody>
          <a:bodyPr/>
          <a:lstStyle/>
          <a:p>
            <a:endParaRPr lang="en-US"/>
          </a:p>
        </p:txBody>
      </p:sp>
      <p:sp>
        <p:nvSpPr>
          <p:cNvPr id="8" name="Shape 6"/>
          <p:cNvSpPr/>
          <p:nvPr/>
        </p:nvSpPr>
        <p:spPr>
          <a:xfrm>
            <a:off x="10241280" y="548640"/>
            <a:ext cx="64008" cy="64008"/>
          </a:xfrm>
          <a:prstGeom prst="ellipse">
            <a:avLst/>
          </a:prstGeom>
          <a:solidFill>
            <a:srgbClr val="1E578D">
              <a:alpha val="55000"/>
            </a:srgbClr>
          </a:solidFill>
          <a:ln/>
        </p:spPr>
        <p:txBody>
          <a:bodyPr/>
          <a:lstStyle/>
          <a:p>
            <a:endParaRPr lang="en-US"/>
          </a:p>
        </p:txBody>
      </p:sp>
      <p:sp>
        <p:nvSpPr>
          <p:cNvPr id="9" name="Shape 7"/>
          <p:cNvSpPr/>
          <p:nvPr/>
        </p:nvSpPr>
        <p:spPr>
          <a:xfrm>
            <a:off x="10515600" y="548640"/>
            <a:ext cx="64008" cy="64008"/>
          </a:xfrm>
          <a:prstGeom prst="ellipse">
            <a:avLst/>
          </a:prstGeom>
          <a:solidFill>
            <a:srgbClr val="1E578D">
              <a:alpha val="55000"/>
            </a:srgbClr>
          </a:solidFill>
          <a:ln/>
        </p:spPr>
        <p:txBody>
          <a:bodyPr/>
          <a:lstStyle/>
          <a:p>
            <a:endParaRPr lang="en-US"/>
          </a:p>
        </p:txBody>
      </p:sp>
      <p:sp>
        <p:nvSpPr>
          <p:cNvPr id="10" name="Shape 8"/>
          <p:cNvSpPr/>
          <p:nvPr/>
        </p:nvSpPr>
        <p:spPr>
          <a:xfrm>
            <a:off x="10789920" y="548640"/>
            <a:ext cx="64008" cy="64008"/>
          </a:xfrm>
          <a:prstGeom prst="ellipse">
            <a:avLst/>
          </a:prstGeom>
          <a:solidFill>
            <a:srgbClr val="1E578D">
              <a:alpha val="55000"/>
            </a:srgbClr>
          </a:solidFill>
          <a:ln/>
        </p:spPr>
        <p:txBody>
          <a:bodyPr/>
          <a:lstStyle/>
          <a:p>
            <a:endParaRPr lang="en-US"/>
          </a:p>
        </p:txBody>
      </p:sp>
      <p:sp>
        <p:nvSpPr>
          <p:cNvPr id="11" name="Shape 9"/>
          <p:cNvSpPr/>
          <p:nvPr/>
        </p:nvSpPr>
        <p:spPr>
          <a:xfrm>
            <a:off x="11064240" y="548640"/>
            <a:ext cx="64008" cy="64008"/>
          </a:xfrm>
          <a:prstGeom prst="ellipse">
            <a:avLst/>
          </a:prstGeom>
          <a:solidFill>
            <a:srgbClr val="1E578D">
              <a:alpha val="55000"/>
            </a:srgbClr>
          </a:solidFill>
          <a:ln/>
        </p:spPr>
        <p:txBody>
          <a:bodyPr/>
          <a:lstStyle/>
          <a:p>
            <a:endParaRPr lang="en-US"/>
          </a:p>
        </p:txBody>
      </p:sp>
      <p:sp>
        <p:nvSpPr>
          <p:cNvPr id="12" name="Shape 10"/>
          <p:cNvSpPr/>
          <p:nvPr/>
        </p:nvSpPr>
        <p:spPr>
          <a:xfrm>
            <a:off x="8595360" y="822960"/>
            <a:ext cx="64008" cy="64008"/>
          </a:xfrm>
          <a:prstGeom prst="ellipse">
            <a:avLst/>
          </a:prstGeom>
          <a:solidFill>
            <a:srgbClr val="1E578D">
              <a:alpha val="55000"/>
            </a:srgbClr>
          </a:solidFill>
          <a:ln/>
        </p:spPr>
        <p:txBody>
          <a:bodyPr/>
          <a:lstStyle/>
          <a:p>
            <a:endParaRPr lang="en-US"/>
          </a:p>
        </p:txBody>
      </p:sp>
      <p:sp>
        <p:nvSpPr>
          <p:cNvPr id="13" name="Shape 11"/>
          <p:cNvSpPr/>
          <p:nvPr/>
        </p:nvSpPr>
        <p:spPr>
          <a:xfrm>
            <a:off x="8869680" y="822960"/>
            <a:ext cx="64008" cy="64008"/>
          </a:xfrm>
          <a:prstGeom prst="ellipse">
            <a:avLst/>
          </a:prstGeom>
          <a:solidFill>
            <a:srgbClr val="1E578D">
              <a:alpha val="55000"/>
            </a:srgbClr>
          </a:solidFill>
          <a:ln/>
        </p:spPr>
        <p:txBody>
          <a:bodyPr/>
          <a:lstStyle/>
          <a:p>
            <a:endParaRPr lang="en-US"/>
          </a:p>
        </p:txBody>
      </p:sp>
      <p:sp>
        <p:nvSpPr>
          <p:cNvPr id="14" name="Shape 12"/>
          <p:cNvSpPr/>
          <p:nvPr/>
        </p:nvSpPr>
        <p:spPr>
          <a:xfrm>
            <a:off x="9144000" y="822960"/>
            <a:ext cx="64008" cy="64008"/>
          </a:xfrm>
          <a:prstGeom prst="ellipse">
            <a:avLst/>
          </a:prstGeom>
          <a:solidFill>
            <a:srgbClr val="1E578D">
              <a:alpha val="55000"/>
            </a:srgbClr>
          </a:solidFill>
          <a:ln/>
        </p:spPr>
        <p:txBody>
          <a:bodyPr/>
          <a:lstStyle/>
          <a:p>
            <a:endParaRPr lang="en-US"/>
          </a:p>
        </p:txBody>
      </p:sp>
      <p:sp>
        <p:nvSpPr>
          <p:cNvPr id="15" name="Shape 13"/>
          <p:cNvSpPr/>
          <p:nvPr/>
        </p:nvSpPr>
        <p:spPr>
          <a:xfrm>
            <a:off x="9418320" y="822960"/>
            <a:ext cx="64008" cy="64008"/>
          </a:xfrm>
          <a:prstGeom prst="ellipse">
            <a:avLst/>
          </a:prstGeom>
          <a:solidFill>
            <a:srgbClr val="1E578D">
              <a:alpha val="55000"/>
            </a:srgbClr>
          </a:solidFill>
          <a:ln/>
        </p:spPr>
        <p:txBody>
          <a:bodyPr/>
          <a:lstStyle/>
          <a:p>
            <a:endParaRPr lang="en-US"/>
          </a:p>
        </p:txBody>
      </p:sp>
      <p:sp>
        <p:nvSpPr>
          <p:cNvPr id="16" name="Shape 14"/>
          <p:cNvSpPr/>
          <p:nvPr/>
        </p:nvSpPr>
        <p:spPr>
          <a:xfrm>
            <a:off x="9692640" y="822960"/>
            <a:ext cx="64008" cy="64008"/>
          </a:xfrm>
          <a:prstGeom prst="ellipse">
            <a:avLst/>
          </a:prstGeom>
          <a:solidFill>
            <a:srgbClr val="1E578D">
              <a:alpha val="55000"/>
            </a:srgbClr>
          </a:solidFill>
          <a:ln/>
        </p:spPr>
        <p:txBody>
          <a:bodyPr/>
          <a:lstStyle/>
          <a:p>
            <a:endParaRPr lang="en-US"/>
          </a:p>
        </p:txBody>
      </p:sp>
      <p:sp>
        <p:nvSpPr>
          <p:cNvPr id="17" name="Shape 15"/>
          <p:cNvSpPr/>
          <p:nvPr/>
        </p:nvSpPr>
        <p:spPr>
          <a:xfrm>
            <a:off x="9966960" y="822960"/>
            <a:ext cx="64008" cy="64008"/>
          </a:xfrm>
          <a:prstGeom prst="ellipse">
            <a:avLst/>
          </a:prstGeom>
          <a:solidFill>
            <a:srgbClr val="1E578D">
              <a:alpha val="55000"/>
            </a:srgbClr>
          </a:solidFill>
          <a:ln/>
        </p:spPr>
        <p:txBody>
          <a:bodyPr/>
          <a:lstStyle/>
          <a:p>
            <a:endParaRPr lang="en-US"/>
          </a:p>
        </p:txBody>
      </p:sp>
      <p:sp>
        <p:nvSpPr>
          <p:cNvPr id="18" name="Shape 16"/>
          <p:cNvSpPr/>
          <p:nvPr/>
        </p:nvSpPr>
        <p:spPr>
          <a:xfrm>
            <a:off x="10241280" y="822960"/>
            <a:ext cx="64008" cy="64008"/>
          </a:xfrm>
          <a:prstGeom prst="ellipse">
            <a:avLst/>
          </a:prstGeom>
          <a:solidFill>
            <a:srgbClr val="1E578D">
              <a:alpha val="55000"/>
            </a:srgbClr>
          </a:solidFill>
          <a:ln/>
        </p:spPr>
        <p:txBody>
          <a:bodyPr/>
          <a:lstStyle/>
          <a:p>
            <a:endParaRPr lang="en-US"/>
          </a:p>
        </p:txBody>
      </p:sp>
      <p:sp>
        <p:nvSpPr>
          <p:cNvPr id="19" name="Shape 17"/>
          <p:cNvSpPr/>
          <p:nvPr/>
        </p:nvSpPr>
        <p:spPr>
          <a:xfrm>
            <a:off x="10515600" y="822960"/>
            <a:ext cx="64008" cy="64008"/>
          </a:xfrm>
          <a:prstGeom prst="ellipse">
            <a:avLst/>
          </a:prstGeom>
          <a:solidFill>
            <a:srgbClr val="1E578D">
              <a:alpha val="55000"/>
            </a:srgbClr>
          </a:solidFill>
          <a:ln/>
        </p:spPr>
        <p:txBody>
          <a:bodyPr/>
          <a:lstStyle/>
          <a:p>
            <a:endParaRPr lang="en-US"/>
          </a:p>
        </p:txBody>
      </p:sp>
      <p:sp>
        <p:nvSpPr>
          <p:cNvPr id="20" name="Shape 18"/>
          <p:cNvSpPr/>
          <p:nvPr/>
        </p:nvSpPr>
        <p:spPr>
          <a:xfrm>
            <a:off x="10789920" y="822960"/>
            <a:ext cx="64008" cy="64008"/>
          </a:xfrm>
          <a:prstGeom prst="ellipse">
            <a:avLst/>
          </a:prstGeom>
          <a:solidFill>
            <a:srgbClr val="1E578D">
              <a:alpha val="55000"/>
            </a:srgbClr>
          </a:solidFill>
          <a:ln/>
        </p:spPr>
        <p:txBody>
          <a:bodyPr/>
          <a:lstStyle/>
          <a:p>
            <a:endParaRPr lang="en-US"/>
          </a:p>
        </p:txBody>
      </p:sp>
      <p:sp>
        <p:nvSpPr>
          <p:cNvPr id="21" name="Shape 19"/>
          <p:cNvSpPr/>
          <p:nvPr/>
        </p:nvSpPr>
        <p:spPr>
          <a:xfrm>
            <a:off x="11064240" y="822960"/>
            <a:ext cx="64008" cy="64008"/>
          </a:xfrm>
          <a:prstGeom prst="ellipse">
            <a:avLst/>
          </a:prstGeom>
          <a:solidFill>
            <a:srgbClr val="1E578D">
              <a:alpha val="55000"/>
            </a:srgbClr>
          </a:solidFill>
          <a:ln/>
        </p:spPr>
        <p:txBody>
          <a:bodyPr/>
          <a:lstStyle/>
          <a:p>
            <a:endParaRPr lang="en-US"/>
          </a:p>
        </p:txBody>
      </p:sp>
      <p:sp>
        <p:nvSpPr>
          <p:cNvPr id="22" name="Shape 20"/>
          <p:cNvSpPr/>
          <p:nvPr/>
        </p:nvSpPr>
        <p:spPr>
          <a:xfrm>
            <a:off x="8595360" y="1097280"/>
            <a:ext cx="64008" cy="64008"/>
          </a:xfrm>
          <a:prstGeom prst="ellipse">
            <a:avLst/>
          </a:prstGeom>
          <a:solidFill>
            <a:srgbClr val="1E578D">
              <a:alpha val="55000"/>
            </a:srgbClr>
          </a:solidFill>
          <a:ln/>
        </p:spPr>
        <p:txBody>
          <a:bodyPr/>
          <a:lstStyle/>
          <a:p>
            <a:endParaRPr lang="en-US"/>
          </a:p>
        </p:txBody>
      </p:sp>
      <p:sp>
        <p:nvSpPr>
          <p:cNvPr id="23" name="Shape 21"/>
          <p:cNvSpPr/>
          <p:nvPr/>
        </p:nvSpPr>
        <p:spPr>
          <a:xfrm>
            <a:off x="8869680" y="1097280"/>
            <a:ext cx="64008" cy="64008"/>
          </a:xfrm>
          <a:prstGeom prst="ellipse">
            <a:avLst/>
          </a:prstGeom>
          <a:solidFill>
            <a:srgbClr val="1E578D">
              <a:alpha val="55000"/>
            </a:srgbClr>
          </a:solidFill>
          <a:ln/>
        </p:spPr>
        <p:txBody>
          <a:bodyPr/>
          <a:lstStyle/>
          <a:p>
            <a:endParaRPr lang="en-US"/>
          </a:p>
        </p:txBody>
      </p:sp>
      <p:sp>
        <p:nvSpPr>
          <p:cNvPr id="24" name="Shape 22"/>
          <p:cNvSpPr/>
          <p:nvPr/>
        </p:nvSpPr>
        <p:spPr>
          <a:xfrm>
            <a:off x="9144000" y="1097280"/>
            <a:ext cx="64008" cy="64008"/>
          </a:xfrm>
          <a:prstGeom prst="ellipse">
            <a:avLst/>
          </a:prstGeom>
          <a:solidFill>
            <a:srgbClr val="1E578D">
              <a:alpha val="55000"/>
            </a:srgbClr>
          </a:solidFill>
          <a:ln/>
        </p:spPr>
        <p:txBody>
          <a:bodyPr/>
          <a:lstStyle/>
          <a:p>
            <a:endParaRPr lang="en-US"/>
          </a:p>
        </p:txBody>
      </p:sp>
      <p:sp>
        <p:nvSpPr>
          <p:cNvPr id="25" name="Shape 23"/>
          <p:cNvSpPr/>
          <p:nvPr/>
        </p:nvSpPr>
        <p:spPr>
          <a:xfrm>
            <a:off x="9418320" y="1097280"/>
            <a:ext cx="64008" cy="64008"/>
          </a:xfrm>
          <a:prstGeom prst="ellipse">
            <a:avLst/>
          </a:prstGeom>
          <a:solidFill>
            <a:srgbClr val="1E578D">
              <a:alpha val="55000"/>
            </a:srgbClr>
          </a:solidFill>
          <a:ln/>
        </p:spPr>
        <p:txBody>
          <a:bodyPr/>
          <a:lstStyle/>
          <a:p>
            <a:endParaRPr lang="en-US"/>
          </a:p>
        </p:txBody>
      </p:sp>
      <p:sp>
        <p:nvSpPr>
          <p:cNvPr id="26" name="Shape 24"/>
          <p:cNvSpPr/>
          <p:nvPr/>
        </p:nvSpPr>
        <p:spPr>
          <a:xfrm>
            <a:off x="9692640" y="1097280"/>
            <a:ext cx="64008" cy="64008"/>
          </a:xfrm>
          <a:prstGeom prst="ellipse">
            <a:avLst/>
          </a:prstGeom>
          <a:solidFill>
            <a:srgbClr val="1E578D">
              <a:alpha val="55000"/>
            </a:srgbClr>
          </a:solidFill>
          <a:ln/>
        </p:spPr>
        <p:txBody>
          <a:bodyPr/>
          <a:lstStyle/>
          <a:p>
            <a:endParaRPr lang="en-US"/>
          </a:p>
        </p:txBody>
      </p:sp>
      <p:sp>
        <p:nvSpPr>
          <p:cNvPr id="27" name="Shape 25"/>
          <p:cNvSpPr/>
          <p:nvPr/>
        </p:nvSpPr>
        <p:spPr>
          <a:xfrm>
            <a:off x="9966960" y="1097280"/>
            <a:ext cx="64008" cy="64008"/>
          </a:xfrm>
          <a:prstGeom prst="ellipse">
            <a:avLst/>
          </a:prstGeom>
          <a:solidFill>
            <a:srgbClr val="1E578D">
              <a:alpha val="55000"/>
            </a:srgbClr>
          </a:solidFill>
          <a:ln/>
        </p:spPr>
        <p:txBody>
          <a:bodyPr/>
          <a:lstStyle/>
          <a:p>
            <a:endParaRPr lang="en-US"/>
          </a:p>
        </p:txBody>
      </p:sp>
      <p:sp>
        <p:nvSpPr>
          <p:cNvPr id="28" name="Shape 26"/>
          <p:cNvSpPr/>
          <p:nvPr/>
        </p:nvSpPr>
        <p:spPr>
          <a:xfrm>
            <a:off x="10241280" y="1097280"/>
            <a:ext cx="64008" cy="64008"/>
          </a:xfrm>
          <a:prstGeom prst="ellipse">
            <a:avLst/>
          </a:prstGeom>
          <a:solidFill>
            <a:srgbClr val="1E578D">
              <a:alpha val="55000"/>
            </a:srgbClr>
          </a:solidFill>
          <a:ln/>
        </p:spPr>
        <p:txBody>
          <a:bodyPr/>
          <a:lstStyle/>
          <a:p>
            <a:endParaRPr lang="en-US"/>
          </a:p>
        </p:txBody>
      </p:sp>
      <p:sp>
        <p:nvSpPr>
          <p:cNvPr id="29" name="Shape 27"/>
          <p:cNvSpPr/>
          <p:nvPr/>
        </p:nvSpPr>
        <p:spPr>
          <a:xfrm>
            <a:off x="10515600" y="1097280"/>
            <a:ext cx="64008" cy="64008"/>
          </a:xfrm>
          <a:prstGeom prst="ellipse">
            <a:avLst/>
          </a:prstGeom>
          <a:solidFill>
            <a:srgbClr val="1E578D">
              <a:alpha val="55000"/>
            </a:srgbClr>
          </a:solidFill>
          <a:ln/>
        </p:spPr>
        <p:txBody>
          <a:bodyPr/>
          <a:lstStyle/>
          <a:p>
            <a:endParaRPr lang="en-US"/>
          </a:p>
        </p:txBody>
      </p:sp>
      <p:sp>
        <p:nvSpPr>
          <p:cNvPr id="30" name="Shape 28"/>
          <p:cNvSpPr/>
          <p:nvPr/>
        </p:nvSpPr>
        <p:spPr>
          <a:xfrm>
            <a:off x="10789920" y="1097280"/>
            <a:ext cx="64008" cy="64008"/>
          </a:xfrm>
          <a:prstGeom prst="ellipse">
            <a:avLst/>
          </a:prstGeom>
          <a:solidFill>
            <a:srgbClr val="1E578D">
              <a:alpha val="55000"/>
            </a:srgbClr>
          </a:solidFill>
          <a:ln/>
        </p:spPr>
        <p:txBody>
          <a:bodyPr/>
          <a:lstStyle/>
          <a:p>
            <a:endParaRPr lang="en-US"/>
          </a:p>
        </p:txBody>
      </p:sp>
      <p:sp>
        <p:nvSpPr>
          <p:cNvPr id="31" name="Shape 29"/>
          <p:cNvSpPr/>
          <p:nvPr/>
        </p:nvSpPr>
        <p:spPr>
          <a:xfrm>
            <a:off x="11064240" y="1097280"/>
            <a:ext cx="64008" cy="64008"/>
          </a:xfrm>
          <a:prstGeom prst="ellipse">
            <a:avLst/>
          </a:prstGeom>
          <a:solidFill>
            <a:srgbClr val="1E578D">
              <a:alpha val="55000"/>
            </a:srgbClr>
          </a:solidFill>
          <a:ln/>
        </p:spPr>
        <p:txBody>
          <a:bodyPr/>
          <a:lstStyle/>
          <a:p>
            <a:endParaRPr lang="en-US"/>
          </a:p>
        </p:txBody>
      </p:sp>
      <p:sp>
        <p:nvSpPr>
          <p:cNvPr id="32" name="Shape 30"/>
          <p:cNvSpPr/>
          <p:nvPr/>
        </p:nvSpPr>
        <p:spPr>
          <a:xfrm>
            <a:off x="8595360" y="1371600"/>
            <a:ext cx="64008" cy="64008"/>
          </a:xfrm>
          <a:prstGeom prst="ellipse">
            <a:avLst/>
          </a:prstGeom>
          <a:solidFill>
            <a:srgbClr val="1E578D">
              <a:alpha val="55000"/>
            </a:srgbClr>
          </a:solidFill>
          <a:ln/>
        </p:spPr>
        <p:txBody>
          <a:bodyPr/>
          <a:lstStyle/>
          <a:p>
            <a:endParaRPr lang="en-US"/>
          </a:p>
        </p:txBody>
      </p:sp>
      <p:sp>
        <p:nvSpPr>
          <p:cNvPr id="33" name="Shape 31"/>
          <p:cNvSpPr/>
          <p:nvPr/>
        </p:nvSpPr>
        <p:spPr>
          <a:xfrm>
            <a:off x="8869680" y="1371600"/>
            <a:ext cx="64008" cy="64008"/>
          </a:xfrm>
          <a:prstGeom prst="ellipse">
            <a:avLst/>
          </a:prstGeom>
          <a:solidFill>
            <a:srgbClr val="1E578D">
              <a:alpha val="55000"/>
            </a:srgbClr>
          </a:solidFill>
          <a:ln/>
        </p:spPr>
        <p:txBody>
          <a:bodyPr/>
          <a:lstStyle/>
          <a:p>
            <a:endParaRPr lang="en-US"/>
          </a:p>
        </p:txBody>
      </p:sp>
      <p:sp>
        <p:nvSpPr>
          <p:cNvPr id="34" name="Shape 32"/>
          <p:cNvSpPr/>
          <p:nvPr/>
        </p:nvSpPr>
        <p:spPr>
          <a:xfrm>
            <a:off x="9144000" y="1371600"/>
            <a:ext cx="64008" cy="64008"/>
          </a:xfrm>
          <a:prstGeom prst="ellipse">
            <a:avLst/>
          </a:prstGeom>
          <a:solidFill>
            <a:srgbClr val="1E578D">
              <a:alpha val="55000"/>
            </a:srgbClr>
          </a:solidFill>
          <a:ln/>
        </p:spPr>
        <p:txBody>
          <a:bodyPr/>
          <a:lstStyle/>
          <a:p>
            <a:endParaRPr lang="en-US"/>
          </a:p>
        </p:txBody>
      </p:sp>
      <p:sp>
        <p:nvSpPr>
          <p:cNvPr id="35" name="Shape 33"/>
          <p:cNvSpPr/>
          <p:nvPr/>
        </p:nvSpPr>
        <p:spPr>
          <a:xfrm>
            <a:off x="9418320" y="1371600"/>
            <a:ext cx="64008" cy="64008"/>
          </a:xfrm>
          <a:prstGeom prst="ellipse">
            <a:avLst/>
          </a:prstGeom>
          <a:solidFill>
            <a:srgbClr val="1E578D">
              <a:alpha val="55000"/>
            </a:srgbClr>
          </a:solidFill>
          <a:ln/>
        </p:spPr>
        <p:txBody>
          <a:bodyPr/>
          <a:lstStyle/>
          <a:p>
            <a:endParaRPr lang="en-US"/>
          </a:p>
        </p:txBody>
      </p:sp>
      <p:sp>
        <p:nvSpPr>
          <p:cNvPr id="36" name="Shape 34"/>
          <p:cNvSpPr/>
          <p:nvPr/>
        </p:nvSpPr>
        <p:spPr>
          <a:xfrm>
            <a:off x="9692640" y="1371600"/>
            <a:ext cx="64008" cy="64008"/>
          </a:xfrm>
          <a:prstGeom prst="ellipse">
            <a:avLst/>
          </a:prstGeom>
          <a:solidFill>
            <a:srgbClr val="1E578D">
              <a:alpha val="55000"/>
            </a:srgbClr>
          </a:solidFill>
          <a:ln/>
        </p:spPr>
        <p:txBody>
          <a:bodyPr/>
          <a:lstStyle/>
          <a:p>
            <a:endParaRPr lang="en-US"/>
          </a:p>
        </p:txBody>
      </p:sp>
      <p:sp>
        <p:nvSpPr>
          <p:cNvPr id="37" name="Shape 35"/>
          <p:cNvSpPr/>
          <p:nvPr/>
        </p:nvSpPr>
        <p:spPr>
          <a:xfrm>
            <a:off x="9966960" y="1371600"/>
            <a:ext cx="64008" cy="64008"/>
          </a:xfrm>
          <a:prstGeom prst="ellipse">
            <a:avLst/>
          </a:prstGeom>
          <a:solidFill>
            <a:srgbClr val="1E578D">
              <a:alpha val="55000"/>
            </a:srgbClr>
          </a:solidFill>
          <a:ln/>
        </p:spPr>
        <p:txBody>
          <a:bodyPr/>
          <a:lstStyle/>
          <a:p>
            <a:endParaRPr lang="en-US"/>
          </a:p>
        </p:txBody>
      </p:sp>
      <p:sp>
        <p:nvSpPr>
          <p:cNvPr id="38" name="Shape 36"/>
          <p:cNvSpPr/>
          <p:nvPr/>
        </p:nvSpPr>
        <p:spPr>
          <a:xfrm>
            <a:off x="10241280" y="1371600"/>
            <a:ext cx="64008" cy="64008"/>
          </a:xfrm>
          <a:prstGeom prst="ellipse">
            <a:avLst/>
          </a:prstGeom>
          <a:solidFill>
            <a:srgbClr val="1E578D">
              <a:alpha val="55000"/>
            </a:srgbClr>
          </a:solidFill>
          <a:ln/>
        </p:spPr>
        <p:txBody>
          <a:bodyPr/>
          <a:lstStyle/>
          <a:p>
            <a:endParaRPr lang="en-US"/>
          </a:p>
        </p:txBody>
      </p:sp>
      <p:sp>
        <p:nvSpPr>
          <p:cNvPr id="39" name="Shape 37"/>
          <p:cNvSpPr/>
          <p:nvPr/>
        </p:nvSpPr>
        <p:spPr>
          <a:xfrm>
            <a:off x="10515600" y="1371600"/>
            <a:ext cx="64008" cy="64008"/>
          </a:xfrm>
          <a:prstGeom prst="ellipse">
            <a:avLst/>
          </a:prstGeom>
          <a:solidFill>
            <a:srgbClr val="1E578D">
              <a:alpha val="55000"/>
            </a:srgbClr>
          </a:solidFill>
          <a:ln/>
        </p:spPr>
        <p:txBody>
          <a:bodyPr/>
          <a:lstStyle/>
          <a:p>
            <a:endParaRPr lang="en-US"/>
          </a:p>
        </p:txBody>
      </p:sp>
      <p:sp>
        <p:nvSpPr>
          <p:cNvPr id="40" name="Shape 38"/>
          <p:cNvSpPr/>
          <p:nvPr/>
        </p:nvSpPr>
        <p:spPr>
          <a:xfrm>
            <a:off x="10789920" y="1371600"/>
            <a:ext cx="64008" cy="64008"/>
          </a:xfrm>
          <a:prstGeom prst="ellipse">
            <a:avLst/>
          </a:prstGeom>
          <a:solidFill>
            <a:srgbClr val="1E578D">
              <a:alpha val="55000"/>
            </a:srgbClr>
          </a:solidFill>
          <a:ln/>
        </p:spPr>
        <p:txBody>
          <a:bodyPr/>
          <a:lstStyle/>
          <a:p>
            <a:endParaRPr lang="en-US"/>
          </a:p>
        </p:txBody>
      </p:sp>
      <p:sp>
        <p:nvSpPr>
          <p:cNvPr id="41" name="Shape 39"/>
          <p:cNvSpPr/>
          <p:nvPr/>
        </p:nvSpPr>
        <p:spPr>
          <a:xfrm>
            <a:off x="11064240" y="1371600"/>
            <a:ext cx="64008" cy="64008"/>
          </a:xfrm>
          <a:prstGeom prst="ellipse">
            <a:avLst/>
          </a:prstGeom>
          <a:solidFill>
            <a:srgbClr val="1E578D">
              <a:alpha val="55000"/>
            </a:srgbClr>
          </a:solidFill>
          <a:ln/>
        </p:spPr>
        <p:txBody>
          <a:bodyPr/>
          <a:lstStyle/>
          <a:p>
            <a:endParaRPr lang="en-US"/>
          </a:p>
        </p:txBody>
      </p:sp>
      <p:sp>
        <p:nvSpPr>
          <p:cNvPr id="42" name="Shape 40"/>
          <p:cNvSpPr/>
          <p:nvPr/>
        </p:nvSpPr>
        <p:spPr>
          <a:xfrm>
            <a:off x="8595360" y="1645920"/>
            <a:ext cx="64008" cy="64008"/>
          </a:xfrm>
          <a:prstGeom prst="ellipse">
            <a:avLst/>
          </a:prstGeom>
          <a:solidFill>
            <a:srgbClr val="1E578D">
              <a:alpha val="55000"/>
            </a:srgbClr>
          </a:solidFill>
          <a:ln/>
        </p:spPr>
        <p:txBody>
          <a:bodyPr/>
          <a:lstStyle/>
          <a:p>
            <a:endParaRPr lang="en-US"/>
          </a:p>
        </p:txBody>
      </p:sp>
      <p:sp>
        <p:nvSpPr>
          <p:cNvPr id="43" name="Shape 41"/>
          <p:cNvSpPr/>
          <p:nvPr/>
        </p:nvSpPr>
        <p:spPr>
          <a:xfrm>
            <a:off x="8869680" y="1645920"/>
            <a:ext cx="64008" cy="64008"/>
          </a:xfrm>
          <a:prstGeom prst="ellipse">
            <a:avLst/>
          </a:prstGeom>
          <a:solidFill>
            <a:srgbClr val="1E578D">
              <a:alpha val="55000"/>
            </a:srgbClr>
          </a:solidFill>
          <a:ln/>
        </p:spPr>
        <p:txBody>
          <a:bodyPr/>
          <a:lstStyle/>
          <a:p>
            <a:endParaRPr lang="en-US"/>
          </a:p>
        </p:txBody>
      </p:sp>
      <p:sp>
        <p:nvSpPr>
          <p:cNvPr id="44" name="Shape 42"/>
          <p:cNvSpPr/>
          <p:nvPr/>
        </p:nvSpPr>
        <p:spPr>
          <a:xfrm>
            <a:off x="9144000" y="1645920"/>
            <a:ext cx="64008" cy="64008"/>
          </a:xfrm>
          <a:prstGeom prst="ellipse">
            <a:avLst/>
          </a:prstGeom>
          <a:solidFill>
            <a:srgbClr val="1E578D">
              <a:alpha val="55000"/>
            </a:srgbClr>
          </a:solidFill>
          <a:ln/>
        </p:spPr>
        <p:txBody>
          <a:bodyPr/>
          <a:lstStyle/>
          <a:p>
            <a:endParaRPr lang="en-US"/>
          </a:p>
        </p:txBody>
      </p:sp>
      <p:sp>
        <p:nvSpPr>
          <p:cNvPr id="45" name="Shape 43"/>
          <p:cNvSpPr/>
          <p:nvPr/>
        </p:nvSpPr>
        <p:spPr>
          <a:xfrm>
            <a:off x="9418320" y="1645920"/>
            <a:ext cx="64008" cy="64008"/>
          </a:xfrm>
          <a:prstGeom prst="ellipse">
            <a:avLst/>
          </a:prstGeom>
          <a:solidFill>
            <a:srgbClr val="1E578D">
              <a:alpha val="55000"/>
            </a:srgbClr>
          </a:solidFill>
          <a:ln/>
        </p:spPr>
        <p:txBody>
          <a:bodyPr/>
          <a:lstStyle/>
          <a:p>
            <a:endParaRPr lang="en-US"/>
          </a:p>
        </p:txBody>
      </p:sp>
      <p:sp>
        <p:nvSpPr>
          <p:cNvPr id="46" name="Shape 44"/>
          <p:cNvSpPr/>
          <p:nvPr/>
        </p:nvSpPr>
        <p:spPr>
          <a:xfrm>
            <a:off x="9692640" y="1645920"/>
            <a:ext cx="64008" cy="64008"/>
          </a:xfrm>
          <a:prstGeom prst="ellipse">
            <a:avLst/>
          </a:prstGeom>
          <a:solidFill>
            <a:srgbClr val="1E578D">
              <a:alpha val="55000"/>
            </a:srgbClr>
          </a:solidFill>
          <a:ln/>
        </p:spPr>
        <p:txBody>
          <a:bodyPr/>
          <a:lstStyle/>
          <a:p>
            <a:endParaRPr lang="en-US"/>
          </a:p>
        </p:txBody>
      </p:sp>
      <p:sp>
        <p:nvSpPr>
          <p:cNvPr id="47" name="Shape 45"/>
          <p:cNvSpPr/>
          <p:nvPr/>
        </p:nvSpPr>
        <p:spPr>
          <a:xfrm>
            <a:off x="9966960" y="1645920"/>
            <a:ext cx="64008" cy="64008"/>
          </a:xfrm>
          <a:prstGeom prst="ellipse">
            <a:avLst/>
          </a:prstGeom>
          <a:solidFill>
            <a:srgbClr val="1E578D">
              <a:alpha val="55000"/>
            </a:srgbClr>
          </a:solidFill>
          <a:ln/>
        </p:spPr>
        <p:txBody>
          <a:bodyPr/>
          <a:lstStyle/>
          <a:p>
            <a:endParaRPr lang="en-US"/>
          </a:p>
        </p:txBody>
      </p:sp>
      <p:sp>
        <p:nvSpPr>
          <p:cNvPr id="48" name="Shape 46"/>
          <p:cNvSpPr/>
          <p:nvPr/>
        </p:nvSpPr>
        <p:spPr>
          <a:xfrm>
            <a:off x="10241280" y="1645920"/>
            <a:ext cx="64008" cy="64008"/>
          </a:xfrm>
          <a:prstGeom prst="ellipse">
            <a:avLst/>
          </a:prstGeom>
          <a:solidFill>
            <a:srgbClr val="1E578D">
              <a:alpha val="55000"/>
            </a:srgbClr>
          </a:solidFill>
          <a:ln/>
        </p:spPr>
        <p:txBody>
          <a:bodyPr/>
          <a:lstStyle/>
          <a:p>
            <a:endParaRPr lang="en-US"/>
          </a:p>
        </p:txBody>
      </p:sp>
      <p:sp>
        <p:nvSpPr>
          <p:cNvPr id="49" name="Shape 47"/>
          <p:cNvSpPr/>
          <p:nvPr/>
        </p:nvSpPr>
        <p:spPr>
          <a:xfrm>
            <a:off x="10515600" y="1645920"/>
            <a:ext cx="64008" cy="64008"/>
          </a:xfrm>
          <a:prstGeom prst="ellipse">
            <a:avLst/>
          </a:prstGeom>
          <a:solidFill>
            <a:srgbClr val="1E578D">
              <a:alpha val="55000"/>
            </a:srgbClr>
          </a:solidFill>
          <a:ln/>
        </p:spPr>
        <p:txBody>
          <a:bodyPr/>
          <a:lstStyle/>
          <a:p>
            <a:endParaRPr lang="en-US"/>
          </a:p>
        </p:txBody>
      </p:sp>
      <p:sp>
        <p:nvSpPr>
          <p:cNvPr id="50" name="Shape 48"/>
          <p:cNvSpPr/>
          <p:nvPr/>
        </p:nvSpPr>
        <p:spPr>
          <a:xfrm>
            <a:off x="10789920" y="1645920"/>
            <a:ext cx="64008" cy="64008"/>
          </a:xfrm>
          <a:prstGeom prst="ellipse">
            <a:avLst/>
          </a:prstGeom>
          <a:solidFill>
            <a:srgbClr val="1E578D">
              <a:alpha val="55000"/>
            </a:srgbClr>
          </a:solidFill>
          <a:ln/>
        </p:spPr>
        <p:txBody>
          <a:bodyPr/>
          <a:lstStyle/>
          <a:p>
            <a:endParaRPr lang="en-US"/>
          </a:p>
        </p:txBody>
      </p:sp>
      <p:sp>
        <p:nvSpPr>
          <p:cNvPr id="51" name="Shape 49"/>
          <p:cNvSpPr/>
          <p:nvPr/>
        </p:nvSpPr>
        <p:spPr>
          <a:xfrm>
            <a:off x="11064240" y="1645920"/>
            <a:ext cx="64008" cy="64008"/>
          </a:xfrm>
          <a:prstGeom prst="ellipse">
            <a:avLst/>
          </a:prstGeom>
          <a:solidFill>
            <a:srgbClr val="1E578D">
              <a:alpha val="55000"/>
            </a:srgbClr>
          </a:solidFill>
          <a:ln/>
        </p:spPr>
        <p:txBody>
          <a:bodyPr/>
          <a:lstStyle/>
          <a:p>
            <a:endParaRPr lang="en-US"/>
          </a:p>
        </p:txBody>
      </p:sp>
      <p:sp>
        <p:nvSpPr>
          <p:cNvPr id="52" name="Text 50"/>
          <p:cNvSpPr/>
          <p:nvPr/>
        </p:nvSpPr>
        <p:spPr>
          <a:xfrm>
            <a:off x="822960" y="2103120"/>
            <a:ext cx="7315200" cy="274320"/>
          </a:xfrm>
          <a:prstGeom prst="rect">
            <a:avLst/>
          </a:prstGeom>
          <a:noFill/>
          <a:ln/>
        </p:spPr>
        <p:txBody>
          <a:bodyPr wrap="square" lIns="0" tIns="0" rIns="0" bIns="0" rtlCol="0" anchor="ctr"/>
          <a:lstStyle/>
          <a:p>
            <a:pPr marL="0" indent="0">
              <a:buNone/>
            </a:pPr>
            <a:r>
              <a:rPr lang="en-US" sz="1200" b="1" kern="0" spc="300" dirty="0">
                <a:solidFill>
                  <a:srgbClr val="DE0024"/>
                </a:solidFill>
                <a:latin typeface="Calibri" pitchFamily="34" charset="0"/>
                <a:ea typeface="Calibri" pitchFamily="34" charset="-122"/>
                <a:cs typeface="Calibri" pitchFamily="34" charset="-120"/>
              </a:rPr>
              <a:t>WHERE THIS GOES NEXT</a:t>
            </a:r>
            <a:endParaRPr lang="en-US" sz="1200" dirty="0"/>
          </a:p>
        </p:txBody>
      </p:sp>
      <p:sp>
        <p:nvSpPr>
          <p:cNvPr id="53" name="Text 51"/>
          <p:cNvSpPr/>
          <p:nvPr/>
        </p:nvSpPr>
        <p:spPr>
          <a:xfrm>
            <a:off x="777240" y="2468880"/>
            <a:ext cx="10058400" cy="1645920"/>
          </a:xfrm>
          <a:prstGeom prst="rect">
            <a:avLst/>
          </a:prstGeom>
          <a:noFill/>
          <a:ln/>
        </p:spPr>
        <p:txBody>
          <a:bodyPr wrap="square" lIns="0" tIns="0" rIns="0" bIns="0" rtlCol="0" anchor="ctr"/>
          <a:lstStyle/>
          <a:p>
            <a:pPr marL="0" indent="0">
              <a:lnSpc>
                <a:spcPts val="4800"/>
              </a:lnSpc>
              <a:buNone/>
            </a:pPr>
            <a:r>
              <a:rPr lang="en-US" sz="4600" b="1" dirty="0">
                <a:solidFill>
                  <a:srgbClr val="FFFFFF"/>
                </a:solidFill>
                <a:latin typeface="Bookman Old Style" pitchFamily="34" charset="0"/>
                <a:ea typeface="Bookman Old Style" pitchFamily="34" charset="-122"/>
                <a:cs typeface="Bookman Old Style" pitchFamily="34" charset="-120"/>
              </a:rPr>
              <a:t>From a demo to an</a:t>
            </a:r>
            <a:endParaRPr lang="en-US" sz="4600" dirty="0"/>
          </a:p>
          <a:p>
            <a:pPr marL="0" indent="0">
              <a:lnSpc>
                <a:spcPts val="4800"/>
              </a:lnSpc>
              <a:buNone/>
            </a:pPr>
            <a:r>
              <a:rPr lang="en-US" sz="4600" b="1" dirty="0">
                <a:solidFill>
                  <a:srgbClr val="FFFFFF"/>
                </a:solidFill>
                <a:latin typeface="Bookman Old Style" pitchFamily="34" charset="0"/>
                <a:ea typeface="Bookman Old Style" pitchFamily="34" charset="-122"/>
                <a:cs typeface="Bookman Old Style" pitchFamily="34" charset="-120"/>
              </a:rPr>
              <a:t>Autonomous ERP story</a:t>
            </a:r>
            <a:endParaRPr lang="en-US" sz="4600" dirty="0"/>
          </a:p>
        </p:txBody>
      </p:sp>
      <p:sp>
        <p:nvSpPr>
          <p:cNvPr id="54" name="Text 52"/>
          <p:cNvSpPr/>
          <p:nvPr/>
        </p:nvSpPr>
        <p:spPr>
          <a:xfrm>
            <a:off x="822960" y="4434840"/>
            <a:ext cx="9601200" cy="914400"/>
          </a:xfrm>
          <a:prstGeom prst="rect">
            <a:avLst/>
          </a:prstGeom>
          <a:noFill/>
          <a:ln/>
        </p:spPr>
        <p:txBody>
          <a:bodyPr wrap="square" lIns="0" tIns="0" rIns="0" bIns="0" rtlCol="0" anchor="ctr"/>
          <a:lstStyle/>
          <a:p>
            <a:pPr marL="0" indent="0">
              <a:lnSpc>
                <a:spcPts val="2500"/>
              </a:lnSpc>
              <a:buNone/>
            </a:pPr>
            <a:r>
              <a:rPr lang="en-US" sz="1700" dirty="0">
                <a:solidFill>
                  <a:srgbClr val="D6E4F2"/>
                </a:solidFill>
                <a:latin typeface="Calibri" pitchFamily="34" charset="0"/>
                <a:ea typeface="Calibri" pitchFamily="34" charset="-122"/>
                <a:cs typeface="Calibri" pitchFamily="34" charset="-120"/>
              </a:rPr>
              <a:t>BTP innovation + SAP Business Data Cloud + a mobile-first surface — a consolidated proposal that shows harmonised retail data feeding AI agents.</a:t>
            </a:r>
            <a:endParaRPr lang="en-US" sz="1700" dirty="0"/>
          </a:p>
        </p:txBody>
      </p:sp>
      <p:pic>
        <p:nvPicPr>
          <p:cNvPr id="55" name="Image 0" descr="/home/claude/mark_white.png"/>
          <p:cNvPicPr>
            <a:picLocks noChangeAspect="1"/>
          </p:cNvPicPr>
          <p:nvPr/>
        </p:nvPicPr>
        <p:blipFill>
          <a:blip r:embed="rId3">
            <a:alphaModFix amt="50000"/>
          </a:blip>
          <a:stretch>
            <a:fillRect/>
          </a:stretch>
        </p:blipFill>
        <p:spPr>
          <a:xfrm>
            <a:off x="10195560" y="5257800"/>
            <a:ext cx="1325880" cy="505748"/>
          </a:xfrm>
          <a:prstGeom prst="rect">
            <a:avLst/>
          </a:prstGeom>
        </p:spPr>
      </p:pic>
      <p:sp>
        <p:nvSpPr>
          <p:cNvPr id="56" name="Text 53"/>
          <p:cNvSpPr/>
          <p:nvPr/>
        </p:nvSpPr>
        <p:spPr>
          <a:xfrm>
            <a:off x="11414455" y="6400800"/>
            <a:ext cx="457200" cy="274320"/>
          </a:xfrm>
          <a:prstGeom prst="rect">
            <a:avLst/>
          </a:prstGeom>
          <a:noFill/>
          <a:ln/>
        </p:spPr>
        <p:txBody>
          <a:bodyPr wrap="square" rtlCol="0" anchor="ctr"/>
          <a:lstStyle/>
          <a:p>
            <a:pPr marL="0" indent="0" algn="r">
              <a:buNone/>
            </a:pPr>
            <a:r>
              <a:rPr lang="en-US" sz="900" dirty="0">
                <a:solidFill>
                  <a:srgbClr val="A6B6CC"/>
                </a:solidFill>
                <a:latin typeface="Calibri" pitchFamily="34" charset="0"/>
                <a:ea typeface="Calibri" pitchFamily="34" charset="-122"/>
                <a:cs typeface="Calibri" pitchFamily="34" charset="-120"/>
              </a:rPr>
              <a:t>17</a:t>
            </a:r>
            <a:endParaRPr lang="en-US" sz="900" dirty="0"/>
          </a:p>
        </p:txBody>
      </p:sp>
      <p:pic>
        <p:nvPicPr>
          <p:cNvPr id="57" name="Image 1" descr="/home/claude/mark_white.png"/>
          <p:cNvPicPr>
            <a:picLocks noChangeAspect="1"/>
          </p:cNvPicPr>
          <p:nvPr/>
        </p:nvPicPr>
        <p:blipFill>
          <a:blip r:embed="rId3"/>
          <a:stretch>
            <a:fillRect/>
          </a:stretch>
        </p:blipFill>
        <p:spPr>
          <a:xfrm>
            <a:off x="457200" y="6355080"/>
            <a:ext cx="457200" cy="302412"/>
          </a:xfrm>
          <a:prstGeom prst="rect">
            <a:avLst/>
          </a:prstGeom>
        </p:spPr>
      </p:pic>
      <p:sp>
        <p:nvSpPr>
          <p:cNvPr id="58" name="Text 54"/>
          <p:cNvSpPr/>
          <p:nvPr/>
        </p:nvSpPr>
        <p:spPr>
          <a:xfrm>
            <a:off x="960120" y="6400800"/>
            <a:ext cx="1828800" cy="274320"/>
          </a:xfrm>
          <a:prstGeom prst="rect">
            <a:avLst/>
          </a:prstGeom>
          <a:noFill/>
          <a:ln/>
        </p:spPr>
        <p:txBody>
          <a:bodyPr wrap="square" lIns="0" tIns="0" rIns="0" bIns="0" rtlCol="0" anchor="ctr"/>
          <a:lstStyle/>
          <a:p>
            <a:pPr marL="0" indent="0">
              <a:buNone/>
            </a:pPr>
            <a:r>
              <a:rPr lang="en-US" sz="850" b="1" kern="0" spc="200" dirty="0">
                <a:solidFill>
                  <a:srgbClr val="A6B6CC"/>
                </a:solidFill>
                <a:latin typeface="Calibri" pitchFamily="34" charset="0"/>
                <a:ea typeface="Calibri" pitchFamily="34" charset="-122"/>
                <a:cs typeface="Calibri" pitchFamily="34" charset="-120"/>
              </a:rPr>
              <a:t>MSITEK</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7FB"/>
        </a:solidFill>
        <a:effectLst/>
      </p:bgPr>
    </p:bg>
    <p:spTree>
      <p:nvGrpSpPr>
        <p:cNvPr id="1" name=""/>
        <p:cNvGrpSpPr/>
        <p:nvPr/>
      </p:nvGrpSpPr>
      <p:grpSpPr>
        <a:xfrm>
          <a:off x="0" y="0"/>
          <a:ext cx="0" cy="0"/>
          <a:chOff x="0" y="0"/>
          <a:chExt cx="0" cy="0"/>
        </a:xfrm>
      </p:grpSpPr>
      <p:sp>
        <p:nvSpPr>
          <p:cNvPr id="2" name="Text 0"/>
          <p:cNvSpPr/>
          <p:nvPr/>
        </p:nvSpPr>
        <p:spPr>
          <a:xfrm>
            <a:off x="685800" y="457200"/>
            <a:ext cx="7315200" cy="274320"/>
          </a:xfrm>
          <a:prstGeom prst="rect">
            <a:avLst/>
          </a:prstGeom>
          <a:noFill/>
          <a:ln/>
        </p:spPr>
        <p:txBody>
          <a:bodyPr wrap="square" lIns="0" tIns="0" rIns="0" bIns="0" rtlCol="0" anchor="ctr"/>
          <a:lstStyle/>
          <a:p>
            <a:pPr marL="0" indent="0">
              <a:buNone/>
            </a:pPr>
            <a:r>
              <a:rPr lang="en-US" sz="1200" b="1" kern="0" spc="300" dirty="0">
                <a:solidFill>
                  <a:srgbClr val="1E578D"/>
                </a:solidFill>
                <a:latin typeface="Calibri" pitchFamily="34" charset="0"/>
                <a:ea typeface="Calibri" pitchFamily="34" charset="-122"/>
                <a:cs typeface="Calibri" pitchFamily="34" charset="-120"/>
              </a:rPr>
              <a:t>ROADMAP · THE BIG ONE</a:t>
            </a:r>
            <a:endParaRPr lang="en-US" sz="1200" dirty="0"/>
          </a:p>
        </p:txBody>
      </p:sp>
      <p:sp>
        <p:nvSpPr>
          <p:cNvPr id="3" name="Text 1"/>
          <p:cNvSpPr/>
          <p:nvPr/>
        </p:nvSpPr>
        <p:spPr>
          <a:xfrm>
            <a:off x="658368" y="749808"/>
            <a:ext cx="10789920" cy="502920"/>
          </a:xfrm>
          <a:prstGeom prst="rect">
            <a:avLst/>
          </a:prstGeom>
          <a:noFill/>
          <a:ln/>
        </p:spPr>
        <p:txBody>
          <a:bodyPr wrap="square" lIns="0" tIns="0" rIns="0" bIns="0" rtlCol="0" anchor="ctr"/>
          <a:lstStyle/>
          <a:p>
            <a:pPr marL="0" indent="0">
              <a:buNone/>
            </a:pPr>
            <a:r>
              <a:rPr lang="en-US" sz="2900" b="1" dirty="0">
                <a:solidFill>
                  <a:srgbClr val="10294A"/>
                </a:solidFill>
                <a:latin typeface="Bookman Old Style" pitchFamily="34" charset="0"/>
                <a:ea typeface="Bookman Old Style" pitchFamily="34" charset="-122"/>
                <a:cs typeface="Bookman Old Style" pitchFamily="34" charset="-120"/>
              </a:rPr>
              <a:t>Join the BTP and BDC pieces</a:t>
            </a:r>
            <a:endParaRPr lang="en-US" sz="2900" dirty="0"/>
          </a:p>
        </p:txBody>
      </p:sp>
      <p:sp>
        <p:nvSpPr>
          <p:cNvPr id="4" name="Text 2"/>
          <p:cNvSpPr/>
          <p:nvPr/>
        </p:nvSpPr>
        <p:spPr>
          <a:xfrm>
            <a:off x="685800" y="1325880"/>
            <a:ext cx="10698480" cy="640080"/>
          </a:xfrm>
          <a:prstGeom prst="rect">
            <a:avLst/>
          </a:prstGeom>
          <a:noFill/>
          <a:ln/>
        </p:spPr>
        <p:txBody>
          <a:bodyPr wrap="square" lIns="0" tIns="0" rIns="0" bIns="0" rtlCol="0" anchor="ctr"/>
          <a:lstStyle/>
          <a:p>
            <a:pPr marL="0" indent="0">
              <a:lnSpc>
                <a:spcPts val="2100"/>
              </a:lnSpc>
              <a:buNone/>
            </a:pPr>
            <a:r>
              <a:rPr lang="en-US" sz="1500" dirty="0">
                <a:solidFill>
                  <a:srgbClr val="54657E"/>
                </a:solidFill>
                <a:latin typeface="Calibri" pitchFamily="34" charset="0"/>
                <a:ea typeface="Calibri" pitchFamily="34" charset="-122"/>
                <a:cs typeface="Calibri" pitchFamily="34" charset="-120"/>
              </a:rPr>
              <a:t>Retail customers have huge data footprints. To feed AI agents well — SAP’s or their own — they must harmonise their SAP and non-SAP landscape. SAP Business Data Cloud is where that happens.</a:t>
            </a:r>
            <a:endParaRPr lang="en-US" sz="1500" dirty="0"/>
          </a:p>
        </p:txBody>
      </p:sp>
      <p:sp>
        <p:nvSpPr>
          <p:cNvPr id="5" name="Shape 3"/>
          <p:cNvSpPr/>
          <p:nvPr/>
        </p:nvSpPr>
        <p:spPr>
          <a:xfrm>
            <a:off x="685800" y="2240280"/>
            <a:ext cx="2615184" cy="2286000"/>
          </a:xfrm>
          <a:prstGeom prst="roundRect">
            <a:avLst>
              <a:gd name="adj" fmla="val 360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6" name="Shape 4"/>
          <p:cNvSpPr/>
          <p:nvPr/>
        </p:nvSpPr>
        <p:spPr>
          <a:xfrm>
            <a:off x="1719072" y="2496312"/>
            <a:ext cx="548640" cy="548640"/>
          </a:xfrm>
          <a:prstGeom prst="ellipse">
            <a:avLst/>
          </a:prstGeom>
          <a:solidFill>
            <a:srgbClr val="EEF3FA"/>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850746" y="2627986"/>
            <a:ext cx="285293" cy="285293"/>
          </a:xfrm>
          <a:prstGeom prst="rect">
            <a:avLst/>
          </a:prstGeom>
        </p:spPr>
      </p:pic>
      <p:sp>
        <p:nvSpPr>
          <p:cNvPr id="8" name="Text 5"/>
          <p:cNvSpPr/>
          <p:nvPr/>
        </p:nvSpPr>
        <p:spPr>
          <a:xfrm>
            <a:off x="868680" y="3154680"/>
            <a:ext cx="2249424" cy="548640"/>
          </a:xfrm>
          <a:prstGeom prst="rect">
            <a:avLst/>
          </a:prstGeom>
          <a:noFill/>
          <a:ln/>
        </p:spPr>
        <p:txBody>
          <a:bodyPr wrap="square" lIns="0" tIns="0" rIns="0" bIns="0" rtlCol="0" anchor="ctr"/>
          <a:lstStyle/>
          <a:p>
            <a:pPr marL="0" indent="0" algn="ctr">
              <a:lnSpc>
                <a:spcPts val="1600"/>
              </a:lnSpc>
              <a:buNone/>
            </a:pPr>
            <a:r>
              <a:rPr lang="en-US" sz="1300" b="1" dirty="0">
                <a:solidFill>
                  <a:srgbClr val="10294A"/>
                </a:solidFill>
                <a:latin typeface="Calibri" pitchFamily="34" charset="0"/>
                <a:ea typeface="Calibri" pitchFamily="34" charset="-122"/>
                <a:cs typeface="Calibri" pitchFamily="34" charset="-120"/>
              </a:rPr>
              <a:t>SAP + non-SAP sources</a:t>
            </a:r>
            <a:endParaRPr lang="en-US" sz="1300" dirty="0"/>
          </a:p>
        </p:txBody>
      </p:sp>
      <p:sp>
        <p:nvSpPr>
          <p:cNvPr id="9" name="Text 6"/>
          <p:cNvSpPr/>
          <p:nvPr/>
        </p:nvSpPr>
        <p:spPr>
          <a:xfrm>
            <a:off x="868680" y="3703320"/>
            <a:ext cx="2249424" cy="777240"/>
          </a:xfrm>
          <a:prstGeom prst="rect">
            <a:avLst/>
          </a:prstGeom>
          <a:noFill/>
          <a:ln/>
        </p:spPr>
        <p:txBody>
          <a:bodyPr wrap="square" lIns="0" tIns="0" rIns="0" bIns="0" rtlCol="0" anchor="ctr"/>
          <a:lstStyle/>
          <a:p>
            <a:pPr marL="0" indent="0" algn="ctr">
              <a:lnSpc>
                <a:spcPts val="1400"/>
              </a:lnSpc>
              <a:buNone/>
            </a:pPr>
            <a:r>
              <a:rPr lang="en-US" sz="1050" dirty="0">
                <a:solidFill>
                  <a:srgbClr val="54657E"/>
                </a:solidFill>
                <a:latin typeface="Calibri" pitchFamily="34" charset="0"/>
                <a:ea typeface="Calibri" pitchFamily="34" charset="-122"/>
                <a:cs typeface="Calibri" pitchFamily="34" charset="-120"/>
              </a:rPr>
              <a:t>Customer Checkout, master data, inventory, loyalty, external signals</a:t>
            </a:r>
            <a:endParaRPr lang="en-US" sz="1050" dirty="0"/>
          </a:p>
        </p:txBody>
      </p:sp>
      <p:sp>
        <p:nvSpPr>
          <p:cNvPr id="10" name="Text 7"/>
          <p:cNvSpPr/>
          <p:nvPr/>
        </p:nvSpPr>
        <p:spPr>
          <a:xfrm>
            <a:off x="3273552" y="3017520"/>
            <a:ext cx="310896" cy="457200"/>
          </a:xfrm>
          <a:prstGeom prst="rect">
            <a:avLst/>
          </a:prstGeom>
          <a:noFill/>
          <a:ln/>
        </p:spPr>
        <p:txBody>
          <a:bodyPr wrap="square" lIns="0" tIns="0" rIns="0" bIns="0" rtlCol="0" anchor="ctr"/>
          <a:lstStyle/>
          <a:p>
            <a:pPr marL="0" indent="0" algn="ctr">
              <a:buNone/>
            </a:pPr>
            <a:r>
              <a:rPr lang="en-US" sz="2400" b="1" dirty="0">
                <a:solidFill>
                  <a:srgbClr val="1E578D"/>
                </a:solidFill>
                <a:latin typeface="Calibri" pitchFamily="34" charset="0"/>
                <a:ea typeface="Calibri" pitchFamily="34" charset="-122"/>
                <a:cs typeface="Calibri" pitchFamily="34" charset="-120"/>
              </a:rPr>
              <a:t>→</a:t>
            </a:r>
            <a:endParaRPr lang="en-US" sz="2400" dirty="0"/>
          </a:p>
        </p:txBody>
      </p:sp>
      <p:sp>
        <p:nvSpPr>
          <p:cNvPr id="11" name="Shape 8"/>
          <p:cNvSpPr/>
          <p:nvPr/>
        </p:nvSpPr>
        <p:spPr>
          <a:xfrm>
            <a:off x="3557016" y="2240280"/>
            <a:ext cx="2615184" cy="2286000"/>
          </a:xfrm>
          <a:prstGeom prst="roundRect">
            <a:avLst>
              <a:gd name="adj" fmla="val 360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12" name="Shape 9"/>
          <p:cNvSpPr/>
          <p:nvPr/>
        </p:nvSpPr>
        <p:spPr>
          <a:xfrm>
            <a:off x="4590288" y="2496312"/>
            <a:ext cx="548640" cy="548640"/>
          </a:xfrm>
          <a:prstGeom prst="ellipse">
            <a:avLst/>
          </a:prstGeom>
          <a:solidFill>
            <a:srgbClr val="EEF3FA"/>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721962" y="2627986"/>
            <a:ext cx="285293" cy="285293"/>
          </a:xfrm>
          <a:prstGeom prst="rect">
            <a:avLst/>
          </a:prstGeom>
        </p:spPr>
      </p:pic>
      <p:sp>
        <p:nvSpPr>
          <p:cNvPr id="14" name="Text 10"/>
          <p:cNvSpPr/>
          <p:nvPr/>
        </p:nvSpPr>
        <p:spPr>
          <a:xfrm>
            <a:off x="3739896" y="3154680"/>
            <a:ext cx="2249424" cy="548640"/>
          </a:xfrm>
          <a:prstGeom prst="rect">
            <a:avLst/>
          </a:prstGeom>
          <a:noFill/>
          <a:ln/>
        </p:spPr>
        <p:txBody>
          <a:bodyPr wrap="square" lIns="0" tIns="0" rIns="0" bIns="0" rtlCol="0" anchor="ctr"/>
          <a:lstStyle/>
          <a:p>
            <a:pPr marL="0" indent="0" algn="ctr">
              <a:lnSpc>
                <a:spcPts val="1600"/>
              </a:lnSpc>
              <a:buNone/>
            </a:pPr>
            <a:r>
              <a:rPr lang="en-US" sz="1300" b="1" dirty="0">
                <a:solidFill>
                  <a:srgbClr val="10294A"/>
                </a:solidFill>
                <a:latin typeface="Calibri" pitchFamily="34" charset="0"/>
                <a:ea typeface="Calibri" pitchFamily="34" charset="-122"/>
                <a:cs typeface="Calibri" pitchFamily="34" charset="-120"/>
              </a:rPr>
              <a:t>SAP Retail Data Products</a:t>
            </a:r>
            <a:endParaRPr lang="en-US" sz="1300" dirty="0"/>
          </a:p>
        </p:txBody>
      </p:sp>
      <p:sp>
        <p:nvSpPr>
          <p:cNvPr id="15" name="Text 11"/>
          <p:cNvSpPr/>
          <p:nvPr/>
        </p:nvSpPr>
        <p:spPr>
          <a:xfrm>
            <a:off x="3739896" y="3703320"/>
            <a:ext cx="2249424" cy="777240"/>
          </a:xfrm>
          <a:prstGeom prst="rect">
            <a:avLst/>
          </a:prstGeom>
          <a:noFill/>
          <a:ln/>
        </p:spPr>
        <p:txBody>
          <a:bodyPr wrap="square" lIns="0" tIns="0" rIns="0" bIns="0" rtlCol="0" anchor="ctr"/>
          <a:lstStyle/>
          <a:p>
            <a:pPr marL="0" indent="0" algn="ctr">
              <a:lnSpc>
                <a:spcPts val="1400"/>
              </a:lnSpc>
              <a:buNone/>
            </a:pPr>
            <a:r>
              <a:rPr lang="en-US" sz="1050" dirty="0">
                <a:solidFill>
                  <a:srgbClr val="54657E"/>
                </a:solidFill>
                <a:latin typeface="Calibri" pitchFamily="34" charset="0"/>
                <a:ea typeface="Calibri" pitchFamily="34" charset="-122"/>
                <a:cs typeface="Calibri" pitchFamily="34" charset="-120"/>
              </a:rPr>
              <a:t>Built on BDC — standard or custom — harmonised and governed</a:t>
            </a:r>
            <a:endParaRPr lang="en-US" sz="1050" dirty="0"/>
          </a:p>
        </p:txBody>
      </p:sp>
      <p:sp>
        <p:nvSpPr>
          <p:cNvPr id="16" name="Text 12"/>
          <p:cNvSpPr/>
          <p:nvPr/>
        </p:nvSpPr>
        <p:spPr>
          <a:xfrm>
            <a:off x="6144768" y="3017520"/>
            <a:ext cx="310896" cy="457200"/>
          </a:xfrm>
          <a:prstGeom prst="rect">
            <a:avLst/>
          </a:prstGeom>
          <a:noFill/>
          <a:ln/>
        </p:spPr>
        <p:txBody>
          <a:bodyPr wrap="square" lIns="0" tIns="0" rIns="0" bIns="0" rtlCol="0" anchor="ctr"/>
          <a:lstStyle/>
          <a:p>
            <a:pPr marL="0" indent="0" algn="ctr">
              <a:buNone/>
            </a:pPr>
            <a:r>
              <a:rPr lang="en-US" sz="2400" b="1" dirty="0">
                <a:solidFill>
                  <a:srgbClr val="1E578D"/>
                </a:solidFill>
                <a:latin typeface="Calibri" pitchFamily="34" charset="0"/>
                <a:ea typeface="Calibri" pitchFamily="34" charset="-122"/>
                <a:cs typeface="Calibri" pitchFamily="34" charset="-120"/>
              </a:rPr>
              <a:t>→</a:t>
            </a:r>
            <a:endParaRPr lang="en-US" sz="2400" dirty="0"/>
          </a:p>
        </p:txBody>
      </p:sp>
      <p:sp>
        <p:nvSpPr>
          <p:cNvPr id="17" name="Shape 13"/>
          <p:cNvSpPr/>
          <p:nvPr/>
        </p:nvSpPr>
        <p:spPr>
          <a:xfrm>
            <a:off x="6428232" y="2240280"/>
            <a:ext cx="2615184" cy="2286000"/>
          </a:xfrm>
          <a:prstGeom prst="roundRect">
            <a:avLst>
              <a:gd name="adj" fmla="val 360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18" name="Shape 14"/>
          <p:cNvSpPr/>
          <p:nvPr/>
        </p:nvSpPr>
        <p:spPr>
          <a:xfrm>
            <a:off x="7461504" y="2496312"/>
            <a:ext cx="548640" cy="548640"/>
          </a:xfrm>
          <a:prstGeom prst="ellipse">
            <a:avLst/>
          </a:prstGeom>
          <a:solidFill>
            <a:srgbClr val="EEF3FA"/>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7593178" y="2627986"/>
            <a:ext cx="285293" cy="285293"/>
          </a:xfrm>
          <a:prstGeom prst="rect">
            <a:avLst/>
          </a:prstGeom>
        </p:spPr>
      </p:pic>
      <p:sp>
        <p:nvSpPr>
          <p:cNvPr id="20" name="Text 15"/>
          <p:cNvSpPr/>
          <p:nvPr/>
        </p:nvSpPr>
        <p:spPr>
          <a:xfrm>
            <a:off x="6611112" y="3154680"/>
            <a:ext cx="2249424" cy="548640"/>
          </a:xfrm>
          <a:prstGeom prst="rect">
            <a:avLst/>
          </a:prstGeom>
          <a:noFill/>
          <a:ln/>
        </p:spPr>
        <p:txBody>
          <a:bodyPr wrap="square" lIns="0" tIns="0" rIns="0" bIns="0" rtlCol="0" anchor="ctr"/>
          <a:lstStyle/>
          <a:p>
            <a:pPr marL="0" indent="0" algn="ctr">
              <a:lnSpc>
                <a:spcPts val="1600"/>
              </a:lnSpc>
              <a:buNone/>
            </a:pPr>
            <a:r>
              <a:rPr lang="en-US" sz="1300" b="1" dirty="0">
                <a:solidFill>
                  <a:srgbClr val="10294A"/>
                </a:solidFill>
                <a:latin typeface="Calibri" pitchFamily="34" charset="0"/>
                <a:ea typeface="Calibri" pitchFamily="34" charset="-122"/>
                <a:cs typeface="Calibri" pitchFamily="34" charset="-120"/>
              </a:rPr>
              <a:t>Databricks AI/ML</a:t>
            </a:r>
            <a:endParaRPr lang="en-US" sz="1300" dirty="0"/>
          </a:p>
        </p:txBody>
      </p:sp>
      <p:sp>
        <p:nvSpPr>
          <p:cNvPr id="21" name="Text 16"/>
          <p:cNvSpPr/>
          <p:nvPr/>
        </p:nvSpPr>
        <p:spPr>
          <a:xfrm>
            <a:off x="6611112" y="3703320"/>
            <a:ext cx="2249424" cy="777240"/>
          </a:xfrm>
          <a:prstGeom prst="rect">
            <a:avLst/>
          </a:prstGeom>
          <a:noFill/>
          <a:ln/>
        </p:spPr>
        <p:txBody>
          <a:bodyPr wrap="square" lIns="0" tIns="0" rIns="0" bIns="0" rtlCol="0" anchor="ctr"/>
          <a:lstStyle/>
          <a:p>
            <a:pPr marL="0" indent="0" algn="ctr">
              <a:lnSpc>
                <a:spcPts val="1400"/>
              </a:lnSpc>
              <a:buNone/>
            </a:pPr>
            <a:r>
              <a:rPr lang="en-US" sz="1050" dirty="0">
                <a:solidFill>
                  <a:srgbClr val="54657E"/>
                </a:solidFill>
                <a:latin typeface="Calibri" pitchFamily="34" charset="0"/>
                <a:ea typeface="Calibri" pitchFamily="34" charset="-122"/>
                <a:cs typeface="Calibri" pitchFamily="34" charset="-120"/>
              </a:rPr>
              <a:t>Sold in conjunction with BDC; models feed on the harmonised products</a:t>
            </a:r>
            <a:endParaRPr lang="en-US" sz="1050" dirty="0"/>
          </a:p>
        </p:txBody>
      </p:sp>
      <p:sp>
        <p:nvSpPr>
          <p:cNvPr id="22" name="Text 17"/>
          <p:cNvSpPr/>
          <p:nvPr/>
        </p:nvSpPr>
        <p:spPr>
          <a:xfrm>
            <a:off x="9015984" y="3017520"/>
            <a:ext cx="310896" cy="457200"/>
          </a:xfrm>
          <a:prstGeom prst="rect">
            <a:avLst/>
          </a:prstGeom>
          <a:noFill/>
          <a:ln/>
        </p:spPr>
        <p:txBody>
          <a:bodyPr wrap="square" lIns="0" tIns="0" rIns="0" bIns="0" rtlCol="0" anchor="ctr"/>
          <a:lstStyle/>
          <a:p>
            <a:pPr marL="0" indent="0" algn="ctr">
              <a:buNone/>
            </a:pPr>
            <a:r>
              <a:rPr lang="en-US" sz="2400" b="1" dirty="0">
                <a:solidFill>
                  <a:srgbClr val="1E578D"/>
                </a:solidFill>
                <a:latin typeface="Calibri" pitchFamily="34" charset="0"/>
                <a:ea typeface="Calibri" pitchFamily="34" charset="-122"/>
                <a:cs typeface="Calibri" pitchFamily="34" charset="-120"/>
              </a:rPr>
              <a:t>→</a:t>
            </a:r>
            <a:endParaRPr lang="en-US" sz="2400" dirty="0"/>
          </a:p>
        </p:txBody>
      </p:sp>
      <p:sp>
        <p:nvSpPr>
          <p:cNvPr id="23" name="Shape 18"/>
          <p:cNvSpPr/>
          <p:nvPr/>
        </p:nvSpPr>
        <p:spPr>
          <a:xfrm>
            <a:off x="9299448" y="2240280"/>
            <a:ext cx="2615184" cy="2286000"/>
          </a:xfrm>
          <a:prstGeom prst="roundRect">
            <a:avLst>
              <a:gd name="adj" fmla="val 360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24" name="Shape 19"/>
          <p:cNvSpPr/>
          <p:nvPr/>
        </p:nvSpPr>
        <p:spPr>
          <a:xfrm>
            <a:off x="10332720" y="2496312"/>
            <a:ext cx="548640" cy="548640"/>
          </a:xfrm>
          <a:prstGeom prst="ellipse">
            <a:avLst/>
          </a:prstGeom>
          <a:solidFill>
            <a:srgbClr val="EEF3FA"/>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10464394" y="2627986"/>
            <a:ext cx="285293" cy="285293"/>
          </a:xfrm>
          <a:prstGeom prst="rect">
            <a:avLst/>
          </a:prstGeom>
        </p:spPr>
      </p:pic>
      <p:sp>
        <p:nvSpPr>
          <p:cNvPr id="26" name="Text 20"/>
          <p:cNvSpPr/>
          <p:nvPr/>
        </p:nvSpPr>
        <p:spPr>
          <a:xfrm>
            <a:off x="9482328" y="3154680"/>
            <a:ext cx="2249424" cy="548640"/>
          </a:xfrm>
          <a:prstGeom prst="rect">
            <a:avLst/>
          </a:prstGeom>
          <a:noFill/>
          <a:ln/>
        </p:spPr>
        <p:txBody>
          <a:bodyPr wrap="square" lIns="0" tIns="0" rIns="0" bIns="0" rtlCol="0" anchor="ctr"/>
          <a:lstStyle/>
          <a:p>
            <a:pPr marL="0" indent="0" algn="ctr">
              <a:lnSpc>
                <a:spcPts val="1600"/>
              </a:lnSpc>
              <a:buNone/>
            </a:pPr>
            <a:r>
              <a:rPr lang="en-US" sz="1300" b="1" dirty="0">
                <a:solidFill>
                  <a:srgbClr val="10294A"/>
                </a:solidFill>
                <a:latin typeface="Calibri" pitchFamily="34" charset="0"/>
                <a:ea typeface="Calibri" pitchFamily="34" charset="-122"/>
                <a:cs typeface="Calibri" pitchFamily="34" charset="-120"/>
              </a:rPr>
              <a:t>Our BTP retail AI app</a:t>
            </a:r>
            <a:endParaRPr lang="en-US" sz="1300" dirty="0"/>
          </a:p>
        </p:txBody>
      </p:sp>
      <p:sp>
        <p:nvSpPr>
          <p:cNvPr id="27" name="Text 21"/>
          <p:cNvSpPr/>
          <p:nvPr/>
        </p:nvSpPr>
        <p:spPr>
          <a:xfrm>
            <a:off x="9482328" y="3703320"/>
            <a:ext cx="2249424" cy="777240"/>
          </a:xfrm>
          <a:prstGeom prst="rect">
            <a:avLst/>
          </a:prstGeom>
          <a:noFill/>
          <a:ln/>
        </p:spPr>
        <p:txBody>
          <a:bodyPr wrap="square" lIns="0" tIns="0" rIns="0" bIns="0" rtlCol="0" anchor="ctr"/>
          <a:lstStyle/>
          <a:p>
            <a:pPr marL="0" indent="0" algn="ctr">
              <a:lnSpc>
                <a:spcPts val="1400"/>
              </a:lnSpc>
              <a:buNone/>
            </a:pPr>
            <a:r>
              <a:rPr lang="en-US" sz="1050" dirty="0">
                <a:solidFill>
                  <a:srgbClr val="54657E"/>
                </a:solidFill>
                <a:latin typeface="Calibri" pitchFamily="34" charset="0"/>
                <a:ea typeface="Calibri" pitchFamily="34" charset="-122"/>
                <a:cs typeface="Calibri" pitchFamily="34" charset="-120"/>
              </a:rPr>
              <a:t>The six scenarios, now reading BDC data products instead of a seeded extract</a:t>
            </a:r>
            <a:endParaRPr lang="en-US" sz="1050" dirty="0"/>
          </a:p>
        </p:txBody>
      </p:sp>
      <p:sp>
        <p:nvSpPr>
          <p:cNvPr id="28" name="Shape 22"/>
          <p:cNvSpPr/>
          <p:nvPr/>
        </p:nvSpPr>
        <p:spPr>
          <a:xfrm>
            <a:off x="685800" y="4800600"/>
            <a:ext cx="10835640" cy="914400"/>
          </a:xfrm>
          <a:prstGeom prst="roundRect">
            <a:avLst>
              <a:gd name="adj" fmla="val 9000"/>
            </a:avLst>
          </a:prstGeom>
          <a:solidFill>
            <a:srgbClr val="10294A"/>
          </a:solidFill>
          <a:ln/>
          <a:effectLst>
            <a:outerShdw blurRad="88900" dist="25400" dir="5400000" algn="bl" rotWithShape="0">
              <a:srgbClr val="10294A">
                <a:alpha val="12000"/>
              </a:srgbClr>
            </a:outerShdw>
          </a:effectLst>
        </p:spPr>
        <p:txBody>
          <a:bodyPr/>
          <a:lstStyle/>
          <a:p>
            <a:endParaRPr lang="en-US"/>
          </a:p>
        </p:txBody>
      </p:sp>
      <p:pic>
        <p:nvPicPr>
          <p:cNvPr id="29" name="Image 4" descr="preencoded.png"/>
          <p:cNvPicPr>
            <a:picLocks noChangeAspect="1"/>
          </p:cNvPicPr>
          <p:nvPr/>
        </p:nvPicPr>
        <p:blipFill>
          <a:blip r:embed="rId7"/>
          <a:stretch>
            <a:fillRect/>
          </a:stretch>
        </p:blipFill>
        <p:spPr>
          <a:xfrm>
            <a:off x="960120" y="5029200"/>
            <a:ext cx="411480" cy="411480"/>
          </a:xfrm>
          <a:prstGeom prst="rect">
            <a:avLst/>
          </a:prstGeom>
        </p:spPr>
      </p:pic>
      <p:sp>
        <p:nvSpPr>
          <p:cNvPr id="30" name="Text 23"/>
          <p:cNvSpPr/>
          <p:nvPr/>
        </p:nvSpPr>
        <p:spPr>
          <a:xfrm>
            <a:off x="1463040" y="4937760"/>
            <a:ext cx="9875520" cy="685800"/>
          </a:xfrm>
          <a:prstGeom prst="rect">
            <a:avLst/>
          </a:prstGeom>
          <a:noFill/>
          <a:ln/>
        </p:spPr>
        <p:txBody>
          <a:bodyPr wrap="square" lIns="0" tIns="0" rIns="0" bIns="0" rtlCol="0" anchor="ctr"/>
          <a:lstStyle/>
          <a:p>
            <a:pPr marL="0" indent="0">
              <a:lnSpc>
                <a:spcPts val="1800"/>
              </a:lnSpc>
              <a:buNone/>
            </a:pPr>
            <a:r>
              <a:rPr lang="en-US" sz="1350" dirty="0">
                <a:solidFill>
                  <a:srgbClr val="D6E4F2"/>
                </a:solidFill>
                <a:latin typeface="Calibri" pitchFamily="34" charset="0"/>
                <a:ea typeface="Calibri" pitchFamily="34" charset="-122"/>
                <a:cs typeface="Calibri" pitchFamily="34" charset="-120"/>
              </a:rPr>
              <a:t>The demo add: build SAP Retail Data Products in BDC (standard or custom), point our scenarios at them, and show BDC’s capability live — one consolidated BTP + BDC proposal.</a:t>
            </a:r>
            <a:endParaRPr lang="en-US" sz="1350" dirty="0"/>
          </a:p>
        </p:txBody>
      </p:sp>
      <p:sp>
        <p:nvSpPr>
          <p:cNvPr id="31" name="Text 24"/>
          <p:cNvSpPr/>
          <p:nvPr/>
        </p:nvSpPr>
        <p:spPr>
          <a:xfrm>
            <a:off x="11414455" y="6400800"/>
            <a:ext cx="457200" cy="274320"/>
          </a:xfrm>
          <a:prstGeom prst="rect">
            <a:avLst/>
          </a:prstGeom>
          <a:noFill/>
          <a:ln/>
        </p:spPr>
        <p:txBody>
          <a:bodyPr wrap="square" rtlCol="0" anchor="ctr"/>
          <a:lstStyle/>
          <a:p>
            <a:pPr marL="0" indent="0" algn="r">
              <a:buNone/>
            </a:pPr>
            <a:r>
              <a:rPr lang="en-US" sz="900" dirty="0">
                <a:solidFill>
                  <a:srgbClr val="A6B6CC"/>
                </a:solidFill>
                <a:latin typeface="Calibri" pitchFamily="34" charset="0"/>
                <a:ea typeface="Calibri" pitchFamily="34" charset="-122"/>
                <a:cs typeface="Calibri" pitchFamily="34" charset="-120"/>
              </a:rPr>
              <a:t>18</a:t>
            </a:r>
            <a:endParaRPr lang="en-US" sz="900" dirty="0"/>
          </a:p>
        </p:txBody>
      </p:sp>
      <p:pic>
        <p:nvPicPr>
          <p:cNvPr id="32" name="Image 5" descr="/home/claude/logo_wide_trim.png"/>
          <p:cNvPicPr>
            <a:picLocks noChangeAspect="1"/>
          </p:cNvPicPr>
          <p:nvPr/>
        </p:nvPicPr>
        <p:blipFill>
          <a:blip r:embed="rId8"/>
          <a:stretch>
            <a:fillRect/>
          </a:stretch>
        </p:blipFill>
        <p:spPr>
          <a:xfrm>
            <a:off x="457200" y="6345936"/>
            <a:ext cx="1234440" cy="24075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7FB"/>
        </a:solidFill>
        <a:effectLst/>
      </p:bgPr>
    </p:bg>
    <p:spTree>
      <p:nvGrpSpPr>
        <p:cNvPr id="1" name=""/>
        <p:cNvGrpSpPr/>
        <p:nvPr/>
      </p:nvGrpSpPr>
      <p:grpSpPr>
        <a:xfrm>
          <a:off x="0" y="0"/>
          <a:ext cx="0" cy="0"/>
          <a:chOff x="0" y="0"/>
          <a:chExt cx="0" cy="0"/>
        </a:xfrm>
      </p:grpSpPr>
      <p:sp>
        <p:nvSpPr>
          <p:cNvPr id="2" name="Text 0"/>
          <p:cNvSpPr/>
          <p:nvPr/>
        </p:nvSpPr>
        <p:spPr>
          <a:xfrm>
            <a:off x="685800" y="457200"/>
            <a:ext cx="7315200" cy="274320"/>
          </a:xfrm>
          <a:prstGeom prst="rect">
            <a:avLst/>
          </a:prstGeom>
          <a:noFill/>
          <a:ln/>
        </p:spPr>
        <p:txBody>
          <a:bodyPr wrap="square" lIns="0" tIns="0" rIns="0" bIns="0" rtlCol="0" anchor="ctr"/>
          <a:lstStyle/>
          <a:p>
            <a:pPr marL="0" indent="0">
              <a:buNone/>
            </a:pPr>
            <a:r>
              <a:rPr lang="en-US" sz="1200" b="1" kern="0" spc="300" dirty="0">
                <a:solidFill>
                  <a:srgbClr val="1E578D"/>
                </a:solidFill>
                <a:latin typeface="Calibri" pitchFamily="34" charset="0"/>
                <a:ea typeface="Calibri" pitchFamily="34" charset="-122"/>
                <a:cs typeface="Calibri" pitchFamily="34" charset="-120"/>
              </a:rPr>
              <a:t>ROADMAP · INNOVATION PIPELINE</a:t>
            </a:r>
            <a:endParaRPr lang="en-US" sz="1200" dirty="0"/>
          </a:p>
        </p:txBody>
      </p:sp>
      <p:sp>
        <p:nvSpPr>
          <p:cNvPr id="3" name="Text 1"/>
          <p:cNvSpPr/>
          <p:nvPr/>
        </p:nvSpPr>
        <p:spPr>
          <a:xfrm>
            <a:off x="658368" y="749808"/>
            <a:ext cx="10789920" cy="502920"/>
          </a:xfrm>
          <a:prstGeom prst="rect">
            <a:avLst/>
          </a:prstGeom>
          <a:noFill/>
          <a:ln/>
        </p:spPr>
        <p:txBody>
          <a:bodyPr wrap="square" lIns="0" tIns="0" rIns="0" bIns="0" rtlCol="0" anchor="ctr"/>
          <a:lstStyle/>
          <a:p>
            <a:pPr marL="0" indent="0">
              <a:buNone/>
            </a:pPr>
            <a:r>
              <a:rPr lang="en-US" sz="2900" b="1" dirty="0">
                <a:solidFill>
                  <a:srgbClr val="10294A"/>
                </a:solidFill>
                <a:latin typeface="Bookman Old Style" pitchFamily="34" charset="0"/>
                <a:ea typeface="Bookman Old Style" pitchFamily="34" charset="-122"/>
                <a:cs typeface="Bookman Old Style" pitchFamily="34" charset="-120"/>
              </a:rPr>
              <a:t>From proposing to acting</a:t>
            </a:r>
            <a:endParaRPr lang="en-US" sz="2900" dirty="0"/>
          </a:p>
        </p:txBody>
      </p:sp>
      <p:sp>
        <p:nvSpPr>
          <p:cNvPr id="4" name="Text 2"/>
          <p:cNvSpPr/>
          <p:nvPr/>
        </p:nvSpPr>
        <p:spPr>
          <a:xfrm>
            <a:off x="685800" y="1298448"/>
            <a:ext cx="10698480" cy="640080"/>
          </a:xfrm>
          <a:prstGeom prst="rect">
            <a:avLst/>
          </a:prstGeom>
          <a:noFill/>
          <a:ln/>
        </p:spPr>
        <p:txBody>
          <a:bodyPr wrap="square" lIns="0" tIns="0" rIns="0" bIns="0" rtlCol="0" anchor="ctr"/>
          <a:lstStyle/>
          <a:p>
            <a:pPr marL="0" indent="0">
              <a:lnSpc>
                <a:spcPts val="2000"/>
              </a:lnSpc>
              <a:buNone/>
            </a:pPr>
            <a:r>
              <a:rPr lang="en-US" sz="1450" dirty="0">
                <a:solidFill>
                  <a:srgbClr val="54657E"/>
                </a:solidFill>
                <a:latin typeface="Calibri" pitchFamily="34" charset="0"/>
                <a:ea typeface="Calibri" pitchFamily="34" charset="-122"/>
                <a:cs typeface="Calibri" pitchFamily="34" charset="-120"/>
              </a:rPr>
              <a:t>Today the engines recommend and a person acts. The next step is autonomous action inside guardrails — the direction SAP’s Autonomous ERP is heading, and where an unstaffed store has the most to gain.</a:t>
            </a:r>
            <a:endParaRPr lang="en-US" sz="1450" dirty="0"/>
          </a:p>
        </p:txBody>
      </p:sp>
      <p:sp>
        <p:nvSpPr>
          <p:cNvPr id="5" name="Shape 3"/>
          <p:cNvSpPr/>
          <p:nvPr/>
        </p:nvSpPr>
        <p:spPr>
          <a:xfrm>
            <a:off x="685800" y="2148840"/>
            <a:ext cx="3520440" cy="2880360"/>
          </a:xfrm>
          <a:prstGeom prst="roundRect">
            <a:avLst>
              <a:gd name="adj" fmla="val 2857"/>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6" name="Shape 4"/>
          <p:cNvSpPr/>
          <p:nvPr/>
        </p:nvSpPr>
        <p:spPr>
          <a:xfrm>
            <a:off x="960120" y="2423160"/>
            <a:ext cx="548640" cy="548640"/>
          </a:xfrm>
          <a:prstGeom prst="ellipse">
            <a:avLst/>
          </a:prstGeom>
          <a:solidFill>
            <a:srgbClr val="EEF3FA"/>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91794" y="2554834"/>
            <a:ext cx="285293" cy="285293"/>
          </a:xfrm>
          <a:prstGeom prst="rect">
            <a:avLst/>
          </a:prstGeom>
        </p:spPr>
      </p:pic>
      <p:sp>
        <p:nvSpPr>
          <p:cNvPr id="8" name="Shape 5"/>
          <p:cNvSpPr/>
          <p:nvPr/>
        </p:nvSpPr>
        <p:spPr>
          <a:xfrm>
            <a:off x="2659075" y="2532888"/>
            <a:ext cx="1272845" cy="274320"/>
          </a:xfrm>
          <a:prstGeom prst="roundRect">
            <a:avLst>
              <a:gd name="adj" fmla="val 50000"/>
            </a:avLst>
          </a:prstGeom>
          <a:solidFill>
            <a:srgbClr val="2E9B5B"/>
          </a:solidFill>
          <a:ln/>
        </p:spPr>
        <p:txBody>
          <a:bodyPr/>
          <a:lstStyle/>
          <a:p>
            <a:endParaRPr lang="en-US"/>
          </a:p>
        </p:txBody>
      </p:sp>
      <p:sp>
        <p:nvSpPr>
          <p:cNvPr id="9" name="Text 6"/>
          <p:cNvSpPr/>
          <p:nvPr/>
        </p:nvSpPr>
        <p:spPr>
          <a:xfrm>
            <a:off x="2659075" y="2532888"/>
            <a:ext cx="1272845"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SHIPPED → NEXT</a:t>
            </a:r>
            <a:endParaRPr lang="en-US" sz="850" dirty="0"/>
          </a:p>
        </p:txBody>
      </p:sp>
      <p:sp>
        <p:nvSpPr>
          <p:cNvPr id="10" name="Text 7"/>
          <p:cNvSpPr/>
          <p:nvPr/>
        </p:nvSpPr>
        <p:spPr>
          <a:xfrm>
            <a:off x="960120" y="3108960"/>
            <a:ext cx="2971800" cy="640080"/>
          </a:xfrm>
          <a:prstGeom prst="rect">
            <a:avLst/>
          </a:prstGeom>
          <a:noFill/>
          <a:ln/>
        </p:spPr>
        <p:txBody>
          <a:bodyPr wrap="square" lIns="0" tIns="0" rIns="0" bIns="0" rtlCol="0" anchor="ctr"/>
          <a:lstStyle/>
          <a:p>
            <a:pPr marL="0" indent="0">
              <a:lnSpc>
                <a:spcPts val="1900"/>
              </a:lnSpc>
              <a:buNone/>
            </a:pPr>
            <a:r>
              <a:rPr lang="en-US" sz="1600" b="1" dirty="0">
                <a:solidFill>
                  <a:srgbClr val="10294A"/>
                </a:solidFill>
                <a:latin typeface="Calibri" pitchFamily="34" charset="0"/>
                <a:ea typeface="Calibri" pitchFamily="34" charset="-122"/>
                <a:cs typeface="Calibri" pitchFamily="34" charset="-120"/>
              </a:rPr>
              <a:t>Auto-replenishment, closed loop</a:t>
            </a:r>
            <a:endParaRPr lang="en-US" sz="1600" dirty="0"/>
          </a:p>
        </p:txBody>
      </p:sp>
      <p:sp>
        <p:nvSpPr>
          <p:cNvPr id="11" name="Text 8"/>
          <p:cNvSpPr/>
          <p:nvPr/>
        </p:nvSpPr>
        <p:spPr>
          <a:xfrm>
            <a:off x="960120" y="3749040"/>
            <a:ext cx="2971800" cy="1188720"/>
          </a:xfrm>
          <a:prstGeom prst="rect">
            <a:avLst/>
          </a:prstGeom>
          <a:noFill/>
          <a:ln/>
        </p:spPr>
        <p:txBody>
          <a:bodyPr wrap="square" lIns="0" tIns="0" rIns="0" bIns="0" rtlCol="0" anchor="ctr"/>
          <a:lstStyle/>
          <a:p>
            <a:pPr marL="0" indent="0">
              <a:lnSpc>
                <a:spcPts val="1600"/>
              </a:lnSpc>
              <a:buNone/>
            </a:pPr>
            <a:r>
              <a:rPr lang="en-US" sz="1150" dirty="0">
                <a:solidFill>
                  <a:srgbClr val="54657E"/>
                </a:solidFill>
                <a:latin typeface="Calibri" pitchFamily="34" charset="0"/>
                <a:ea typeface="Calibri" pitchFamily="34" charset="-122"/>
                <a:cs typeface="Calibri" pitchFamily="34" charset="-120"/>
              </a:rPr>
              <a:t>Today it proposes orders and a manager releases them. Next: auto-release within value and confidence guardrails, straight into SAP ordering — the releaseOrder action already exists.</a:t>
            </a:r>
            <a:endParaRPr lang="en-US" sz="1150" dirty="0"/>
          </a:p>
        </p:txBody>
      </p:sp>
      <p:sp>
        <p:nvSpPr>
          <p:cNvPr id="12" name="Shape 9"/>
          <p:cNvSpPr/>
          <p:nvPr/>
        </p:nvSpPr>
        <p:spPr>
          <a:xfrm>
            <a:off x="4480560" y="2148840"/>
            <a:ext cx="3520440" cy="2880360"/>
          </a:xfrm>
          <a:prstGeom prst="roundRect">
            <a:avLst>
              <a:gd name="adj" fmla="val 2857"/>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13" name="Shape 10"/>
          <p:cNvSpPr/>
          <p:nvPr/>
        </p:nvSpPr>
        <p:spPr>
          <a:xfrm>
            <a:off x="4754880" y="2423160"/>
            <a:ext cx="548640" cy="548640"/>
          </a:xfrm>
          <a:prstGeom prst="ellipse">
            <a:avLst/>
          </a:prstGeom>
          <a:solidFill>
            <a:srgbClr val="EEF3FA"/>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886554" y="2554834"/>
            <a:ext cx="285293" cy="285293"/>
          </a:xfrm>
          <a:prstGeom prst="rect">
            <a:avLst/>
          </a:prstGeom>
        </p:spPr>
      </p:pic>
      <p:sp>
        <p:nvSpPr>
          <p:cNvPr id="15" name="Shape 11"/>
          <p:cNvSpPr/>
          <p:nvPr/>
        </p:nvSpPr>
        <p:spPr>
          <a:xfrm>
            <a:off x="7238390" y="2532888"/>
            <a:ext cx="488290" cy="274320"/>
          </a:xfrm>
          <a:prstGeom prst="roundRect">
            <a:avLst>
              <a:gd name="adj" fmla="val 50000"/>
            </a:avLst>
          </a:prstGeom>
          <a:solidFill>
            <a:srgbClr val="DE0024"/>
          </a:solidFill>
          <a:ln/>
        </p:spPr>
        <p:txBody>
          <a:bodyPr/>
          <a:lstStyle/>
          <a:p>
            <a:endParaRPr lang="en-US"/>
          </a:p>
        </p:txBody>
      </p:sp>
      <p:sp>
        <p:nvSpPr>
          <p:cNvPr id="16" name="Text 12"/>
          <p:cNvSpPr/>
          <p:nvPr/>
        </p:nvSpPr>
        <p:spPr>
          <a:xfrm>
            <a:off x="7238390" y="2532888"/>
            <a:ext cx="48829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NEW</a:t>
            </a:r>
            <a:endParaRPr lang="en-US" sz="850" dirty="0"/>
          </a:p>
        </p:txBody>
      </p:sp>
      <p:sp>
        <p:nvSpPr>
          <p:cNvPr id="17" name="Text 13"/>
          <p:cNvSpPr/>
          <p:nvPr/>
        </p:nvSpPr>
        <p:spPr>
          <a:xfrm>
            <a:off x="4754880" y="3108960"/>
            <a:ext cx="2971800" cy="640080"/>
          </a:xfrm>
          <a:prstGeom prst="rect">
            <a:avLst/>
          </a:prstGeom>
          <a:noFill/>
          <a:ln/>
        </p:spPr>
        <p:txBody>
          <a:bodyPr wrap="square" lIns="0" tIns="0" rIns="0" bIns="0" rtlCol="0" anchor="ctr"/>
          <a:lstStyle/>
          <a:p>
            <a:pPr marL="0" indent="0">
              <a:lnSpc>
                <a:spcPts val="1900"/>
              </a:lnSpc>
              <a:buNone/>
            </a:pPr>
            <a:r>
              <a:rPr lang="en-US" sz="1600" b="1" dirty="0">
                <a:solidFill>
                  <a:srgbClr val="10294A"/>
                </a:solidFill>
                <a:latin typeface="Calibri" pitchFamily="34" charset="0"/>
                <a:ea typeface="Calibri" pitchFamily="34" charset="-122"/>
                <a:cs typeface="Calibri" pitchFamily="34" charset="-120"/>
              </a:rPr>
              <a:t>Auto-block at the gate</a:t>
            </a:r>
            <a:endParaRPr lang="en-US" sz="1600" dirty="0"/>
          </a:p>
        </p:txBody>
      </p:sp>
      <p:sp>
        <p:nvSpPr>
          <p:cNvPr id="18" name="Text 14"/>
          <p:cNvSpPr/>
          <p:nvPr/>
        </p:nvSpPr>
        <p:spPr>
          <a:xfrm>
            <a:off x="4754880" y="3749040"/>
            <a:ext cx="2971800" cy="1188720"/>
          </a:xfrm>
          <a:prstGeom prst="rect">
            <a:avLst/>
          </a:prstGeom>
          <a:noFill/>
          <a:ln/>
        </p:spPr>
        <p:txBody>
          <a:bodyPr wrap="square" lIns="0" tIns="0" rIns="0" bIns="0" rtlCol="0" anchor="ctr"/>
          <a:lstStyle/>
          <a:p>
            <a:pPr marL="0" indent="0">
              <a:lnSpc>
                <a:spcPts val="1600"/>
              </a:lnSpc>
              <a:buNone/>
            </a:pPr>
            <a:r>
              <a:rPr lang="en-US" sz="1150" dirty="0">
                <a:solidFill>
                  <a:srgbClr val="54657E"/>
                </a:solidFill>
                <a:latin typeface="Calibri" pitchFamily="34" charset="0"/>
                <a:ea typeface="Calibri" pitchFamily="34" charset="-122"/>
                <a:cs typeface="Calibri" pitchFamily="34" charset="-120"/>
              </a:rPr>
              <a:t>When an article is untaggable or mispriced, block it from the payfree assortment automatically — closing the exact deposit-return and price-error gaps the engines already found.</a:t>
            </a:r>
            <a:endParaRPr lang="en-US" sz="1150" dirty="0"/>
          </a:p>
        </p:txBody>
      </p:sp>
      <p:sp>
        <p:nvSpPr>
          <p:cNvPr id="19" name="Shape 15"/>
          <p:cNvSpPr/>
          <p:nvPr/>
        </p:nvSpPr>
        <p:spPr>
          <a:xfrm>
            <a:off x="8275320" y="2148840"/>
            <a:ext cx="3520440" cy="2880360"/>
          </a:xfrm>
          <a:prstGeom prst="roundRect">
            <a:avLst>
              <a:gd name="adj" fmla="val 2857"/>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20" name="Shape 16"/>
          <p:cNvSpPr/>
          <p:nvPr/>
        </p:nvSpPr>
        <p:spPr>
          <a:xfrm>
            <a:off x="8549640" y="2423160"/>
            <a:ext cx="548640" cy="548640"/>
          </a:xfrm>
          <a:prstGeom prst="ellipse">
            <a:avLst/>
          </a:prstGeom>
          <a:solidFill>
            <a:srgbClr val="EEF3FA"/>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8681314" y="2554834"/>
            <a:ext cx="285293" cy="285293"/>
          </a:xfrm>
          <a:prstGeom prst="rect">
            <a:avLst/>
          </a:prstGeom>
        </p:spPr>
      </p:pic>
      <p:sp>
        <p:nvSpPr>
          <p:cNvPr id="22" name="Shape 17"/>
          <p:cNvSpPr/>
          <p:nvPr/>
        </p:nvSpPr>
        <p:spPr>
          <a:xfrm>
            <a:off x="11033150" y="2532888"/>
            <a:ext cx="488290" cy="274320"/>
          </a:xfrm>
          <a:prstGeom prst="roundRect">
            <a:avLst>
              <a:gd name="adj" fmla="val 50000"/>
            </a:avLst>
          </a:prstGeom>
          <a:solidFill>
            <a:srgbClr val="0F8A8A"/>
          </a:solidFill>
          <a:ln/>
        </p:spPr>
        <p:txBody>
          <a:bodyPr/>
          <a:lstStyle/>
          <a:p>
            <a:endParaRPr lang="en-US"/>
          </a:p>
        </p:txBody>
      </p:sp>
      <p:sp>
        <p:nvSpPr>
          <p:cNvPr id="23" name="Text 18"/>
          <p:cNvSpPr/>
          <p:nvPr/>
        </p:nvSpPr>
        <p:spPr>
          <a:xfrm>
            <a:off x="11033150" y="2532888"/>
            <a:ext cx="48829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NEW</a:t>
            </a:r>
            <a:endParaRPr lang="en-US" sz="850" dirty="0"/>
          </a:p>
        </p:txBody>
      </p:sp>
      <p:sp>
        <p:nvSpPr>
          <p:cNvPr id="24" name="Text 19"/>
          <p:cNvSpPr/>
          <p:nvPr/>
        </p:nvSpPr>
        <p:spPr>
          <a:xfrm>
            <a:off x="8549640" y="3108960"/>
            <a:ext cx="2971800" cy="640080"/>
          </a:xfrm>
          <a:prstGeom prst="rect">
            <a:avLst/>
          </a:prstGeom>
          <a:noFill/>
          <a:ln/>
        </p:spPr>
        <p:txBody>
          <a:bodyPr wrap="square" lIns="0" tIns="0" rIns="0" bIns="0" rtlCol="0" anchor="ctr"/>
          <a:lstStyle/>
          <a:p>
            <a:pPr marL="0" indent="0">
              <a:lnSpc>
                <a:spcPts val="1900"/>
              </a:lnSpc>
              <a:buNone/>
            </a:pPr>
            <a:r>
              <a:rPr lang="en-US" sz="1600" b="1" dirty="0">
                <a:solidFill>
                  <a:srgbClr val="10294A"/>
                </a:solidFill>
                <a:latin typeface="Calibri" pitchFamily="34" charset="0"/>
                <a:ea typeface="Calibri" pitchFamily="34" charset="-122"/>
                <a:cs typeface="Calibri" pitchFamily="34" charset="-120"/>
              </a:rPr>
              <a:t>Store-manager copilot</a:t>
            </a:r>
            <a:endParaRPr lang="en-US" sz="1600" dirty="0"/>
          </a:p>
        </p:txBody>
      </p:sp>
      <p:sp>
        <p:nvSpPr>
          <p:cNvPr id="25" name="Text 20"/>
          <p:cNvSpPr/>
          <p:nvPr/>
        </p:nvSpPr>
        <p:spPr>
          <a:xfrm>
            <a:off x="8549640" y="3749040"/>
            <a:ext cx="2971800" cy="1188720"/>
          </a:xfrm>
          <a:prstGeom prst="rect">
            <a:avLst/>
          </a:prstGeom>
          <a:noFill/>
          <a:ln/>
        </p:spPr>
        <p:txBody>
          <a:bodyPr wrap="square" lIns="0" tIns="0" rIns="0" bIns="0" rtlCol="0" anchor="ctr"/>
          <a:lstStyle/>
          <a:p>
            <a:pPr marL="0" indent="0">
              <a:lnSpc>
                <a:spcPts val="1600"/>
              </a:lnSpc>
              <a:buNone/>
            </a:pPr>
            <a:r>
              <a:rPr lang="en-US" sz="1150" dirty="0">
                <a:solidFill>
                  <a:srgbClr val="54657E"/>
                </a:solidFill>
                <a:latin typeface="Calibri" pitchFamily="34" charset="0"/>
                <a:ea typeface="Calibri" pitchFamily="34" charset="-122"/>
                <a:cs typeface="Calibri" pitchFamily="34" charset="-120"/>
              </a:rPr>
              <a:t>Natural language over the ranked insight feed — "what’s costing me most in Munich today?" — tying the scenarios into SAP’s Autonomous ERP and Joule direction.</a:t>
            </a:r>
            <a:endParaRPr lang="en-US" sz="1150" dirty="0"/>
          </a:p>
        </p:txBody>
      </p:sp>
      <p:sp>
        <p:nvSpPr>
          <p:cNvPr id="26" name="Shape 21"/>
          <p:cNvSpPr/>
          <p:nvPr/>
        </p:nvSpPr>
        <p:spPr>
          <a:xfrm>
            <a:off x="685800" y="5257800"/>
            <a:ext cx="10835640" cy="685800"/>
          </a:xfrm>
          <a:prstGeom prst="roundRect">
            <a:avLst>
              <a:gd name="adj" fmla="val 12000"/>
            </a:avLst>
          </a:prstGeom>
          <a:solidFill>
            <a:srgbClr val="10294A"/>
          </a:solidFill>
          <a:ln/>
          <a:effectLst>
            <a:outerShdw blurRad="88900" dist="25400" dir="5400000" algn="bl" rotWithShape="0">
              <a:srgbClr val="10294A">
                <a:alpha val="12000"/>
              </a:srgbClr>
            </a:outerShdw>
          </a:effectLst>
        </p:spPr>
        <p:txBody>
          <a:bodyPr/>
          <a:lstStyle/>
          <a:p>
            <a:endParaRPr lang="en-US"/>
          </a:p>
        </p:txBody>
      </p:sp>
      <p:sp>
        <p:nvSpPr>
          <p:cNvPr id="27" name="Text 22"/>
          <p:cNvSpPr/>
          <p:nvPr/>
        </p:nvSpPr>
        <p:spPr>
          <a:xfrm>
            <a:off x="960120" y="5257800"/>
            <a:ext cx="10332720" cy="685800"/>
          </a:xfrm>
          <a:prstGeom prst="rect">
            <a:avLst/>
          </a:prstGeom>
          <a:noFill/>
          <a:ln/>
        </p:spPr>
        <p:txBody>
          <a:bodyPr wrap="square" lIns="0" tIns="0" rIns="0" bIns="0" rtlCol="0" anchor="ctr"/>
          <a:lstStyle/>
          <a:p>
            <a:pPr marL="0" indent="0">
              <a:lnSpc>
                <a:spcPts val="1800"/>
              </a:lnSpc>
              <a:buNone/>
            </a:pPr>
            <a:r>
              <a:rPr lang="en-US" sz="1350" b="1" dirty="0">
                <a:solidFill>
                  <a:srgbClr val="5B9BD5"/>
                </a:solidFill>
                <a:latin typeface="Calibri" pitchFamily="34" charset="0"/>
                <a:ea typeface="Calibri" pitchFamily="34" charset="-122"/>
                <a:cs typeface="Calibri" pitchFamily="34" charset="-120"/>
              </a:rPr>
              <a:t>The pattern:  </a:t>
            </a:r>
            <a:r>
              <a:rPr lang="en-US" sz="1350" dirty="0">
                <a:solidFill>
                  <a:srgbClr val="D6E4F2"/>
                </a:solidFill>
                <a:latin typeface="Calibri" pitchFamily="34" charset="0"/>
                <a:ea typeface="Calibri" pitchFamily="34" charset="-122"/>
                <a:cs typeface="Calibri" pitchFamily="34" charset="-120"/>
              </a:rPr>
              <a:t>the six scenarios already take plain arrays in and out, so turning a recommendation into a guarded action is a contained change — not a rebuild.</a:t>
            </a:r>
            <a:endParaRPr lang="en-US" sz="1350" dirty="0"/>
          </a:p>
        </p:txBody>
      </p:sp>
      <p:sp>
        <p:nvSpPr>
          <p:cNvPr id="28" name="Text 23"/>
          <p:cNvSpPr/>
          <p:nvPr/>
        </p:nvSpPr>
        <p:spPr>
          <a:xfrm>
            <a:off x="11414455" y="6400800"/>
            <a:ext cx="457200" cy="274320"/>
          </a:xfrm>
          <a:prstGeom prst="rect">
            <a:avLst/>
          </a:prstGeom>
          <a:noFill/>
          <a:ln/>
        </p:spPr>
        <p:txBody>
          <a:bodyPr wrap="square" rtlCol="0" anchor="ctr"/>
          <a:lstStyle/>
          <a:p>
            <a:pPr marL="0" indent="0" algn="r">
              <a:buNone/>
            </a:pPr>
            <a:r>
              <a:rPr lang="en-US" sz="900" dirty="0">
                <a:solidFill>
                  <a:srgbClr val="A6B6CC"/>
                </a:solidFill>
                <a:latin typeface="Calibri" pitchFamily="34" charset="0"/>
                <a:ea typeface="Calibri" pitchFamily="34" charset="-122"/>
                <a:cs typeface="Calibri" pitchFamily="34" charset="-120"/>
              </a:rPr>
              <a:t>20</a:t>
            </a:r>
            <a:endParaRPr lang="en-US" sz="900" dirty="0"/>
          </a:p>
        </p:txBody>
      </p:sp>
      <p:pic>
        <p:nvPicPr>
          <p:cNvPr id="29" name="Image 3" descr="/home/claude/logo_wide_trim.png"/>
          <p:cNvPicPr>
            <a:picLocks noChangeAspect="1"/>
          </p:cNvPicPr>
          <p:nvPr/>
        </p:nvPicPr>
        <p:blipFill>
          <a:blip r:embed="rId6"/>
          <a:stretch>
            <a:fillRect/>
          </a:stretch>
        </p:blipFill>
        <p:spPr>
          <a:xfrm>
            <a:off x="457200" y="6345936"/>
            <a:ext cx="1234440" cy="24075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0294A"/>
        </a:solidFill>
        <a:effectLst/>
      </p:bgPr>
    </p:bg>
    <p:spTree>
      <p:nvGrpSpPr>
        <p:cNvPr id="1" name=""/>
        <p:cNvGrpSpPr/>
        <p:nvPr/>
      </p:nvGrpSpPr>
      <p:grpSpPr>
        <a:xfrm>
          <a:off x="0" y="0"/>
          <a:ext cx="0" cy="0"/>
          <a:chOff x="0" y="0"/>
          <a:chExt cx="0" cy="0"/>
        </a:xfrm>
      </p:grpSpPr>
      <p:sp>
        <p:nvSpPr>
          <p:cNvPr id="2" name="Text 0"/>
          <p:cNvSpPr/>
          <p:nvPr/>
        </p:nvSpPr>
        <p:spPr>
          <a:xfrm>
            <a:off x="685800" y="502920"/>
            <a:ext cx="7315200" cy="274320"/>
          </a:xfrm>
          <a:prstGeom prst="rect">
            <a:avLst/>
          </a:prstGeom>
          <a:noFill/>
          <a:ln/>
        </p:spPr>
        <p:txBody>
          <a:bodyPr wrap="square" lIns="0" tIns="0" rIns="0" bIns="0" rtlCol="0" anchor="ctr"/>
          <a:lstStyle/>
          <a:p>
            <a:pPr marL="0" indent="0">
              <a:buNone/>
            </a:pPr>
            <a:r>
              <a:rPr lang="en-US" sz="1200" b="1" kern="0" spc="300" dirty="0">
                <a:solidFill>
                  <a:srgbClr val="5B9BD5"/>
                </a:solidFill>
                <a:latin typeface="Calibri" pitchFamily="34" charset="0"/>
                <a:ea typeface="Calibri" pitchFamily="34" charset="-122"/>
                <a:cs typeface="Calibri" pitchFamily="34" charset="-120"/>
              </a:rPr>
              <a:t>ROADMAP · REACH</a:t>
            </a:r>
            <a:endParaRPr lang="en-US" sz="1200" dirty="0"/>
          </a:p>
        </p:txBody>
      </p:sp>
      <p:sp>
        <p:nvSpPr>
          <p:cNvPr id="3" name="Text 1"/>
          <p:cNvSpPr/>
          <p:nvPr/>
        </p:nvSpPr>
        <p:spPr>
          <a:xfrm>
            <a:off x="658368" y="822960"/>
            <a:ext cx="10789920" cy="548640"/>
          </a:xfrm>
          <a:prstGeom prst="rect">
            <a:avLst/>
          </a:prstGeom>
          <a:noFill/>
          <a:ln/>
        </p:spPr>
        <p:txBody>
          <a:bodyPr wrap="square" lIns="0" tIns="0" rIns="0" bIns="0" rtlCol="0" anchor="ctr"/>
          <a:lstStyle/>
          <a:p>
            <a:pPr marL="0" indent="0">
              <a:buNone/>
            </a:pPr>
            <a:r>
              <a:rPr lang="en-US" sz="2900" b="1" dirty="0">
                <a:solidFill>
                  <a:srgbClr val="FFFFFF"/>
                </a:solidFill>
                <a:latin typeface="Bookman Old Style" pitchFamily="34" charset="0"/>
                <a:ea typeface="Bookman Old Style" pitchFamily="34" charset="-122"/>
                <a:cs typeface="Bookman Old Style" pitchFamily="34" charset="-120"/>
              </a:rPr>
              <a:t>A mobile-friendly version</a:t>
            </a:r>
            <a:endParaRPr lang="en-US" sz="2900" dirty="0"/>
          </a:p>
        </p:txBody>
      </p:sp>
      <p:sp>
        <p:nvSpPr>
          <p:cNvPr id="4" name="Text 2"/>
          <p:cNvSpPr/>
          <p:nvPr/>
        </p:nvSpPr>
        <p:spPr>
          <a:xfrm>
            <a:off x="685800" y="1508760"/>
            <a:ext cx="6583680" cy="822960"/>
          </a:xfrm>
          <a:prstGeom prst="rect">
            <a:avLst/>
          </a:prstGeom>
          <a:noFill/>
          <a:ln/>
        </p:spPr>
        <p:txBody>
          <a:bodyPr wrap="square" lIns="0" tIns="0" rIns="0" bIns="0" rtlCol="0" anchor="ctr"/>
          <a:lstStyle/>
          <a:p>
            <a:pPr marL="0" indent="0">
              <a:lnSpc>
                <a:spcPts val="2200"/>
              </a:lnSpc>
              <a:buNone/>
            </a:pPr>
            <a:r>
              <a:rPr lang="en-US" sz="1500" dirty="0">
                <a:solidFill>
                  <a:srgbClr val="D6E4F2"/>
                </a:solidFill>
                <a:latin typeface="Calibri" pitchFamily="34" charset="0"/>
                <a:ea typeface="Calibri" pitchFamily="34" charset="-122"/>
                <a:cs typeface="Calibri" pitchFamily="34" charset="-120"/>
              </a:rPr>
              <a:t>A store manager acts on the floor, not at a desk. The insight feed and the queue actions are the natural mobile surface.</a:t>
            </a:r>
            <a:endParaRPr lang="en-US" sz="1500" dirty="0"/>
          </a:p>
        </p:txBody>
      </p:sp>
      <p:sp>
        <p:nvSpPr>
          <p:cNvPr id="5" name="Shape 3"/>
          <p:cNvSpPr/>
          <p:nvPr/>
        </p:nvSpPr>
        <p:spPr>
          <a:xfrm>
            <a:off x="685800" y="2514600"/>
            <a:ext cx="6675120" cy="786384"/>
          </a:xfrm>
          <a:prstGeom prst="roundRect">
            <a:avLst>
              <a:gd name="adj" fmla="val 10465"/>
            </a:avLst>
          </a:prstGeom>
          <a:solidFill>
            <a:srgbClr val="183A61"/>
          </a:solidFill>
          <a:ln w="12700">
            <a:solidFill>
              <a:srgbClr val="1E578D"/>
            </a:solidFill>
            <a:prstDash val="solid"/>
          </a:ln>
          <a:effectLst>
            <a:outerShdw blurRad="88900" dist="25400" dir="5400000" algn="bl" rotWithShape="0">
              <a:srgbClr val="10294A">
                <a:alpha val="12000"/>
              </a:srgbClr>
            </a:outerShdw>
          </a:effectLst>
        </p:spPr>
        <p:txBody>
          <a:bodyPr/>
          <a:lstStyle/>
          <a:p>
            <a:endParaRPr lang="en-US"/>
          </a:p>
        </p:txBody>
      </p:sp>
      <p:sp>
        <p:nvSpPr>
          <p:cNvPr id="6" name="Shape 4"/>
          <p:cNvSpPr/>
          <p:nvPr/>
        </p:nvSpPr>
        <p:spPr>
          <a:xfrm>
            <a:off x="914400" y="2670048"/>
            <a:ext cx="475488" cy="475488"/>
          </a:xfrm>
          <a:prstGeom prst="ellipse">
            <a:avLst/>
          </a:prstGeom>
          <a:solidFill>
            <a:srgbClr val="0E2247"/>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28517" y="2784165"/>
            <a:ext cx="247254" cy="247254"/>
          </a:xfrm>
          <a:prstGeom prst="rect">
            <a:avLst/>
          </a:prstGeom>
        </p:spPr>
      </p:pic>
      <p:sp>
        <p:nvSpPr>
          <p:cNvPr id="8" name="Text 5"/>
          <p:cNvSpPr/>
          <p:nvPr/>
        </p:nvSpPr>
        <p:spPr>
          <a:xfrm>
            <a:off x="1554480" y="2624328"/>
            <a:ext cx="5577840" cy="31089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Insight feed first</a:t>
            </a:r>
            <a:endParaRPr lang="en-US" sz="1400" dirty="0"/>
          </a:p>
        </p:txBody>
      </p:sp>
      <p:sp>
        <p:nvSpPr>
          <p:cNvPr id="9" name="Text 6"/>
          <p:cNvSpPr/>
          <p:nvPr/>
        </p:nvSpPr>
        <p:spPr>
          <a:xfrm>
            <a:off x="1554480" y="2916936"/>
            <a:ext cx="5669280" cy="384048"/>
          </a:xfrm>
          <a:prstGeom prst="rect">
            <a:avLst/>
          </a:prstGeom>
          <a:noFill/>
          <a:ln/>
        </p:spPr>
        <p:txBody>
          <a:bodyPr wrap="square" lIns="0" tIns="0" rIns="0" bIns="0" rtlCol="0" anchor="ctr"/>
          <a:lstStyle/>
          <a:p>
            <a:pPr marL="0" indent="0">
              <a:lnSpc>
                <a:spcPts val="1400"/>
              </a:lnSpc>
              <a:buNone/>
            </a:pPr>
            <a:r>
              <a:rPr lang="en-US" sz="1100" dirty="0">
                <a:solidFill>
                  <a:srgbClr val="D6E4F2"/>
                </a:solidFill>
                <a:latin typeface="Calibri" pitchFamily="34" charset="0"/>
                <a:ea typeface="Calibri" pitchFamily="34" charset="-122"/>
                <a:cs typeface="Calibri" pitchFamily="34" charset="-120"/>
              </a:rPr>
              <a:t>The ranked queue is already a phone-shaped list — one card per insight, action buttons inline.</a:t>
            </a:r>
            <a:endParaRPr lang="en-US" sz="1100" dirty="0"/>
          </a:p>
        </p:txBody>
      </p:sp>
      <p:sp>
        <p:nvSpPr>
          <p:cNvPr id="10" name="Shape 7"/>
          <p:cNvSpPr/>
          <p:nvPr/>
        </p:nvSpPr>
        <p:spPr>
          <a:xfrm>
            <a:off x="685800" y="3410712"/>
            <a:ext cx="6675120" cy="786384"/>
          </a:xfrm>
          <a:prstGeom prst="roundRect">
            <a:avLst>
              <a:gd name="adj" fmla="val 10465"/>
            </a:avLst>
          </a:prstGeom>
          <a:solidFill>
            <a:srgbClr val="183A61"/>
          </a:solidFill>
          <a:ln w="12700">
            <a:solidFill>
              <a:srgbClr val="1E578D"/>
            </a:solidFill>
            <a:prstDash val="solid"/>
          </a:ln>
          <a:effectLst>
            <a:outerShdw blurRad="88900" dist="25400" dir="5400000" algn="bl" rotWithShape="0">
              <a:srgbClr val="10294A">
                <a:alpha val="12000"/>
              </a:srgbClr>
            </a:outerShdw>
          </a:effectLst>
        </p:spPr>
        <p:txBody>
          <a:bodyPr/>
          <a:lstStyle/>
          <a:p>
            <a:endParaRPr lang="en-US"/>
          </a:p>
        </p:txBody>
      </p:sp>
      <p:sp>
        <p:nvSpPr>
          <p:cNvPr id="11" name="Shape 8"/>
          <p:cNvSpPr/>
          <p:nvPr/>
        </p:nvSpPr>
        <p:spPr>
          <a:xfrm>
            <a:off x="914400" y="3566160"/>
            <a:ext cx="475488" cy="475488"/>
          </a:xfrm>
          <a:prstGeom prst="ellipse">
            <a:avLst/>
          </a:prstGeom>
          <a:solidFill>
            <a:srgbClr val="0E2247"/>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1028517" y="3680277"/>
            <a:ext cx="247254" cy="247254"/>
          </a:xfrm>
          <a:prstGeom prst="rect">
            <a:avLst/>
          </a:prstGeom>
        </p:spPr>
      </p:pic>
      <p:sp>
        <p:nvSpPr>
          <p:cNvPr id="13" name="Text 9"/>
          <p:cNvSpPr/>
          <p:nvPr/>
        </p:nvSpPr>
        <p:spPr>
          <a:xfrm>
            <a:off x="1554480" y="3520440"/>
            <a:ext cx="5577840" cy="31089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Act in one tap</a:t>
            </a:r>
            <a:endParaRPr lang="en-US" sz="1400" dirty="0"/>
          </a:p>
        </p:txBody>
      </p:sp>
      <p:sp>
        <p:nvSpPr>
          <p:cNvPr id="14" name="Text 10"/>
          <p:cNvSpPr/>
          <p:nvPr/>
        </p:nvSpPr>
        <p:spPr>
          <a:xfrm>
            <a:off x="1554480" y="3813048"/>
            <a:ext cx="5669280" cy="384048"/>
          </a:xfrm>
          <a:prstGeom prst="rect">
            <a:avLst/>
          </a:prstGeom>
          <a:noFill/>
          <a:ln/>
        </p:spPr>
        <p:txBody>
          <a:bodyPr wrap="square" lIns="0" tIns="0" rIns="0" bIns="0" rtlCol="0" anchor="ctr"/>
          <a:lstStyle/>
          <a:p>
            <a:pPr marL="0" indent="0">
              <a:lnSpc>
                <a:spcPts val="1400"/>
              </a:lnSpc>
              <a:buNone/>
            </a:pPr>
            <a:r>
              <a:rPr lang="en-US" sz="1100" dirty="0">
                <a:solidFill>
                  <a:srgbClr val="D6E4F2"/>
                </a:solidFill>
                <a:latin typeface="Calibri" pitchFamily="34" charset="0"/>
                <a:ea typeface="Calibri" pitchFamily="34" charset="-122"/>
                <a:cs typeface="Calibri" pitchFamily="34" charset="-120"/>
              </a:rPr>
              <a:t>Acknowledge, resolve, release an order or apply a markdown from the card, no desktop needed.</a:t>
            </a:r>
            <a:endParaRPr lang="en-US" sz="1100" dirty="0"/>
          </a:p>
        </p:txBody>
      </p:sp>
      <p:sp>
        <p:nvSpPr>
          <p:cNvPr id="15" name="Shape 11"/>
          <p:cNvSpPr/>
          <p:nvPr/>
        </p:nvSpPr>
        <p:spPr>
          <a:xfrm>
            <a:off x="685800" y="4306824"/>
            <a:ext cx="6675120" cy="786384"/>
          </a:xfrm>
          <a:prstGeom prst="roundRect">
            <a:avLst>
              <a:gd name="adj" fmla="val 10465"/>
            </a:avLst>
          </a:prstGeom>
          <a:solidFill>
            <a:srgbClr val="183A61"/>
          </a:solidFill>
          <a:ln w="12700">
            <a:solidFill>
              <a:srgbClr val="1E578D"/>
            </a:solidFill>
            <a:prstDash val="solid"/>
          </a:ln>
          <a:effectLst>
            <a:outerShdw blurRad="88900" dist="25400" dir="5400000" algn="bl" rotWithShape="0">
              <a:srgbClr val="10294A">
                <a:alpha val="12000"/>
              </a:srgbClr>
            </a:outerShdw>
          </a:effectLst>
        </p:spPr>
        <p:txBody>
          <a:bodyPr/>
          <a:lstStyle/>
          <a:p>
            <a:endParaRPr lang="en-US"/>
          </a:p>
        </p:txBody>
      </p:sp>
      <p:sp>
        <p:nvSpPr>
          <p:cNvPr id="16" name="Shape 12"/>
          <p:cNvSpPr/>
          <p:nvPr/>
        </p:nvSpPr>
        <p:spPr>
          <a:xfrm>
            <a:off x="914400" y="4462272"/>
            <a:ext cx="475488" cy="475488"/>
          </a:xfrm>
          <a:prstGeom prst="ellipse">
            <a:avLst/>
          </a:prstGeom>
          <a:solidFill>
            <a:srgbClr val="0E2247"/>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1028517" y="4576389"/>
            <a:ext cx="247254" cy="247254"/>
          </a:xfrm>
          <a:prstGeom prst="rect">
            <a:avLst/>
          </a:prstGeom>
        </p:spPr>
      </p:pic>
      <p:sp>
        <p:nvSpPr>
          <p:cNvPr id="18" name="Text 13"/>
          <p:cNvSpPr/>
          <p:nvPr/>
        </p:nvSpPr>
        <p:spPr>
          <a:xfrm>
            <a:off x="1554480" y="4416552"/>
            <a:ext cx="5577840" cy="31089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Works offline</a:t>
            </a:r>
            <a:endParaRPr lang="en-US" sz="1400" dirty="0"/>
          </a:p>
        </p:txBody>
      </p:sp>
      <p:sp>
        <p:nvSpPr>
          <p:cNvPr id="19" name="Text 14"/>
          <p:cNvSpPr/>
          <p:nvPr/>
        </p:nvSpPr>
        <p:spPr>
          <a:xfrm>
            <a:off x="1554480" y="4709160"/>
            <a:ext cx="5669280" cy="384048"/>
          </a:xfrm>
          <a:prstGeom prst="rect">
            <a:avLst/>
          </a:prstGeom>
          <a:noFill/>
          <a:ln/>
        </p:spPr>
        <p:txBody>
          <a:bodyPr wrap="square" lIns="0" tIns="0" rIns="0" bIns="0" rtlCol="0" anchor="ctr"/>
          <a:lstStyle/>
          <a:p>
            <a:pPr marL="0" indent="0">
              <a:lnSpc>
                <a:spcPts val="1400"/>
              </a:lnSpc>
              <a:buNone/>
            </a:pPr>
            <a:r>
              <a:rPr lang="en-US" sz="1100" dirty="0">
                <a:solidFill>
                  <a:srgbClr val="D6E4F2"/>
                </a:solidFill>
                <a:latin typeface="Calibri" pitchFamily="34" charset="0"/>
                <a:ea typeface="Calibri" pitchFamily="34" charset="-122"/>
                <a:cs typeface="Calibri" pitchFamily="34" charset="-120"/>
              </a:rPr>
              <a:t>The self-contained screens load no external script — they already run air-gapped, ideal for a spotty back-of-store signal.</a:t>
            </a:r>
            <a:endParaRPr lang="en-US" sz="1100" dirty="0"/>
          </a:p>
        </p:txBody>
      </p:sp>
      <p:sp>
        <p:nvSpPr>
          <p:cNvPr id="20" name="Shape 15"/>
          <p:cNvSpPr/>
          <p:nvPr/>
        </p:nvSpPr>
        <p:spPr>
          <a:xfrm>
            <a:off x="685800" y="5202936"/>
            <a:ext cx="6675120" cy="786384"/>
          </a:xfrm>
          <a:prstGeom prst="roundRect">
            <a:avLst>
              <a:gd name="adj" fmla="val 10465"/>
            </a:avLst>
          </a:prstGeom>
          <a:solidFill>
            <a:srgbClr val="183A61"/>
          </a:solidFill>
          <a:ln w="12700">
            <a:solidFill>
              <a:srgbClr val="1E578D"/>
            </a:solidFill>
            <a:prstDash val="solid"/>
          </a:ln>
          <a:effectLst>
            <a:outerShdw blurRad="88900" dist="25400" dir="5400000" algn="bl" rotWithShape="0">
              <a:srgbClr val="10294A">
                <a:alpha val="12000"/>
              </a:srgbClr>
            </a:outerShdw>
          </a:effectLst>
        </p:spPr>
        <p:txBody>
          <a:bodyPr/>
          <a:lstStyle/>
          <a:p>
            <a:endParaRPr lang="en-US"/>
          </a:p>
        </p:txBody>
      </p:sp>
      <p:sp>
        <p:nvSpPr>
          <p:cNvPr id="21" name="Shape 16"/>
          <p:cNvSpPr/>
          <p:nvPr/>
        </p:nvSpPr>
        <p:spPr>
          <a:xfrm>
            <a:off x="914400" y="5358384"/>
            <a:ext cx="475488" cy="475488"/>
          </a:xfrm>
          <a:prstGeom prst="ellipse">
            <a:avLst/>
          </a:prstGeom>
          <a:solidFill>
            <a:srgbClr val="0E2247"/>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1028517" y="5472501"/>
            <a:ext cx="247254" cy="247254"/>
          </a:xfrm>
          <a:prstGeom prst="rect">
            <a:avLst/>
          </a:prstGeom>
        </p:spPr>
      </p:pic>
      <p:sp>
        <p:nvSpPr>
          <p:cNvPr id="23" name="Text 17"/>
          <p:cNvSpPr/>
          <p:nvPr/>
        </p:nvSpPr>
        <p:spPr>
          <a:xfrm>
            <a:off x="1554480" y="5312664"/>
            <a:ext cx="5577840" cy="31089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Responsive, not rebuilt</a:t>
            </a:r>
            <a:endParaRPr lang="en-US" sz="1400" dirty="0"/>
          </a:p>
        </p:txBody>
      </p:sp>
      <p:sp>
        <p:nvSpPr>
          <p:cNvPr id="24" name="Text 18"/>
          <p:cNvSpPr/>
          <p:nvPr/>
        </p:nvSpPr>
        <p:spPr>
          <a:xfrm>
            <a:off x="1554480" y="5605272"/>
            <a:ext cx="5669280" cy="384048"/>
          </a:xfrm>
          <a:prstGeom prst="rect">
            <a:avLst/>
          </a:prstGeom>
          <a:noFill/>
          <a:ln/>
        </p:spPr>
        <p:txBody>
          <a:bodyPr wrap="square" lIns="0" tIns="0" rIns="0" bIns="0" rtlCol="0" anchor="ctr"/>
          <a:lstStyle/>
          <a:p>
            <a:pPr marL="0" indent="0">
              <a:lnSpc>
                <a:spcPts val="1400"/>
              </a:lnSpc>
              <a:buNone/>
            </a:pPr>
            <a:r>
              <a:rPr lang="en-US" sz="1100" dirty="0">
                <a:solidFill>
                  <a:srgbClr val="D6E4F2"/>
                </a:solidFill>
                <a:latin typeface="Calibri" pitchFamily="34" charset="0"/>
                <a:ea typeface="Calibri" pitchFamily="34" charset="-122"/>
                <a:cs typeface="Calibri" pitchFamily="34" charset="-120"/>
              </a:rPr>
              <a:t>The Command Centre and Workbench reflow, but charts keep a desktop minimum width and dense tables are cramped on a phone. Honest state: responsive, not yet phone-designed.</a:t>
            </a:r>
            <a:endParaRPr lang="en-US" sz="1100" dirty="0"/>
          </a:p>
        </p:txBody>
      </p:sp>
      <p:sp>
        <p:nvSpPr>
          <p:cNvPr id="25" name="Shape 19"/>
          <p:cNvSpPr/>
          <p:nvPr/>
        </p:nvSpPr>
        <p:spPr>
          <a:xfrm>
            <a:off x="8366760" y="1920240"/>
            <a:ext cx="2743200" cy="4114800"/>
          </a:xfrm>
          <a:prstGeom prst="roundRect">
            <a:avLst>
              <a:gd name="adj" fmla="val 9333"/>
            </a:avLst>
          </a:prstGeom>
          <a:solidFill>
            <a:srgbClr val="0A1B32"/>
          </a:solidFill>
          <a:ln w="19050">
            <a:solidFill>
              <a:srgbClr val="1E578D"/>
            </a:solidFill>
            <a:prstDash val="solid"/>
          </a:ln>
        </p:spPr>
        <p:txBody>
          <a:bodyPr/>
          <a:lstStyle/>
          <a:p>
            <a:endParaRPr lang="en-US"/>
          </a:p>
        </p:txBody>
      </p:sp>
      <p:sp>
        <p:nvSpPr>
          <p:cNvPr id="26" name="Shape 20"/>
          <p:cNvSpPr/>
          <p:nvPr/>
        </p:nvSpPr>
        <p:spPr>
          <a:xfrm>
            <a:off x="8494776" y="2240280"/>
            <a:ext cx="2487168" cy="3474720"/>
          </a:xfrm>
          <a:prstGeom prst="roundRect">
            <a:avLst>
              <a:gd name="adj" fmla="val 5147"/>
            </a:avLst>
          </a:prstGeom>
          <a:solidFill>
            <a:srgbClr val="183A61"/>
          </a:solidFill>
          <a:ln/>
        </p:spPr>
        <p:txBody>
          <a:bodyPr/>
          <a:lstStyle/>
          <a:p>
            <a:endParaRPr lang="en-US"/>
          </a:p>
        </p:txBody>
      </p:sp>
      <p:sp>
        <p:nvSpPr>
          <p:cNvPr id="27" name="Shape 21"/>
          <p:cNvSpPr/>
          <p:nvPr/>
        </p:nvSpPr>
        <p:spPr>
          <a:xfrm>
            <a:off x="9418320" y="2039112"/>
            <a:ext cx="640080" cy="109728"/>
          </a:xfrm>
          <a:prstGeom prst="roundRect">
            <a:avLst>
              <a:gd name="adj" fmla="val 50000"/>
            </a:avLst>
          </a:prstGeom>
          <a:solidFill>
            <a:srgbClr val="10294A"/>
          </a:solidFill>
          <a:ln/>
        </p:spPr>
        <p:txBody>
          <a:bodyPr/>
          <a:lstStyle/>
          <a:p>
            <a:endParaRPr lang="en-US"/>
          </a:p>
        </p:txBody>
      </p:sp>
      <p:sp>
        <p:nvSpPr>
          <p:cNvPr id="28" name="Text 22"/>
          <p:cNvSpPr/>
          <p:nvPr/>
        </p:nvSpPr>
        <p:spPr>
          <a:xfrm>
            <a:off x="8641080" y="2423160"/>
            <a:ext cx="219456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AI Insight Feed</a:t>
            </a:r>
            <a:endParaRPr lang="en-US" sz="1100" dirty="0"/>
          </a:p>
        </p:txBody>
      </p:sp>
      <p:sp>
        <p:nvSpPr>
          <p:cNvPr id="29" name="Shape 23"/>
          <p:cNvSpPr/>
          <p:nvPr/>
        </p:nvSpPr>
        <p:spPr>
          <a:xfrm>
            <a:off x="8622792" y="2788920"/>
            <a:ext cx="2231136" cy="658368"/>
          </a:xfrm>
          <a:prstGeom prst="roundRect">
            <a:avLst>
              <a:gd name="adj" fmla="val 11111"/>
            </a:avLst>
          </a:prstGeom>
          <a:solidFill>
            <a:srgbClr val="10294A"/>
          </a:solidFill>
          <a:ln/>
        </p:spPr>
        <p:txBody>
          <a:bodyPr/>
          <a:lstStyle/>
          <a:p>
            <a:endParaRPr lang="en-US"/>
          </a:p>
        </p:txBody>
      </p:sp>
      <p:sp>
        <p:nvSpPr>
          <p:cNvPr id="30" name="Shape 24"/>
          <p:cNvSpPr/>
          <p:nvPr/>
        </p:nvSpPr>
        <p:spPr>
          <a:xfrm>
            <a:off x="8732520" y="2898648"/>
            <a:ext cx="868680" cy="201168"/>
          </a:xfrm>
          <a:prstGeom prst="roundRect">
            <a:avLst>
              <a:gd name="adj" fmla="val 50000"/>
            </a:avLst>
          </a:prstGeom>
          <a:solidFill>
            <a:srgbClr val="DE0024"/>
          </a:solidFill>
          <a:ln/>
        </p:spPr>
        <p:txBody>
          <a:bodyPr/>
          <a:lstStyle/>
          <a:p>
            <a:endParaRPr lang="en-US"/>
          </a:p>
        </p:txBody>
      </p:sp>
      <p:sp>
        <p:nvSpPr>
          <p:cNvPr id="31" name="Text 25"/>
          <p:cNvSpPr/>
          <p:nvPr/>
        </p:nvSpPr>
        <p:spPr>
          <a:xfrm>
            <a:off x="8732520" y="2898648"/>
            <a:ext cx="868680" cy="201168"/>
          </a:xfrm>
          <a:prstGeom prst="rect">
            <a:avLst/>
          </a:prstGeom>
          <a:noFill/>
          <a:ln/>
        </p:spPr>
        <p:txBody>
          <a:bodyPr wrap="square" lIns="0" tIns="0" rIns="0" bIns="0"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CRITICAL</a:t>
            </a:r>
            <a:endParaRPr lang="en-US" sz="650" dirty="0"/>
          </a:p>
        </p:txBody>
      </p:sp>
      <p:sp>
        <p:nvSpPr>
          <p:cNvPr id="32" name="Text 26"/>
          <p:cNvSpPr/>
          <p:nvPr/>
        </p:nvSpPr>
        <p:spPr>
          <a:xfrm>
            <a:off x="10058400" y="2880360"/>
            <a:ext cx="777240" cy="237744"/>
          </a:xfrm>
          <a:prstGeom prst="rect">
            <a:avLst/>
          </a:prstGeom>
          <a:noFill/>
          <a:ln/>
        </p:spPr>
        <p:txBody>
          <a:bodyPr wrap="square" lIns="0" tIns="0" rIns="0" bIns="0" rtlCol="0" anchor="ctr"/>
          <a:lstStyle/>
          <a:p>
            <a:pPr marL="0" indent="0" algn="r">
              <a:buNone/>
            </a:pPr>
            <a:r>
              <a:rPr lang="en-US" sz="900" b="1" dirty="0">
                <a:solidFill>
                  <a:srgbClr val="DE0024"/>
                </a:solidFill>
                <a:latin typeface="Calibri" pitchFamily="34" charset="0"/>
                <a:ea typeface="Calibri" pitchFamily="34" charset="-122"/>
                <a:cs typeface="Calibri" pitchFamily="34" charset="-120"/>
              </a:rPr>
              <a:t>€635.94</a:t>
            </a:r>
            <a:endParaRPr lang="en-US" sz="900" dirty="0"/>
          </a:p>
        </p:txBody>
      </p:sp>
      <p:sp>
        <p:nvSpPr>
          <p:cNvPr id="33" name="Text 27"/>
          <p:cNvSpPr/>
          <p:nvPr/>
        </p:nvSpPr>
        <p:spPr>
          <a:xfrm>
            <a:off x="8732520" y="3118104"/>
            <a:ext cx="2011680" cy="274320"/>
          </a:xfrm>
          <a:prstGeom prst="rect">
            <a:avLst/>
          </a:prstGeom>
          <a:noFill/>
          <a:ln/>
        </p:spPr>
        <p:txBody>
          <a:bodyPr wrap="square" lIns="0" tIns="0" rIns="0" bIns="0" rtlCol="0" anchor="ctr"/>
          <a:lstStyle/>
          <a:p>
            <a:pPr marL="0" indent="0">
              <a:buNone/>
            </a:pPr>
            <a:r>
              <a:rPr lang="en-US" sz="800" dirty="0">
                <a:solidFill>
                  <a:srgbClr val="D6E4F2"/>
                </a:solidFill>
                <a:latin typeface="Calibri" pitchFamily="34" charset="0"/>
                <a:ea typeface="Calibri" pitchFamily="34" charset="-122"/>
                <a:cs typeface="Calibri" pitchFamily="34" charset="-120"/>
              </a:rPr>
              <a:t>Price error · Banana Chips</a:t>
            </a:r>
            <a:endParaRPr lang="en-US" sz="800" dirty="0"/>
          </a:p>
        </p:txBody>
      </p:sp>
      <p:sp>
        <p:nvSpPr>
          <p:cNvPr id="34" name="Shape 28"/>
          <p:cNvSpPr/>
          <p:nvPr/>
        </p:nvSpPr>
        <p:spPr>
          <a:xfrm>
            <a:off x="8622792" y="3538728"/>
            <a:ext cx="2231136" cy="658368"/>
          </a:xfrm>
          <a:prstGeom prst="roundRect">
            <a:avLst>
              <a:gd name="adj" fmla="val 11111"/>
            </a:avLst>
          </a:prstGeom>
          <a:solidFill>
            <a:srgbClr val="10294A"/>
          </a:solidFill>
          <a:ln/>
        </p:spPr>
        <p:txBody>
          <a:bodyPr/>
          <a:lstStyle/>
          <a:p>
            <a:endParaRPr lang="en-US"/>
          </a:p>
        </p:txBody>
      </p:sp>
      <p:sp>
        <p:nvSpPr>
          <p:cNvPr id="35" name="Shape 29"/>
          <p:cNvSpPr/>
          <p:nvPr/>
        </p:nvSpPr>
        <p:spPr>
          <a:xfrm>
            <a:off x="8732520" y="3648456"/>
            <a:ext cx="868680" cy="201168"/>
          </a:xfrm>
          <a:prstGeom prst="roundRect">
            <a:avLst>
              <a:gd name="adj" fmla="val 50000"/>
            </a:avLst>
          </a:prstGeom>
          <a:solidFill>
            <a:srgbClr val="DE0024"/>
          </a:solidFill>
          <a:ln/>
        </p:spPr>
        <p:txBody>
          <a:bodyPr/>
          <a:lstStyle/>
          <a:p>
            <a:endParaRPr lang="en-US"/>
          </a:p>
        </p:txBody>
      </p:sp>
      <p:sp>
        <p:nvSpPr>
          <p:cNvPr id="36" name="Text 30"/>
          <p:cNvSpPr/>
          <p:nvPr/>
        </p:nvSpPr>
        <p:spPr>
          <a:xfrm>
            <a:off x="8732520" y="3648456"/>
            <a:ext cx="868680" cy="201168"/>
          </a:xfrm>
          <a:prstGeom prst="rect">
            <a:avLst/>
          </a:prstGeom>
          <a:noFill/>
          <a:ln/>
        </p:spPr>
        <p:txBody>
          <a:bodyPr wrap="square" lIns="0" tIns="0" rIns="0" bIns="0"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HIGH</a:t>
            </a:r>
            <a:endParaRPr lang="en-US" sz="650" dirty="0"/>
          </a:p>
        </p:txBody>
      </p:sp>
      <p:sp>
        <p:nvSpPr>
          <p:cNvPr id="37" name="Text 31"/>
          <p:cNvSpPr/>
          <p:nvPr/>
        </p:nvSpPr>
        <p:spPr>
          <a:xfrm>
            <a:off x="10058400" y="3630168"/>
            <a:ext cx="777240" cy="237744"/>
          </a:xfrm>
          <a:prstGeom prst="rect">
            <a:avLst/>
          </a:prstGeom>
          <a:noFill/>
          <a:ln/>
        </p:spPr>
        <p:txBody>
          <a:bodyPr wrap="square" lIns="0" tIns="0" rIns="0" bIns="0" rtlCol="0" anchor="ctr"/>
          <a:lstStyle/>
          <a:p>
            <a:pPr marL="0" indent="0" algn="r">
              <a:buNone/>
            </a:pPr>
            <a:r>
              <a:rPr lang="en-US" sz="900" b="1" dirty="0">
                <a:solidFill>
                  <a:srgbClr val="DE0024"/>
                </a:solidFill>
                <a:latin typeface="Calibri" pitchFamily="34" charset="0"/>
                <a:ea typeface="Calibri" pitchFamily="34" charset="-122"/>
                <a:cs typeface="Calibri" pitchFamily="34" charset="-120"/>
              </a:rPr>
              <a:t>€75.59</a:t>
            </a:r>
            <a:endParaRPr lang="en-US" sz="900" dirty="0"/>
          </a:p>
        </p:txBody>
      </p:sp>
      <p:sp>
        <p:nvSpPr>
          <p:cNvPr id="38" name="Text 32"/>
          <p:cNvSpPr/>
          <p:nvPr/>
        </p:nvSpPr>
        <p:spPr>
          <a:xfrm>
            <a:off x="8732520" y="3867912"/>
            <a:ext cx="2011680" cy="274320"/>
          </a:xfrm>
          <a:prstGeom prst="rect">
            <a:avLst/>
          </a:prstGeom>
          <a:noFill/>
          <a:ln/>
        </p:spPr>
        <p:txBody>
          <a:bodyPr wrap="square" lIns="0" tIns="0" rIns="0" bIns="0" rtlCol="0" anchor="ctr"/>
          <a:lstStyle/>
          <a:p>
            <a:pPr marL="0" indent="0">
              <a:buNone/>
            </a:pPr>
            <a:r>
              <a:rPr lang="en-US" sz="800" dirty="0">
                <a:solidFill>
                  <a:srgbClr val="D6E4F2"/>
                </a:solidFill>
                <a:latin typeface="Calibri" pitchFamily="34" charset="0"/>
                <a:ea typeface="Calibri" pitchFamily="34" charset="-122"/>
                <a:cs typeface="Calibri" pitchFamily="34" charset="-120"/>
              </a:rPr>
              <a:t>Chiller BLN01 at 9.6°C</a:t>
            </a:r>
            <a:endParaRPr lang="en-US" sz="800" dirty="0"/>
          </a:p>
        </p:txBody>
      </p:sp>
      <p:sp>
        <p:nvSpPr>
          <p:cNvPr id="39" name="Shape 33"/>
          <p:cNvSpPr/>
          <p:nvPr/>
        </p:nvSpPr>
        <p:spPr>
          <a:xfrm>
            <a:off x="8622792" y="4288536"/>
            <a:ext cx="2231136" cy="658368"/>
          </a:xfrm>
          <a:prstGeom prst="roundRect">
            <a:avLst>
              <a:gd name="adj" fmla="val 11111"/>
            </a:avLst>
          </a:prstGeom>
          <a:solidFill>
            <a:srgbClr val="10294A"/>
          </a:solidFill>
          <a:ln/>
        </p:spPr>
        <p:txBody>
          <a:bodyPr/>
          <a:lstStyle/>
          <a:p>
            <a:endParaRPr lang="en-US"/>
          </a:p>
        </p:txBody>
      </p:sp>
      <p:sp>
        <p:nvSpPr>
          <p:cNvPr id="40" name="Shape 34"/>
          <p:cNvSpPr/>
          <p:nvPr/>
        </p:nvSpPr>
        <p:spPr>
          <a:xfrm>
            <a:off x="8732520" y="4398264"/>
            <a:ext cx="868680" cy="201168"/>
          </a:xfrm>
          <a:prstGeom prst="roundRect">
            <a:avLst>
              <a:gd name="adj" fmla="val 50000"/>
            </a:avLst>
          </a:prstGeom>
          <a:solidFill>
            <a:srgbClr val="DE0024"/>
          </a:solidFill>
          <a:ln/>
        </p:spPr>
        <p:txBody>
          <a:bodyPr/>
          <a:lstStyle/>
          <a:p>
            <a:endParaRPr lang="en-US"/>
          </a:p>
        </p:txBody>
      </p:sp>
      <p:sp>
        <p:nvSpPr>
          <p:cNvPr id="41" name="Text 35"/>
          <p:cNvSpPr/>
          <p:nvPr/>
        </p:nvSpPr>
        <p:spPr>
          <a:xfrm>
            <a:off x="8732520" y="4398264"/>
            <a:ext cx="868680" cy="201168"/>
          </a:xfrm>
          <a:prstGeom prst="rect">
            <a:avLst/>
          </a:prstGeom>
          <a:noFill/>
          <a:ln/>
        </p:spPr>
        <p:txBody>
          <a:bodyPr wrap="square" lIns="0" tIns="0" rIns="0" bIns="0"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CRITICAL</a:t>
            </a:r>
            <a:endParaRPr lang="en-US" sz="650" dirty="0"/>
          </a:p>
        </p:txBody>
      </p:sp>
      <p:sp>
        <p:nvSpPr>
          <p:cNvPr id="42" name="Text 36"/>
          <p:cNvSpPr/>
          <p:nvPr/>
        </p:nvSpPr>
        <p:spPr>
          <a:xfrm>
            <a:off x="10058400" y="4379976"/>
            <a:ext cx="777240" cy="237744"/>
          </a:xfrm>
          <a:prstGeom prst="rect">
            <a:avLst/>
          </a:prstGeom>
          <a:noFill/>
          <a:ln/>
        </p:spPr>
        <p:txBody>
          <a:bodyPr wrap="square" lIns="0" tIns="0" rIns="0" bIns="0" rtlCol="0" anchor="ctr"/>
          <a:lstStyle/>
          <a:p>
            <a:pPr marL="0" indent="0" algn="r">
              <a:buNone/>
            </a:pPr>
            <a:r>
              <a:rPr lang="en-US" sz="900" b="1" dirty="0">
                <a:solidFill>
                  <a:srgbClr val="DE0024"/>
                </a:solidFill>
                <a:latin typeface="Calibri" pitchFamily="34" charset="0"/>
                <a:ea typeface="Calibri" pitchFamily="34" charset="-122"/>
                <a:cs typeface="Calibri" pitchFamily="34" charset="-120"/>
              </a:rPr>
              <a:t>€126.90</a:t>
            </a:r>
            <a:endParaRPr lang="en-US" sz="900" dirty="0"/>
          </a:p>
        </p:txBody>
      </p:sp>
      <p:sp>
        <p:nvSpPr>
          <p:cNvPr id="43" name="Text 37"/>
          <p:cNvSpPr/>
          <p:nvPr/>
        </p:nvSpPr>
        <p:spPr>
          <a:xfrm>
            <a:off x="8732520" y="4617720"/>
            <a:ext cx="2011680" cy="274320"/>
          </a:xfrm>
          <a:prstGeom prst="rect">
            <a:avLst/>
          </a:prstGeom>
          <a:noFill/>
          <a:ln/>
        </p:spPr>
        <p:txBody>
          <a:bodyPr wrap="square" lIns="0" tIns="0" rIns="0" bIns="0" rtlCol="0" anchor="ctr"/>
          <a:lstStyle/>
          <a:p>
            <a:pPr marL="0" indent="0">
              <a:buNone/>
            </a:pPr>
            <a:r>
              <a:rPr lang="en-US" sz="800" dirty="0">
                <a:solidFill>
                  <a:srgbClr val="D6E4F2"/>
                </a:solidFill>
                <a:latin typeface="Calibri" pitchFamily="34" charset="0"/>
                <a:ea typeface="Calibri" pitchFamily="34" charset="-122"/>
                <a:cs typeface="Calibri" pitchFamily="34" charset="-120"/>
              </a:rPr>
              <a:t>Tag absent · Leergut</a:t>
            </a:r>
            <a:endParaRPr lang="en-US" sz="800" dirty="0"/>
          </a:p>
        </p:txBody>
      </p:sp>
      <p:sp>
        <p:nvSpPr>
          <p:cNvPr id="44" name="Shape 38"/>
          <p:cNvSpPr/>
          <p:nvPr/>
        </p:nvSpPr>
        <p:spPr>
          <a:xfrm>
            <a:off x="8622792" y="5038344"/>
            <a:ext cx="2231136" cy="658368"/>
          </a:xfrm>
          <a:prstGeom prst="roundRect">
            <a:avLst>
              <a:gd name="adj" fmla="val 11111"/>
            </a:avLst>
          </a:prstGeom>
          <a:solidFill>
            <a:srgbClr val="10294A"/>
          </a:solidFill>
          <a:ln/>
        </p:spPr>
        <p:txBody>
          <a:bodyPr/>
          <a:lstStyle/>
          <a:p>
            <a:endParaRPr lang="en-US"/>
          </a:p>
        </p:txBody>
      </p:sp>
      <p:sp>
        <p:nvSpPr>
          <p:cNvPr id="45" name="Shape 39"/>
          <p:cNvSpPr/>
          <p:nvPr/>
        </p:nvSpPr>
        <p:spPr>
          <a:xfrm>
            <a:off x="8732520" y="5148072"/>
            <a:ext cx="868680" cy="201168"/>
          </a:xfrm>
          <a:prstGeom prst="roundRect">
            <a:avLst>
              <a:gd name="adj" fmla="val 50000"/>
            </a:avLst>
          </a:prstGeom>
          <a:solidFill>
            <a:srgbClr val="5B9BD5"/>
          </a:solidFill>
          <a:ln/>
        </p:spPr>
        <p:txBody>
          <a:bodyPr/>
          <a:lstStyle/>
          <a:p>
            <a:endParaRPr lang="en-US"/>
          </a:p>
        </p:txBody>
      </p:sp>
      <p:sp>
        <p:nvSpPr>
          <p:cNvPr id="46" name="Text 40"/>
          <p:cNvSpPr/>
          <p:nvPr/>
        </p:nvSpPr>
        <p:spPr>
          <a:xfrm>
            <a:off x="8732520" y="5148072"/>
            <a:ext cx="868680" cy="201168"/>
          </a:xfrm>
          <a:prstGeom prst="rect">
            <a:avLst/>
          </a:prstGeom>
          <a:noFill/>
          <a:ln/>
        </p:spPr>
        <p:txBody>
          <a:bodyPr wrap="square" lIns="0" tIns="0" rIns="0" bIns="0"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MED</a:t>
            </a:r>
            <a:endParaRPr lang="en-US" sz="650" dirty="0"/>
          </a:p>
        </p:txBody>
      </p:sp>
      <p:sp>
        <p:nvSpPr>
          <p:cNvPr id="47" name="Text 41"/>
          <p:cNvSpPr/>
          <p:nvPr/>
        </p:nvSpPr>
        <p:spPr>
          <a:xfrm>
            <a:off x="10058400" y="5129784"/>
            <a:ext cx="777240" cy="237744"/>
          </a:xfrm>
          <a:prstGeom prst="rect">
            <a:avLst/>
          </a:prstGeom>
          <a:noFill/>
          <a:ln/>
        </p:spPr>
        <p:txBody>
          <a:bodyPr wrap="square" lIns="0" tIns="0" rIns="0" bIns="0" rtlCol="0" anchor="ctr"/>
          <a:lstStyle/>
          <a:p>
            <a:pPr marL="0" indent="0" algn="r">
              <a:buNone/>
            </a:pPr>
            <a:r>
              <a:rPr lang="en-US" sz="900" b="1" dirty="0">
                <a:solidFill>
                  <a:srgbClr val="DE0024"/>
                </a:solidFill>
                <a:latin typeface="Calibri" pitchFamily="34" charset="0"/>
                <a:ea typeface="Calibri" pitchFamily="34" charset="-122"/>
                <a:cs typeface="Calibri" pitchFamily="34" charset="-120"/>
              </a:rPr>
              <a:t>€38.08</a:t>
            </a:r>
            <a:endParaRPr lang="en-US" sz="900" dirty="0"/>
          </a:p>
        </p:txBody>
      </p:sp>
      <p:sp>
        <p:nvSpPr>
          <p:cNvPr id="48" name="Text 42"/>
          <p:cNvSpPr/>
          <p:nvPr/>
        </p:nvSpPr>
        <p:spPr>
          <a:xfrm>
            <a:off x="8732520" y="5367528"/>
            <a:ext cx="2011680" cy="274320"/>
          </a:xfrm>
          <a:prstGeom prst="rect">
            <a:avLst/>
          </a:prstGeom>
          <a:noFill/>
          <a:ln/>
        </p:spPr>
        <p:txBody>
          <a:bodyPr wrap="square" lIns="0" tIns="0" rIns="0" bIns="0" rtlCol="0" anchor="ctr"/>
          <a:lstStyle/>
          <a:p>
            <a:pPr marL="0" indent="0">
              <a:buNone/>
            </a:pPr>
            <a:r>
              <a:rPr lang="en-US" sz="800" dirty="0">
                <a:solidFill>
                  <a:srgbClr val="D6E4F2"/>
                </a:solidFill>
                <a:latin typeface="Calibri" pitchFamily="34" charset="0"/>
                <a:ea typeface="Calibri" pitchFamily="34" charset="-122"/>
                <a:cs typeface="Calibri" pitchFamily="34" charset="-120"/>
              </a:rPr>
              <a:t>Chiller MUC01 at 8.1°C</a:t>
            </a:r>
            <a:endParaRPr lang="en-US" sz="800" dirty="0"/>
          </a:p>
        </p:txBody>
      </p:sp>
      <p:sp>
        <p:nvSpPr>
          <p:cNvPr id="49" name="Text 43"/>
          <p:cNvSpPr/>
          <p:nvPr/>
        </p:nvSpPr>
        <p:spPr>
          <a:xfrm>
            <a:off x="11414455" y="6400800"/>
            <a:ext cx="457200" cy="274320"/>
          </a:xfrm>
          <a:prstGeom prst="rect">
            <a:avLst/>
          </a:prstGeom>
          <a:noFill/>
          <a:ln/>
        </p:spPr>
        <p:txBody>
          <a:bodyPr wrap="square" rtlCol="0" anchor="ctr"/>
          <a:lstStyle/>
          <a:p>
            <a:pPr marL="0" indent="0" algn="r">
              <a:buNone/>
            </a:pPr>
            <a:r>
              <a:rPr lang="en-US" sz="900" dirty="0">
                <a:solidFill>
                  <a:srgbClr val="A6B6CC"/>
                </a:solidFill>
                <a:latin typeface="Calibri" pitchFamily="34" charset="0"/>
                <a:ea typeface="Calibri" pitchFamily="34" charset="-122"/>
                <a:cs typeface="Calibri" pitchFamily="34" charset="-120"/>
              </a:rPr>
              <a:t>21</a:t>
            </a:r>
            <a:endParaRPr lang="en-US" sz="900" dirty="0"/>
          </a:p>
        </p:txBody>
      </p:sp>
      <p:pic>
        <p:nvPicPr>
          <p:cNvPr id="50" name="Image 4" descr="/home/claude/mark_white.png"/>
          <p:cNvPicPr>
            <a:picLocks noChangeAspect="1"/>
          </p:cNvPicPr>
          <p:nvPr/>
        </p:nvPicPr>
        <p:blipFill>
          <a:blip r:embed="rId7"/>
          <a:stretch>
            <a:fillRect/>
          </a:stretch>
        </p:blipFill>
        <p:spPr>
          <a:xfrm>
            <a:off x="457200" y="6355080"/>
            <a:ext cx="457200" cy="302412"/>
          </a:xfrm>
          <a:prstGeom prst="rect">
            <a:avLst/>
          </a:prstGeom>
        </p:spPr>
      </p:pic>
      <p:sp>
        <p:nvSpPr>
          <p:cNvPr id="51" name="Text 44"/>
          <p:cNvSpPr/>
          <p:nvPr/>
        </p:nvSpPr>
        <p:spPr>
          <a:xfrm>
            <a:off x="960120" y="6400800"/>
            <a:ext cx="1828800" cy="274320"/>
          </a:xfrm>
          <a:prstGeom prst="rect">
            <a:avLst/>
          </a:prstGeom>
          <a:noFill/>
          <a:ln/>
        </p:spPr>
        <p:txBody>
          <a:bodyPr wrap="square" lIns="0" tIns="0" rIns="0" bIns="0" rtlCol="0" anchor="ctr"/>
          <a:lstStyle/>
          <a:p>
            <a:pPr marL="0" indent="0">
              <a:buNone/>
            </a:pPr>
            <a:r>
              <a:rPr lang="en-US" sz="850" b="1" kern="0" spc="200" dirty="0">
                <a:solidFill>
                  <a:srgbClr val="A6B6CC"/>
                </a:solidFill>
                <a:latin typeface="Calibri" pitchFamily="34" charset="0"/>
                <a:ea typeface="Calibri" pitchFamily="34" charset="-122"/>
                <a:cs typeface="Calibri" pitchFamily="34" charset="-120"/>
              </a:rPr>
              <a:t>MSITEK</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7FB"/>
        </a:solidFill>
        <a:effectLst/>
      </p:bgPr>
    </p:bg>
    <p:spTree>
      <p:nvGrpSpPr>
        <p:cNvPr id="1" name=""/>
        <p:cNvGrpSpPr/>
        <p:nvPr/>
      </p:nvGrpSpPr>
      <p:grpSpPr>
        <a:xfrm>
          <a:off x="0" y="0"/>
          <a:ext cx="0" cy="0"/>
          <a:chOff x="0" y="0"/>
          <a:chExt cx="0" cy="0"/>
        </a:xfrm>
      </p:grpSpPr>
      <p:sp>
        <p:nvSpPr>
          <p:cNvPr id="2" name="Text 0"/>
          <p:cNvSpPr/>
          <p:nvPr/>
        </p:nvSpPr>
        <p:spPr>
          <a:xfrm>
            <a:off x="685800" y="502920"/>
            <a:ext cx="7315200" cy="274320"/>
          </a:xfrm>
          <a:prstGeom prst="rect">
            <a:avLst/>
          </a:prstGeom>
          <a:noFill/>
          <a:ln/>
        </p:spPr>
        <p:txBody>
          <a:bodyPr wrap="square" lIns="0" tIns="0" rIns="0" bIns="0" rtlCol="0" anchor="ctr"/>
          <a:lstStyle/>
          <a:p>
            <a:pPr marL="0" indent="0">
              <a:buNone/>
            </a:pPr>
            <a:r>
              <a:rPr lang="en-US" sz="1200" b="1" kern="0" spc="300" dirty="0">
                <a:solidFill>
                  <a:srgbClr val="DE0024"/>
                </a:solidFill>
                <a:latin typeface="Calibri" pitchFamily="34" charset="0"/>
                <a:ea typeface="Calibri" pitchFamily="34" charset="-122"/>
                <a:cs typeface="Calibri" pitchFamily="34" charset="-120"/>
              </a:rPr>
              <a:t>ONE DECISION WE NEED FROM YOU</a:t>
            </a:r>
            <a:endParaRPr lang="en-US" sz="1200" dirty="0"/>
          </a:p>
        </p:txBody>
      </p:sp>
      <p:sp>
        <p:nvSpPr>
          <p:cNvPr id="3" name="Text 1"/>
          <p:cNvSpPr/>
          <p:nvPr/>
        </p:nvSpPr>
        <p:spPr>
          <a:xfrm>
            <a:off x="658368" y="822960"/>
            <a:ext cx="10789920" cy="548640"/>
          </a:xfrm>
          <a:prstGeom prst="rect">
            <a:avLst/>
          </a:prstGeom>
          <a:noFill/>
          <a:ln/>
        </p:spPr>
        <p:txBody>
          <a:bodyPr wrap="square" lIns="0" tIns="0" rIns="0" bIns="0" rtlCol="0" anchor="ctr"/>
          <a:lstStyle/>
          <a:p>
            <a:pPr marL="0" indent="0">
              <a:buNone/>
            </a:pPr>
            <a:r>
              <a:rPr lang="en-US" sz="2900" b="1" dirty="0">
                <a:solidFill>
                  <a:srgbClr val="10294A"/>
                </a:solidFill>
                <a:latin typeface="Bookman Old Style" pitchFamily="34" charset="0"/>
                <a:ea typeface="Bookman Old Style" pitchFamily="34" charset="-122"/>
                <a:cs typeface="Bookman Old Style" pitchFamily="34" charset="-120"/>
              </a:rPr>
              <a:t>The eight Fiori elements apps</a:t>
            </a:r>
            <a:endParaRPr lang="en-US" sz="2900" dirty="0"/>
          </a:p>
        </p:txBody>
      </p:sp>
      <p:sp>
        <p:nvSpPr>
          <p:cNvPr id="4" name="Text 2"/>
          <p:cNvSpPr/>
          <p:nvPr/>
        </p:nvSpPr>
        <p:spPr>
          <a:xfrm>
            <a:off x="685800" y="1508760"/>
            <a:ext cx="10698480" cy="731520"/>
          </a:xfrm>
          <a:prstGeom prst="rect">
            <a:avLst/>
          </a:prstGeom>
          <a:noFill/>
          <a:ln/>
        </p:spPr>
        <p:txBody>
          <a:bodyPr wrap="square" lIns="0" tIns="0" rIns="0" bIns="0" rtlCol="0" anchor="ctr"/>
          <a:lstStyle/>
          <a:p>
            <a:pPr marL="0" indent="0">
              <a:lnSpc>
                <a:spcPts val="2000"/>
              </a:lnSpc>
              <a:buNone/>
            </a:pPr>
            <a:r>
              <a:rPr lang="en-US" sz="1400" dirty="0">
                <a:solidFill>
                  <a:srgbClr val="54657E"/>
                </a:solidFill>
                <a:latin typeface="Calibri" pitchFamily="34" charset="0"/>
                <a:ea typeface="Calibri" pitchFamily="34" charset="-122"/>
                <a:cs typeface="Calibri" pitchFamily="34" charset="-120"/>
              </a:rPr>
              <a:t>They render on any connected machine, in Business Application Studio and on BTP — but stay blank in an air-gapped room, because Fiori elements ships only in the closed SAPUI5 distribution and cannot be vendored.</a:t>
            </a:r>
            <a:endParaRPr lang="en-US" sz="1400" dirty="0"/>
          </a:p>
        </p:txBody>
      </p:sp>
      <p:sp>
        <p:nvSpPr>
          <p:cNvPr id="5" name="Shape 3"/>
          <p:cNvSpPr/>
          <p:nvPr/>
        </p:nvSpPr>
        <p:spPr>
          <a:xfrm>
            <a:off x="685800" y="2331720"/>
            <a:ext cx="3520440" cy="2788920"/>
          </a:xfrm>
          <a:prstGeom prst="roundRect">
            <a:avLst>
              <a:gd name="adj" fmla="val 2951"/>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6" name="Text 4"/>
          <p:cNvSpPr/>
          <p:nvPr/>
        </p:nvSpPr>
        <p:spPr>
          <a:xfrm>
            <a:off x="960120" y="2606040"/>
            <a:ext cx="2971800" cy="365760"/>
          </a:xfrm>
          <a:prstGeom prst="rect">
            <a:avLst/>
          </a:prstGeom>
          <a:noFill/>
          <a:ln/>
        </p:spPr>
        <p:txBody>
          <a:bodyPr wrap="square" lIns="0" tIns="0" rIns="0" bIns="0" rtlCol="0" anchor="ctr"/>
          <a:lstStyle/>
          <a:p>
            <a:pPr marL="0" indent="0">
              <a:buNone/>
            </a:pPr>
            <a:r>
              <a:rPr lang="en-US" sz="1200" b="1" kern="0" spc="100" dirty="0">
                <a:solidFill>
                  <a:srgbClr val="54657E"/>
                </a:solidFill>
                <a:latin typeface="Calibri" pitchFamily="34" charset="0"/>
                <a:ea typeface="Calibri" pitchFamily="34" charset="-122"/>
                <a:cs typeface="Calibri" pitchFamily="34" charset="-120"/>
              </a:rPr>
              <a:t>Option A</a:t>
            </a:r>
            <a:endParaRPr lang="en-US" sz="1200" dirty="0"/>
          </a:p>
        </p:txBody>
      </p:sp>
      <p:sp>
        <p:nvSpPr>
          <p:cNvPr id="7" name="Text 5"/>
          <p:cNvSpPr/>
          <p:nvPr/>
        </p:nvSpPr>
        <p:spPr>
          <a:xfrm>
            <a:off x="960120" y="2926080"/>
            <a:ext cx="2971800" cy="640080"/>
          </a:xfrm>
          <a:prstGeom prst="rect">
            <a:avLst/>
          </a:prstGeom>
          <a:noFill/>
          <a:ln/>
        </p:spPr>
        <p:txBody>
          <a:bodyPr wrap="square" lIns="0" tIns="0" rIns="0" bIns="0" rtlCol="0" anchor="ctr"/>
          <a:lstStyle/>
          <a:p>
            <a:pPr marL="0" indent="0">
              <a:lnSpc>
                <a:spcPts val="2100"/>
              </a:lnSpc>
              <a:buNone/>
            </a:pPr>
            <a:r>
              <a:rPr lang="en-US" sz="1900" b="1" dirty="0">
                <a:solidFill>
                  <a:srgbClr val="10294A"/>
                </a:solidFill>
                <a:latin typeface="Bookman Old Style" pitchFamily="34" charset="0"/>
                <a:ea typeface="Bookman Old Style" pitchFamily="34" charset="-122"/>
                <a:cs typeface="Bookman Old Style" pitchFamily="34" charset="-120"/>
              </a:rPr>
              <a:t>Leave as-is</a:t>
            </a:r>
            <a:endParaRPr lang="en-US" sz="1900" dirty="0"/>
          </a:p>
        </p:txBody>
      </p:sp>
      <p:sp>
        <p:nvSpPr>
          <p:cNvPr id="8" name="Text 6"/>
          <p:cNvSpPr/>
          <p:nvPr/>
        </p:nvSpPr>
        <p:spPr>
          <a:xfrm>
            <a:off x="960120" y="3657600"/>
            <a:ext cx="2971800" cy="1188720"/>
          </a:xfrm>
          <a:prstGeom prst="rect">
            <a:avLst/>
          </a:prstGeom>
          <a:noFill/>
          <a:ln/>
        </p:spPr>
        <p:txBody>
          <a:bodyPr wrap="square" lIns="0" tIns="0" rIns="0" bIns="0" rtlCol="0" anchor="ctr"/>
          <a:lstStyle/>
          <a:p>
            <a:pPr marL="0" indent="0">
              <a:lnSpc>
                <a:spcPts val="1700"/>
              </a:lnSpc>
              <a:buNone/>
            </a:pPr>
            <a:r>
              <a:rPr lang="en-US" sz="1200" dirty="0">
                <a:solidFill>
                  <a:srgbClr val="54657E"/>
                </a:solidFill>
                <a:latin typeface="Calibri" pitchFamily="34" charset="0"/>
                <a:ea typeface="Calibri" pitchFamily="34" charset="-122"/>
                <a:cs typeface="Calibri" pitchFamily="34" charset="-120"/>
              </a:rPr>
              <a:t>Document the connectivity requirement. Zero further work. Only safe if the demo room always has internet.</a:t>
            </a:r>
            <a:endParaRPr lang="en-US" sz="1200" dirty="0"/>
          </a:p>
        </p:txBody>
      </p:sp>
      <p:sp>
        <p:nvSpPr>
          <p:cNvPr id="9" name="Shape 7"/>
          <p:cNvSpPr/>
          <p:nvPr/>
        </p:nvSpPr>
        <p:spPr>
          <a:xfrm>
            <a:off x="4480560" y="2331720"/>
            <a:ext cx="3520440" cy="2788920"/>
          </a:xfrm>
          <a:prstGeom prst="roundRect">
            <a:avLst>
              <a:gd name="adj" fmla="val 2951"/>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10" name="Text 8"/>
          <p:cNvSpPr/>
          <p:nvPr/>
        </p:nvSpPr>
        <p:spPr>
          <a:xfrm>
            <a:off x="4754880" y="2606040"/>
            <a:ext cx="2971800" cy="365760"/>
          </a:xfrm>
          <a:prstGeom prst="rect">
            <a:avLst/>
          </a:prstGeom>
          <a:noFill/>
          <a:ln/>
        </p:spPr>
        <p:txBody>
          <a:bodyPr wrap="square" lIns="0" tIns="0" rIns="0" bIns="0" rtlCol="0" anchor="ctr"/>
          <a:lstStyle/>
          <a:p>
            <a:pPr marL="0" indent="0">
              <a:buNone/>
            </a:pPr>
            <a:r>
              <a:rPr lang="en-US" sz="1200" b="1" kern="0" spc="100" dirty="0">
                <a:solidFill>
                  <a:srgbClr val="1E578D"/>
                </a:solidFill>
                <a:latin typeface="Calibri" pitchFamily="34" charset="0"/>
                <a:ea typeface="Calibri" pitchFamily="34" charset="-122"/>
                <a:cs typeface="Calibri" pitchFamily="34" charset="-120"/>
              </a:rPr>
              <a:t>Option B</a:t>
            </a:r>
            <a:endParaRPr lang="en-US" sz="1200" dirty="0"/>
          </a:p>
        </p:txBody>
      </p:sp>
      <p:sp>
        <p:nvSpPr>
          <p:cNvPr id="11" name="Text 9"/>
          <p:cNvSpPr/>
          <p:nvPr/>
        </p:nvSpPr>
        <p:spPr>
          <a:xfrm>
            <a:off x="4754880" y="2926080"/>
            <a:ext cx="2971800" cy="640080"/>
          </a:xfrm>
          <a:prstGeom prst="rect">
            <a:avLst/>
          </a:prstGeom>
          <a:noFill/>
          <a:ln/>
        </p:spPr>
        <p:txBody>
          <a:bodyPr wrap="square" lIns="0" tIns="0" rIns="0" bIns="0" rtlCol="0" anchor="ctr"/>
          <a:lstStyle/>
          <a:p>
            <a:pPr marL="0" indent="0">
              <a:lnSpc>
                <a:spcPts val="2100"/>
              </a:lnSpc>
              <a:buNone/>
            </a:pPr>
            <a:r>
              <a:rPr lang="en-US" sz="1900" b="1" dirty="0">
                <a:solidFill>
                  <a:srgbClr val="10294A"/>
                </a:solidFill>
                <a:latin typeface="Bookman Old Style" pitchFamily="34" charset="0"/>
                <a:ea typeface="Bookman Old Style" pitchFamily="34" charset="-122"/>
                <a:cs typeface="Bookman Old Style" pitchFamily="34" charset="-120"/>
              </a:rPr>
              <a:t>Rebuild in the offline style</a:t>
            </a:r>
            <a:endParaRPr lang="en-US" sz="1900" dirty="0"/>
          </a:p>
        </p:txBody>
      </p:sp>
      <p:sp>
        <p:nvSpPr>
          <p:cNvPr id="12" name="Text 10"/>
          <p:cNvSpPr/>
          <p:nvPr/>
        </p:nvSpPr>
        <p:spPr>
          <a:xfrm>
            <a:off x="4754880" y="3657600"/>
            <a:ext cx="2971800" cy="1188720"/>
          </a:xfrm>
          <a:prstGeom prst="rect">
            <a:avLst/>
          </a:prstGeom>
          <a:noFill/>
          <a:ln/>
        </p:spPr>
        <p:txBody>
          <a:bodyPr wrap="square" lIns="0" tIns="0" rIns="0" bIns="0" rtlCol="0" anchor="ctr"/>
          <a:lstStyle/>
          <a:p>
            <a:pPr marL="0" indent="0">
              <a:lnSpc>
                <a:spcPts val="1700"/>
              </a:lnSpc>
              <a:buNone/>
            </a:pPr>
            <a:r>
              <a:rPr lang="en-US" sz="1200" dirty="0">
                <a:solidFill>
                  <a:srgbClr val="54657E"/>
                </a:solidFill>
                <a:latin typeface="Calibri" pitchFamily="34" charset="0"/>
                <a:ea typeface="Calibri" pitchFamily="34" charset="-122"/>
                <a:cs typeface="Calibri" pitchFamily="34" charset="-120"/>
              </a:rPr>
              <a:t>~1 day. Each scenario becomes a self-contained page like the Command Centre. Works everywhere; loses the Fiori-elements label.</a:t>
            </a:r>
            <a:endParaRPr lang="en-US" sz="1200" dirty="0"/>
          </a:p>
        </p:txBody>
      </p:sp>
      <p:sp>
        <p:nvSpPr>
          <p:cNvPr id="13" name="Shape 11"/>
          <p:cNvSpPr/>
          <p:nvPr/>
        </p:nvSpPr>
        <p:spPr>
          <a:xfrm>
            <a:off x="8275320" y="2331720"/>
            <a:ext cx="3520440" cy="2788920"/>
          </a:xfrm>
          <a:prstGeom prst="roundRect">
            <a:avLst>
              <a:gd name="adj" fmla="val 2951"/>
            </a:avLst>
          </a:prstGeom>
          <a:solidFill>
            <a:srgbClr val="10294A"/>
          </a:solidFill>
          <a:ln/>
          <a:effectLst>
            <a:outerShdw blurRad="88900" dist="25400" dir="5400000" algn="bl" rotWithShape="0">
              <a:srgbClr val="10294A">
                <a:alpha val="12000"/>
              </a:srgbClr>
            </a:outerShdw>
          </a:effectLst>
        </p:spPr>
        <p:txBody>
          <a:bodyPr/>
          <a:lstStyle/>
          <a:p>
            <a:endParaRPr lang="en-US"/>
          </a:p>
        </p:txBody>
      </p:sp>
      <p:sp>
        <p:nvSpPr>
          <p:cNvPr id="14" name="Shape 12"/>
          <p:cNvSpPr/>
          <p:nvPr/>
        </p:nvSpPr>
        <p:spPr>
          <a:xfrm>
            <a:off x="8549640" y="2560320"/>
            <a:ext cx="1435608" cy="274320"/>
          </a:xfrm>
          <a:prstGeom prst="roundRect">
            <a:avLst>
              <a:gd name="adj" fmla="val 50000"/>
            </a:avLst>
          </a:prstGeom>
          <a:solidFill>
            <a:srgbClr val="DE0024"/>
          </a:solidFill>
          <a:ln/>
        </p:spPr>
        <p:txBody>
          <a:bodyPr/>
          <a:lstStyle/>
          <a:p>
            <a:endParaRPr lang="en-US"/>
          </a:p>
        </p:txBody>
      </p:sp>
      <p:sp>
        <p:nvSpPr>
          <p:cNvPr id="15" name="Text 13"/>
          <p:cNvSpPr/>
          <p:nvPr/>
        </p:nvSpPr>
        <p:spPr>
          <a:xfrm>
            <a:off x="8549640" y="2560320"/>
            <a:ext cx="1435608" cy="274320"/>
          </a:xfrm>
          <a:prstGeom prst="rect">
            <a:avLst/>
          </a:prstGeom>
          <a:noFill/>
          <a:ln/>
        </p:spPr>
        <p:txBody>
          <a:bodyPr wrap="square" lIns="0" tIns="0" rIns="0" bIns="0" rtlCol="0" anchor="ctr"/>
          <a:lstStyle/>
          <a:p>
            <a:pPr marL="0" indent="0" algn="ctr">
              <a:buNone/>
            </a:pPr>
            <a:r>
              <a:rPr lang="en-US" sz="1000" b="1" dirty="0">
                <a:solidFill>
                  <a:srgbClr val="10294A"/>
                </a:solidFill>
                <a:latin typeface="Calibri" pitchFamily="34" charset="0"/>
                <a:ea typeface="Calibri" pitchFamily="34" charset="-122"/>
                <a:cs typeface="Calibri" pitchFamily="34" charset="-120"/>
              </a:rPr>
              <a:t>OUR RECOMMENDATION</a:t>
            </a:r>
            <a:endParaRPr lang="en-US" sz="1000" dirty="0"/>
          </a:p>
        </p:txBody>
      </p:sp>
      <p:sp>
        <p:nvSpPr>
          <p:cNvPr id="16" name="Text 14"/>
          <p:cNvSpPr/>
          <p:nvPr/>
        </p:nvSpPr>
        <p:spPr>
          <a:xfrm>
            <a:off x="8549640" y="2926080"/>
            <a:ext cx="2971800" cy="365760"/>
          </a:xfrm>
          <a:prstGeom prst="rect">
            <a:avLst/>
          </a:prstGeom>
          <a:noFill/>
          <a:ln/>
        </p:spPr>
        <p:txBody>
          <a:bodyPr wrap="square" lIns="0" tIns="0" rIns="0" bIns="0" rtlCol="0" anchor="ctr"/>
          <a:lstStyle/>
          <a:p>
            <a:pPr marL="0" indent="0">
              <a:buNone/>
            </a:pPr>
            <a:r>
              <a:rPr lang="en-US" sz="1200" b="1" kern="0" spc="100" dirty="0">
                <a:solidFill>
                  <a:srgbClr val="5B9BD5"/>
                </a:solidFill>
                <a:latin typeface="Calibri" pitchFamily="34" charset="0"/>
                <a:ea typeface="Calibri" pitchFamily="34" charset="-122"/>
                <a:cs typeface="Calibri" pitchFamily="34" charset="-120"/>
              </a:rPr>
              <a:t>Option C</a:t>
            </a:r>
            <a:endParaRPr lang="en-US" sz="1200" dirty="0"/>
          </a:p>
        </p:txBody>
      </p:sp>
      <p:sp>
        <p:nvSpPr>
          <p:cNvPr id="17" name="Text 15"/>
          <p:cNvSpPr/>
          <p:nvPr/>
        </p:nvSpPr>
        <p:spPr>
          <a:xfrm>
            <a:off x="8549640" y="3246120"/>
            <a:ext cx="2971800" cy="640080"/>
          </a:xfrm>
          <a:prstGeom prst="rect">
            <a:avLst/>
          </a:prstGeom>
          <a:noFill/>
          <a:ln/>
        </p:spPr>
        <p:txBody>
          <a:bodyPr wrap="square" lIns="0" tIns="0" rIns="0" bIns="0" rtlCol="0" anchor="ctr"/>
          <a:lstStyle/>
          <a:p>
            <a:pPr marL="0" indent="0">
              <a:lnSpc>
                <a:spcPts val="2100"/>
              </a:lnSpc>
              <a:buNone/>
            </a:pPr>
            <a:r>
              <a:rPr lang="en-US" sz="1900" b="1" dirty="0">
                <a:solidFill>
                  <a:srgbClr val="FFFFFF"/>
                </a:solidFill>
                <a:latin typeface="Bookman Old Style" pitchFamily="34" charset="0"/>
                <a:ea typeface="Bookman Old Style" pitchFamily="34" charset="-122"/>
                <a:cs typeface="Bookman Old Style" pitchFamily="34" charset="-120"/>
              </a:rPr>
              <a:t>Keep both</a:t>
            </a:r>
            <a:endParaRPr lang="en-US" sz="1900" dirty="0"/>
          </a:p>
        </p:txBody>
      </p:sp>
      <p:sp>
        <p:nvSpPr>
          <p:cNvPr id="18" name="Text 16"/>
          <p:cNvSpPr/>
          <p:nvPr/>
        </p:nvSpPr>
        <p:spPr>
          <a:xfrm>
            <a:off x="8549640" y="3977640"/>
            <a:ext cx="2971800" cy="1188720"/>
          </a:xfrm>
          <a:prstGeom prst="rect">
            <a:avLst/>
          </a:prstGeom>
          <a:noFill/>
          <a:ln/>
        </p:spPr>
        <p:txBody>
          <a:bodyPr wrap="square" lIns="0" tIns="0" rIns="0" bIns="0" rtlCol="0" anchor="ctr"/>
          <a:lstStyle/>
          <a:p>
            <a:pPr marL="0" indent="0">
              <a:lnSpc>
                <a:spcPts val="1700"/>
              </a:lnSpc>
              <a:buNone/>
            </a:pPr>
            <a:r>
              <a:rPr lang="en-US" sz="1200" dirty="0">
                <a:solidFill>
                  <a:srgbClr val="D6E4F2"/>
                </a:solidFill>
                <a:latin typeface="Calibri" pitchFamily="34" charset="0"/>
                <a:ea typeface="Calibri" pitchFamily="34" charset="-122"/>
                <a:cs typeface="Calibri" pitchFamily="34" charset="-120"/>
              </a:rPr>
              <a:t>Fiori elements for BTP where the annotations do real work; self-contained equivalents for local &amp; offline demos. Mostly additive.</a:t>
            </a:r>
            <a:endParaRPr lang="en-US" sz="1200" dirty="0"/>
          </a:p>
        </p:txBody>
      </p:sp>
      <p:sp>
        <p:nvSpPr>
          <p:cNvPr id="19" name="Text 17"/>
          <p:cNvSpPr/>
          <p:nvPr/>
        </p:nvSpPr>
        <p:spPr>
          <a:xfrm>
            <a:off x="11414455" y="6400800"/>
            <a:ext cx="457200" cy="274320"/>
          </a:xfrm>
          <a:prstGeom prst="rect">
            <a:avLst/>
          </a:prstGeom>
          <a:noFill/>
          <a:ln/>
        </p:spPr>
        <p:txBody>
          <a:bodyPr wrap="square" rtlCol="0" anchor="ctr"/>
          <a:lstStyle/>
          <a:p>
            <a:pPr marL="0" indent="0" algn="r">
              <a:buNone/>
            </a:pPr>
            <a:r>
              <a:rPr lang="en-US" sz="900" dirty="0">
                <a:solidFill>
                  <a:srgbClr val="A6B6CC"/>
                </a:solidFill>
                <a:latin typeface="Calibri" pitchFamily="34" charset="0"/>
                <a:ea typeface="Calibri" pitchFamily="34" charset="-122"/>
                <a:cs typeface="Calibri" pitchFamily="34" charset="-120"/>
              </a:rPr>
              <a:t>22</a:t>
            </a:r>
            <a:endParaRPr lang="en-US" sz="900" dirty="0"/>
          </a:p>
        </p:txBody>
      </p:sp>
      <p:pic>
        <p:nvPicPr>
          <p:cNvPr id="20" name="Image 0" descr="/home/claude/logo_wide_trim.png"/>
          <p:cNvPicPr>
            <a:picLocks noChangeAspect="1"/>
          </p:cNvPicPr>
          <p:nvPr/>
        </p:nvPicPr>
        <p:blipFill>
          <a:blip r:embed="rId3"/>
          <a:stretch>
            <a:fillRect/>
          </a:stretch>
        </p:blipFill>
        <p:spPr>
          <a:xfrm>
            <a:off x="457200" y="6345936"/>
            <a:ext cx="1234440" cy="24075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0294A"/>
        </a:solidFill>
        <a:effectLst/>
      </p:bgPr>
    </p:bg>
    <p:spTree>
      <p:nvGrpSpPr>
        <p:cNvPr id="1" name=""/>
        <p:cNvGrpSpPr/>
        <p:nvPr/>
      </p:nvGrpSpPr>
      <p:grpSpPr>
        <a:xfrm>
          <a:off x="0" y="0"/>
          <a:ext cx="0" cy="0"/>
          <a:chOff x="0" y="0"/>
          <a:chExt cx="0" cy="0"/>
        </a:xfrm>
      </p:grpSpPr>
      <p:sp>
        <p:nvSpPr>
          <p:cNvPr id="2" name="Text 0"/>
          <p:cNvSpPr/>
          <p:nvPr/>
        </p:nvSpPr>
        <p:spPr>
          <a:xfrm>
            <a:off x="685800" y="502920"/>
            <a:ext cx="7315200" cy="274320"/>
          </a:xfrm>
          <a:prstGeom prst="rect">
            <a:avLst/>
          </a:prstGeom>
          <a:noFill/>
          <a:ln/>
        </p:spPr>
        <p:txBody>
          <a:bodyPr wrap="square" lIns="0" tIns="0" rIns="0" bIns="0" rtlCol="0" anchor="ctr"/>
          <a:lstStyle/>
          <a:p>
            <a:pPr marL="0" indent="0">
              <a:buNone/>
            </a:pPr>
            <a:r>
              <a:rPr lang="en-US" sz="1200" b="1" kern="0" spc="300" dirty="0">
                <a:solidFill>
                  <a:srgbClr val="5B9BD5"/>
                </a:solidFill>
                <a:latin typeface="Calibri" pitchFamily="34" charset="0"/>
                <a:ea typeface="Calibri" pitchFamily="34" charset="-122"/>
                <a:cs typeface="Calibri" pitchFamily="34" charset="-120"/>
              </a:rPr>
              <a:t>NEXT STEPS</a:t>
            </a:r>
            <a:endParaRPr lang="en-US" sz="1200" dirty="0"/>
          </a:p>
        </p:txBody>
      </p:sp>
      <p:sp>
        <p:nvSpPr>
          <p:cNvPr id="3" name="Text 1"/>
          <p:cNvSpPr/>
          <p:nvPr/>
        </p:nvSpPr>
        <p:spPr>
          <a:xfrm>
            <a:off x="658368" y="822960"/>
            <a:ext cx="10789920" cy="548640"/>
          </a:xfrm>
          <a:prstGeom prst="rect">
            <a:avLst/>
          </a:prstGeom>
          <a:noFill/>
          <a:ln/>
        </p:spPr>
        <p:txBody>
          <a:bodyPr wrap="square" lIns="0" tIns="0" rIns="0" bIns="0" rtlCol="0" anchor="ctr"/>
          <a:lstStyle/>
          <a:p>
            <a:pPr marL="0" indent="0">
              <a:buNone/>
            </a:pPr>
            <a:r>
              <a:rPr lang="en-US" sz="3000" b="1" dirty="0">
                <a:solidFill>
                  <a:srgbClr val="FFFFFF"/>
                </a:solidFill>
                <a:latin typeface="Bookman Old Style" pitchFamily="34" charset="0"/>
                <a:ea typeface="Bookman Old Style" pitchFamily="34" charset="-122"/>
                <a:cs typeface="Bookman Old Style" pitchFamily="34" charset="-120"/>
              </a:rPr>
              <a:t>What we’d do after today</a:t>
            </a:r>
            <a:endParaRPr lang="en-US" sz="3000" dirty="0"/>
          </a:p>
        </p:txBody>
      </p:sp>
      <p:sp>
        <p:nvSpPr>
          <p:cNvPr id="4" name="Shape 2"/>
          <p:cNvSpPr/>
          <p:nvPr/>
        </p:nvSpPr>
        <p:spPr>
          <a:xfrm>
            <a:off x="685800" y="1691640"/>
            <a:ext cx="5349240" cy="3977640"/>
          </a:xfrm>
          <a:prstGeom prst="roundRect">
            <a:avLst>
              <a:gd name="adj" fmla="val 2069"/>
            </a:avLst>
          </a:prstGeom>
          <a:solidFill>
            <a:srgbClr val="183A61"/>
          </a:solidFill>
          <a:ln w="12700">
            <a:solidFill>
              <a:srgbClr val="1E578D"/>
            </a:solidFill>
            <a:prstDash val="solid"/>
          </a:ln>
          <a:effectLst>
            <a:outerShdw blurRad="88900" dist="25400" dir="5400000" algn="bl" rotWithShape="0">
              <a:srgbClr val="10294A">
                <a:alpha val="12000"/>
              </a:srgbClr>
            </a:outerShdw>
          </a:effectLst>
        </p:spPr>
        <p:txBody>
          <a:bodyPr/>
          <a:lstStyle/>
          <a:p>
            <a:endParaRPr lang="en-US"/>
          </a:p>
        </p:txBody>
      </p:sp>
      <p:sp>
        <p:nvSpPr>
          <p:cNvPr id="5" name="Text 3"/>
          <p:cNvSpPr/>
          <p:nvPr/>
        </p:nvSpPr>
        <p:spPr>
          <a:xfrm>
            <a:off x="960120" y="1920240"/>
            <a:ext cx="4754880" cy="365760"/>
          </a:xfrm>
          <a:prstGeom prst="rect">
            <a:avLst/>
          </a:prstGeom>
          <a:noFill/>
          <a:ln/>
        </p:spPr>
        <p:txBody>
          <a:bodyPr wrap="square" lIns="0" tIns="0" rIns="0" bIns="0" rtlCol="0" anchor="ctr"/>
          <a:lstStyle/>
          <a:p>
            <a:pPr marL="0" indent="0">
              <a:buNone/>
            </a:pPr>
            <a:r>
              <a:rPr lang="en-US" sz="1500" b="1" dirty="0">
                <a:solidFill>
                  <a:srgbClr val="5B9BD5"/>
                </a:solidFill>
                <a:latin typeface="Calibri" pitchFamily="34" charset="0"/>
                <a:ea typeface="Calibri" pitchFamily="34" charset="-122"/>
                <a:cs typeface="Calibri" pitchFamily="34" charset="-120"/>
              </a:rPr>
              <a:t>Now → next few weeks</a:t>
            </a:r>
            <a:endParaRPr lang="en-US" sz="1500" dirty="0"/>
          </a:p>
        </p:txBody>
      </p:sp>
      <p:sp>
        <p:nvSpPr>
          <p:cNvPr id="6" name="Shape 4"/>
          <p:cNvSpPr/>
          <p:nvPr/>
        </p:nvSpPr>
        <p:spPr>
          <a:xfrm>
            <a:off x="960120" y="2450592"/>
            <a:ext cx="310896" cy="310896"/>
          </a:xfrm>
          <a:prstGeom prst="ellipse">
            <a:avLst/>
          </a:prstGeom>
          <a:solidFill>
            <a:srgbClr val="1E578D"/>
          </a:solidFill>
          <a:ln/>
        </p:spPr>
        <p:txBody>
          <a:bodyPr/>
          <a:lstStyle/>
          <a:p>
            <a:endParaRPr lang="en-US"/>
          </a:p>
        </p:txBody>
      </p:sp>
      <p:sp>
        <p:nvSpPr>
          <p:cNvPr id="7" name="Text 5"/>
          <p:cNvSpPr/>
          <p:nvPr/>
        </p:nvSpPr>
        <p:spPr>
          <a:xfrm>
            <a:off x="960120" y="245059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417320" y="2377440"/>
            <a:ext cx="4480560" cy="3200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Run the demo &amp; gather feedback</a:t>
            </a:r>
            <a:endParaRPr lang="en-US" sz="1350" dirty="0"/>
          </a:p>
        </p:txBody>
      </p:sp>
      <p:sp>
        <p:nvSpPr>
          <p:cNvPr id="9" name="Text 7"/>
          <p:cNvSpPr/>
          <p:nvPr/>
        </p:nvSpPr>
        <p:spPr>
          <a:xfrm>
            <a:off x="1417320" y="2697480"/>
            <a:ext cx="4480560" cy="457200"/>
          </a:xfrm>
          <a:prstGeom prst="rect">
            <a:avLst/>
          </a:prstGeom>
          <a:noFill/>
          <a:ln/>
        </p:spPr>
        <p:txBody>
          <a:bodyPr wrap="square" lIns="0" tIns="0" rIns="0" bIns="0" rtlCol="0" anchor="ctr"/>
          <a:lstStyle/>
          <a:p>
            <a:pPr marL="0" indent="0">
              <a:lnSpc>
                <a:spcPts val="1400"/>
              </a:lnSpc>
              <a:buNone/>
            </a:pPr>
            <a:r>
              <a:rPr lang="en-US" sz="1100" dirty="0">
                <a:solidFill>
                  <a:srgbClr val="D6E4F2"/>
                </a:solidFill>
                <a:latin typeface="Calibri" pitchFamily="34" charset="0"/>
                <a:ea typeface="Calibri" pitchFamily="34" charset="-122"/>
                <a:cs typeface="Calibri" pitchFamily="34" charset="-120"/>
              </a:rPr>
              <a:t>Walk the S.Mart team through it; capture what resonates for AEON and GTM</a:t>
            </a:r>
            <a:endParaRPr lang="en-US" sz="1100" dirty="0"/>
          </a:p>
        </p:txBody>
      </p:sp>
      <p:sp>
        <p:nvSpPr>
          <p:cNvPr id="10" name="Shape 8"/>
          <p:cNvSpPr/>
          <p:nvPr/>
        </p:nvSpPr>
        <p:spPr>
          <a:xfrm>
            <a:off x="960120" y="3502152"/>
            <a:ext cx="310896" cy="310896"/>
          </a:xfrm>
          <a:prstGeom prst="ellipse">
            <a:avLst/>
          </a:prstGeom>
          <a:solidFill>
            <a:srgbClr val="1E578D"/>
          </a:solidFill>
          <a:ln/>
        </p:spPr>
        <p:txBody>
          <a:bodyPr/>
          <a:lstStyle/>
          <a:p>
            <a:endParaRPr lang="en-US"/>
          </a:p>
        </p:txBody>
      </p:sp>
      <p:sp>
        <p:nvSpPr>
          <p:cNvPr id="11" name="Text 9"/>
          <p:cNvSpPr/>
          <p:nvPr/>
        </p:nvSpPr>
        <p:spPr>
          <a:xfrm>
            <a:off x="960120" y="350215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417320" y="3429000"/>
            <a:ext cx="4480560" cy="3200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Decide the Fiori path</a:t>
            </a:r>
            <a:endParaRPr lang="en-US" sz="1350" dirty="0"/>
          </a:p>
        </p:txBody>
      </p:sp>
      <p:sp>
        <p:nvSpPr>
          <p:cNvPr id="13" name="Text 11"/>
          <p:cNvSpPr/>
          <p:nvPr/>
        </p:nvSpPr>
        <p:spPr>
          <a:xfrm>
            <a:off x="1417320" y="3749040"/>
            <a:ext cx="4480560" cy="457200"/>
          </a:xfrm>
          <a:prstGeom prst="rect">
            <a:avLst/>
          </a:prstGeom>
          <a:noFill/>
          <a:ln/>
        </p:spPr>
        <p:txBody>
          <a:bodyPr wrap="square" lIns="0" tIns="0" rIns="0" bIns="0" rtlCol="0" anchor="ctr"/>
          <a:lstStyle/>
          <a:p>
            <a:pPr marL="0" indent="0">
              <a:lnSpc>
                <a:spcPts val="1400"/>
              </a:lnSpc>
              <a:buNone/>
            </a:pPr>
            <a:r>
              <a:rPr lang="en-US" sz="1100" dirty="0">
                <a:solidFill>
                  <a:srgbClr val="D6E4F2"/>
                </a:solidFill>
                <a:latin typeface="Calibri" pitchFamily="34" charset="0"/>
                <a:ea typeface="Calibri" pitchFamily="34" charset="-122"/>
                <a:cs typeface="Calibri" pitchFamily="34" charset="-120"/>
              </a:rPr>
              <a:t>Lock Option A / B / C so the offline build can start</a:t>
            </a:r>
            <a:endParaRPr lang="en-US" sz="1100" dirty="0"/>
          </a:p>
        </p:txBody>
      </p:sp>
      <p:sp>
        <p:nvSpPr>
          <p:cNvPr id="14" name="Shape 12"/>
          <p:cNvSpPr/>
          <p:nvPr/>
        </p:nvSpPr>
        <p:spPr>
          <a:xfrm>
            <a:off x="960120" y="4553712"/>
            <a:ext cx="310896" cy="310896"/>
          </a:xfrm>
          <a:prstGeom prst="ellipse">
            <a:avLst/>
          </a:prstGeom>
          <a:solidFill>
            <a:srgbClr val="1E578D"/>
          </a:solidFill>
          <a:ln/>
        </p:spPr>
        <p:txBody>
          <a:bodyPr/>
          <a:lstStyle/>
          <a:p>
            <a:endParaRPr lang="en-US"/>
          </a:p>
        </p:txBody>
      </p:sp>
      <p:sp>
        <p:nvSpPr>
          <p:cNvPr id="15" name="Text 13"/>
          <p:cNvSpPr/>
          <p:nvPr/>
        </p:nvSpPr>
        <p:spPr>
          <a:xfrm>
            <a:off x="960120" y="455371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417320" y="4480560"/>
            <a:ext cx="4480560" cy="3200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Improve SKU-hour accuracy</a:t>
            </a:r>
            <a:endParaRPr lang="en-US" sz="1350" dirty="0"/>
          </a:p>
        </p:txBody>
      </p:sp>
      <p:sp>
        <p:nvSpPr>
          <p:cNvPr id="17" name="Text 15"/>
          <p:cNvSpPr/>
          <p:nvPr/>
        </p:nvSpPr>
        <p:spPr>
          <a:xfrm>
            <a:off x="1417320" y="4800600"/>
            <a:ext cx="4480560" cy="457200"/>
          </a:xfrm>
          <a:prstGeom prst="rect">
            <a:avLst/>
          </a:prstGeom>
          <a:noFill/>
          <a:ln/>
        </p:spPr>
        <p:txBody>
          <a:bodyPr wrap="square" lIns="0" tIns="0" rIns="0" bIns="0" rtlCol="0" anchor="ctr"/>
          <a:lstStyle/>
          <a:p>
            <a:pPr marL="0" indent="0">
              <a:lnSpc>
                <a:spcPts val="1400"/>
              </a:lnSpc>
              <a:buNone/>
            </a:pPr>
            <a:r>
              <a:rPr lang="en-US" sz="1100" dirty="0">
                <a:solidFill>
                  <a:srgbClr val="D6E4F2"/>
                </a:solidFill>
                <a:latin typeface="Calibri" pitchFamily="34" charset="0"/>
                <a:ea typeface="Calibri" pitchFamily="34" charset="-122"/>
                <a:cs typeface="Calibri" pitchFamily="34" charset="-120"/>
              </a:rPr>
              <a:t>Croston’s method for intermittent demand; the backtest harness already exists</a:t>
            </a:r>
            <a:endParaRPr lang="en-US" sz="1100" dirty="0"/>
          </a:p>
        </p:txBody>
      </p:sp>
      <p:sp>
        <p:nvSpPr>
          <p:cNvPr id="18" name="Shape 16"/>
          <p:cNvSpPr/>
          <p:nvPr/>
        </p:nvSpPr>
        <p:spPr>
          <a:xfrm>
            <a:off x="6172200" y="1691640"/>
            <a:ext cx="5349240" cy="3977640"/>
          </a:xfrm>
          <a:prstGeom prst="roundRect">
            <a:avLst>
              <a:gd name="adj" fmla="val 2069"/>
            </a:avLst>
          </a:prstGeom>
          <a:solidFill>
            <a:srgbClr val="1E578D"/>
          </a:solidFill>
          <a:ln/>
          <a:effectLst>
            <a:outerShdw blurRad="88900" dist="25400" dir="5400000" algn="bl" rotWithShape="0">
              <a:srgbClr val="10294A">
                <a:alpha val="12000"/>
              </a:srgbClr>
            </a:outerShdw>
          </a:effectLst>
        </p:spPr>
        <p:txBody>
          <a:bodyPr/>
          <a:lstStyle/>
          <a:p>
            <a:endParaRPr lang="en-US"/>
          </a:p>
        </p:txBody>
      </p:sp>
      <p:sp>
        <p:nvSpPr>
          <p:cNvPr id="19" name="Text 17"/>
          <p:cNvSpPr/>
          <p:nvPr/>
        </p:nvSpPr>
        <p:spPr>
          <a:xfrm>
            <a:off x="6446520" y="1920240"/>
            <a:ext cx="475488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The consolidated proposal</a:t>
            </a:r>
            <a:endParaRPr lang="en-US" sz="1500" dirty="0"/>
          </a:p>
        </p:txBody>
      </p:sp>
      <p:sp>
        <p:nvSpPr>
          <p:cNvPr id="20" name="Shape 18"/>
          <p:cNvSpPr/>
          <p:nvPr/>
        </p:nvSpPr>
        <p:spPr>
          <a:xfrm>
            <a:off x="6446520" y="2450592"/>
            <a:ext cx="310896" cy="310896"/>
          </a:xfrm>
          <a:prstGeom prst="ellipse">
            <a:avLst/>
          </a:prstGeom>
          <a:solidFill>
            <a:srgbClr val="FFFFFF"/>
          </a:solidFill>
          <a:ln/>
        </p:spPr>
        <p:txBody>
          <a:bodyPr/>
          <a:lstStyle/>
          <a:p>
            <a:endParaRPr lang="en-US"/>
          </a:p>
        </p:txBody>
      </p:sp>
      <p:sp>
        <p:nvSpPr>
          <p:cNvPr id="21" name="Text 19"/>
          <p:cNvSpPr/>
          <p:nvPr/>
        </p:nvSpPr>
        <p:spPr>
          <a:xfrm>
            <a:off x="6446520" y="2450592"/>
            <a:ext cx="310896" cy="310896"/>
          </a:xfrm>
          <a:prstGeom prst="rect">
            <a:avLst/>
          </a:prstGeom>
          <a:noFill/>
          <a:ln/>
        </p:spPr>
        <p:txBody>
          <a:bodyPr wrap="square" lIns="0" tIns="0" rIns="0" bIns="0" rtlCol="0" anchor="ctr"/>
          <a:lstStyle/>
          <a:p>
            <a:pPr marL="0" indent="0" algn="ctr">
              <a:buNone/>
            </a:pPr>
            <a:r>
              <a:rPr lang="en-US" sz="1200" b="1" dirty="0">
                <a:solidFill>
                  <a:srgbClr val="1E578D"/>
                </a:solidFill>
                <a:latin typeface="Calibri" pitchFamily="34" charset="0"/>
                <a:ea typeface="Calibri" pitchFamily="34" charset="-122"/>
                <a:cs typeface="Calibri" pitchFamily="34" charset="-120"/>
              </a:rPr>
              <a:t>1</a:t>
            </a:r>
            <a:endParaRPr lang="en-US" sz="1200" dirty="0"/>
          </a:p>
        </p:txBody>
      </p:sp>
      <p:sp>
        <p:nvSpPr>
          <p:cNvPr id="22" name="Text 20"/>
          <p:cNvSpPr/>
          <p:nvPr/>
        </p:nvSpPr>
        <p:spPr>
          <a:xfrm>
            <a:off x="6903720" y="2377440"/>
            <a:ext cx="4480560" cy="3200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Build a BDC data-product slice</a:t>
            </a:r>
            <a:endParaRPr lang="en-US" sz="1350" dirty="0"/>
          </a:p>
        </p:txBody>
      </p:sp>
      <p:sp>
        <p:nvSpPr>
          <p:cNvPr id="23" name="Text 21"/>
          <p:cNvSpPr/>
          <p:nvPr/>
        </p:nvSpPr>
        <p:spPr>
          <a:xfrm>
            <a:off x="6903720" y="2697480"/>
            <a:ext cx="4480560" cy="457200"/>
          </a:xfrm>
          <a:prstGeom prst="rect">
            <a:avLst/>
          </a:prstGeom>
          <a:noFill/>
          <a:ln/>
        </p:spPr>
        <p:txBody>
          <a:bodyPr wrap="square" lIns="0" tIns="0" rIns="0" bIns="0" rtlCol="0" anchor="ctr"/>
          <a:lstStyle/>
          <a:p>
            <a:pPr marL="0" indent="0">
              <a:lnSpc>
                <a:spcPts val="1400"/>
              </a:lnSpc>
              <a:buNone/>
            </a:pPr>
            <a:r>
              <a:rPr lang="en-US" sz="1100" dirty="0">
                <a:solidFill>
                  <a:srgbClr val="D6E4F2"/>
                </a:solidFill>
                <a:latin typeface="Calibri" pitchFamily="34" charset="0"/>
                <a:ea typeface="Calibri" pitchFamily="34" charset="-122"/>
                <a:cs typeface="Calibri" pitchFamily="34" charset="-120"/>
              </a:rPr>
              <a:t>Stand up one SAP Retail Data Product and repoint a scenario at it</a:t>
            </a:r>
            <a:endParaRPr lang="en-US" sz="1100" dirty="0"/>
          </a:p>
        </p:txBody>
      </p:sp>
      <p:sp>
        <p:nvSpPr>
          <p:cNvPr id="24" name="Shape 22"/>
          <p:cNvSpPr/>
          <p:nvPr/>
        </p:nvSpPr>
        <p:spPr>
          <a:xfrm>
            <a:off x="6446520" y="3502152"/>
            <a:ext cx="310896" cy="310896"/>
          </a:xfrm>
          <a:prstGeom prst="ellipse">
            <a:avLst/>
          </a:prstGeom>
          <a:solidFill>
            <a:srgbClr val="FFFFFF"/>
          </a:solidFill>
          <a:ln/>
        </p:spPr>
        <p:txBody>
          <a:bodyPr/>
          <a:lstStyle/>
          <a:p>
            <a:endParaRPr lang="en-US"/>
          </a:p>
        </p:txBody>
      </p:sp>
      <p:sp>
        <p:nvSpPr>
          <p:cNvPr id="25" name="Text 23"/>
          <p:cNvSpPr/>
          <p:nvPr/>
        </p:nvSpPr>
        <p:spPr>
          <a:xfrm>
            <a:off x="6446520" y="3502152"/>
            <a:ext cx="310896" cy="310896"/>
          </a:xfrm>
          <a:prstGeom prst="rect">
            <a:avLst/>
          </a:prstGeom>
          <a:noFill/>
          <a:ln/>
        </p:spPr>
        <p:txBody>
          <a:bodyPr wrap="square" lIns="0" tIns="0" rIns="0" bIns="0" rtlCol="0" anchor="ctr"/>
          <a:lstStyle/>
          <a:p>
            <a:pPr marL="0" indent="0" algn="ctr">
              <a:buNone/>
            </a:pPr>
            <a:r>
              <a:rPr lang="en-US" sz="1200" b="1" dirty="0">
                <a:solidFill>
                  <a:srgbClr val="1E578D"/>
                </a:solidFill>
                <a:latin typeface="Calibri" pitchFamily="34" charset="0"/>
                <a:ea typeface="Calibri" pitchFamily="34" charset="-122"/>
                <a:cs typeface="Calibri" pitchFamily="34" charset="-120"/>
              </a:rPr>
              <a:t>2</a:t>
            </a:r>
            <a:endParaRPr lang="en-US" sz="1200" dirty="0"/>
          </a:p>
        </p:txBody>
      </p:sp>
      <p:sp>
        <p:nvSpPr>
          <p:cNvPr id="26" name="Text 24"/>
          <p:cNvSpPr/>
          <p:nvPr/>
        </p:nvSpPr>
        <p:spPr>
          <a:xfrm>
            <a:off x="6903720" y="3429000"/>
            <a:ext cx="4480560" cy="3200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Prototype the mobile surface</a:t>
            </a:r>
            <a:endParaRPr lang="en-US" sz="1350" dirty="0"/>
          </a:p>
        </p:txBody>
      </p:sp>
      <p:sp>
        <p:nvSpPr>
          <p:cNvPr id="27" name="Text 25"/>
          <p:cNvSpPr/>
          <p:nvPr/>
        </p:nvSpPr>
        <p:spPr>
          <a:xfrm>
            <a:off x="6903720" y="3749040"/>
            <a:ext cx="4480560" cy="457200"/>
          </a:xfrm>
          <a:prstGeom prst="rect">
            <a:avLst/>
          </a:prstGeom>
          <a:noFill/>
          <a:ln/>
        </p:spPr>
        <p:txBody>
          <a:bodyPr wrap="square" lIns="0" tIns="0" rIns="0" bIns="0" rtlCol="0" anchor="ctr"/>
          <a:lstStyle/>
          <a:p>
            <a:pPr marL="0" indent="0">
              <a:lnSpc>
                <a:spcPts val="1400"/>
              </a:lnSpc>
              <a:buNone/>
            </a:pPr>
            <a:r>
              <a:rPr lang="en-US" sz="1100" dirty="0">
                <a:solidFill>
                  <a:srgbClr val="D6E4F2"/>
                </a:solidFill>
                <a:latin typeface="Calibri" pitchFamily="34" charset="0"/>
                <a:ea typeface="Calibri" pitchFamily="34" charset="-122"/>
                <a:cs typeface="Calibri" pitchFamily="34" charset="-120"/>
              </a:rPr>
              <a:t>Insight feed + queue actions as a thin client on the same services</a:t>
            </a:r>
            <a:endParaRPr lang="en-US" sz="1100" dirty="0"/>
          </a:p>
        </p:txBody>
      </p:sp>
      <p:sp>
        <p:nvSpPr>
          <p:cNvPr id="28" name="Shape 26"/>
          <p:cNvSpPr/>
          <p:nvPr/>
        </p:nvSpPr>
        <p:spPr>
          <a:xfrm>
            <a:off x="6446520" y="4553712"/>
            <a:ext cx="310896" cy="310896"/>
          </a:xfrm>
          <a:prstGeom prst="ellipse">
            <a:avLst/>
          </a:prstGeom>
          <a:solidFill>
            <a:srgbClr val="FFFFFF"/>
          </a:solidFill>
          <a:ln/>
        </p:spPr>
        <p:txBody>
          <a:bodyPr/>
          <a:lstStyle/>
          <a:p>
            <a:endParaRPr lang="en-US"/>
          </a:p>
        </p:txBody>
      </p:sp>
      <p:sp>
        <p:nvSpPr>
          <p:cNvPr id="29" name="Text 27"/>
          <p:cNvSpPr/>
          <p:nvPr/>
        </p:nvSpPr>
        <p:spPr>
          <a:xfrm>
            <a:off x="6446520" y="4553712"/>
            <a:ext cx="310896" cy="310896"/>
          </a:xfrm>
          <a:prstGeom prst="rect">
            <a:avLst/>
          </a:prstGeom>
          <a:noFill/>
          <a:ln/>
        </p:spPr>
        <p:txBody>
          <a:bodyPr wrap="square" lIns="0" tIns="0" rIns="0" bIns="0" rtlCol="0" anchor="ctr"/>
          <a:lstStyle/>
          <a:p>
            <a:pPr marL="0" indent="0" algn="ctr">
              <a:buNone/>
            </a:pPr>
            <a:r>
              <a:rPr lang="en-US" sz="1200" b="1" dirty="0">
                <a:solidFill>
                  <a:srgbClr val="1E578D"/>
                </a:solidFill>
                <a:latin typeface="Calibri" pitchFamily="34" charset="0"/>
                <a:ea typeface="Calibri" pitchFamily="34" charset="-122"/>
                <a:cs typeface="Calibri" pitchFamily="34" charset="-120"/>
              </a:rPr>
              <a:t>3</a:t>
            </a:r>
            <a:endParaRPr lang="en-US" sz="1200" dirty="0"/>
          </a:p>
        </p:txBody>
      </p:sp>
      <p:sp>
        <p:nvSpPr>
          <p:cNvPr id="30" name="Text 28"/>
          <p:cNvSpPr/>
          <p:nvPr/>
        </p:nvSpPr>
        <p:spPr>
          <a:xfrm>
            <a:off x="6903720" y="4480560"/>
            <a:ext cx="4480560" cy="3200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Wire store-level security</a:t>
            </a:r>
            <a:endParaRPr lang="en-US" sz="1350" dirty="0"/>
          </a:p>
        </p:txBody>
      </p:sp>
      <p:sp>
        <p:nvSpPr>
          <p:cNvPr id="31" name="Text 29"/>
          <p:cNvSpPr/>
          <p:nvPr/>
        </p:nvSpPr>
        <p:spPr>
          <a:xfrm>
            <a:off x="6903720" y="4800600"/>
            <a:ext cx="4480560" cy="457200"/>
          </a:xfrm>
          <a:prstGeom prst="rect">
            <a:avLst/>
          </a:prstGeom>
          <a:noFill/>
          <a:ln/>
        </p:spPr>
        <p:txBody>
          <a:bodyPr wrap="square" lIns="0" tIns="0" rIns="0" bIns="0" rtlCol="0" anchor="ctr"/>
          <a:lstStyle/>
          <a:p>
            <a:pPr marL="0" indent="0">
              <a:lnSpc>
                <a:spcPts val="1400"/>
              </a:lnSpc>
              <a:buNone/>
            </a:pPr>
            <a:r>
              <a:rPr lang="en-US" sz="1100" dirty="0">
                <a:solidFill>
                  <a:srgbClr val="D6E4F2"/>
                </a:solidFill>
                <a:latin typeface="Calibri" pitchFamily="34" charset="0"/>
                <a:ea typeface="Calibri" pitchFamily="34" charset="-122"/>
                <a:cs typeface="Calibri" pitchFamily="34" charset="-120"/>
              </a:rPr>
              <a:t>Bind the XSUAA store attribute to real IdP attributes</a:t>
            </a:r>
            <a:endParaRPr lang="en-US" sz="1100" dirty="0"/>
          </a:p>
        </p:txBody>
      </p:sp>
      <p:sp>
        <p:nvSpPr>
          <p:cNvPr id="32" name="Text 30"/>
          <p:cNvSpPr/>
          <p:nvPr/>
        </p:nvSpPr>
        <p:spPr>
          <a:xfrm>
            <a:off x="11414455" y="6400800"/>
            <a:ext cx="457200" cy="274320"/>
          </a:xfrm>
          <a:prstGeom prst="rect">
            <a:avLst/>
          </a:prstGeom>
          <a:noFill/>
          <a:ln/>
        </p:spPr>
        <p:txBody>
          <a:bodyPr wrap="square" rtlCol="0" anchor="ctr"/>
          <a:lstStyle/>
          <a:p>
            <a:pPr marL="0" indent="0" algn="r">
              <a:buNone/>
            </a:pPr>
            <a:r>
              <a:rPr lang="en-US" sz="900" dirty="0">
                <a:solidFill>
                  <a:srgbClr val="A6B6CC"/>
                </a:solidFill>
                <a:latin typeface="Calibri" pitchFamily="34" charset="0"/>
                <a:ea typeface="Calibri" pitchFamily="34" charset="-122"/>
                <a:cs typeface="Calibri" pitchFamily="34" charset="-120"/>
              </a:rPr>
              <a:t>23</a:t>
            </a:r>
            <a:endParaRPr lang="en-US" sz="900" dirty="0"/>
          </a:p>
        </p:txBody>
      </p:sp>
      <p:pic>
        <p:nvPicPr>
          <p:cNvPr id="33" name="Image 0" descr="/home/claude/mark_white.png"/>
          <p:cNvPicPr>
            <a:picLocks noChangeAspect="1"/>
          </p:cNvPicPr>
          <p:nvPr/>
        </p:nvPicPr>
        <p:blipFill>
          <a:blip r:embed="rId3"/>
          <a:stretch>
            <a:fillRect/>
          </a:stretch>
        </p:blipFill>
        <p:spPr>
          <a:xfrm>
            <a:off x="457200" y="6355080"/>
            <a:ext cx="457200" cy="302412"/>
          </a:xfrm>
          <a:prstGeom prst="rect">
            <a:avLst/>
          </a:prstGeom>
        </p:spPr>
      </p:pic>
      <p:sp>
        <p:nvSpPr>
          <p:cNvPr id="34" name="Text 31"/>
          <p:cNvSpPr/>
          <p:nvPr/>
        </p:nvSpPr>
        <p:spPr>
          <a:xfrm>
            <a:off x="960120" y="6400800"/>
            <a:ext cx="1828800" cy="274320"/>
          </a:xfrm>
          <a:prstGeom prst="rect">
            <a:avLst/>
          </a:prstGeom>
          <a:noFill/>
          <a:ln/>
        </p:spPr>
        <p:txBody>
          <a:bodyPr wrap="square" lIns="0" tIns="0" rIns="0" bIns="0" rtlCol="0" anchor="ctr"/>
          <a:lstStyle/>
          <a:p>
            <a:pPr marL="0" indent="0">
              <a:buNone/>
            </a:pPr>
            <a:r>
              <a:rPr lang="en-US" sz="850" b="1" kern="0" spc="200" dirty="0">
                <a:solidFill>
                  <a:srgbClr val="A6B6CC"/>
                </a:solidFill>
                <a:latin typeface="Calibri" pitchFamily="34" charset="0"/>
                <a:ea typeface="Calibri" pitchFamily="34" charset="-122"/>
                <a:cs typeface="Calibri" pitchFamily="34" charset="-120"/>
              </a:rPr>
              <a:t>MSITEK</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pic>
        <p:nvPicPr>
          <p:cNvPr id="2" name="Image 0" descr="/home/claude/logo_wide_trim.png"/>
          <p:cNvPicPr>
            <a:picLocks noChangeAspect="1"/>
          </p:cNvPicPr>
          <p:nvPr/>
        </p:nvPicPr>
        <p:blipFill>
          <a:blip r:embed="rId3"/>
          <a:stretch>
            <a:fillRect/>
          </a:stretch>
        </p:blipFill>
        <p:spPr>
          <a:xfrm>
            <a:off x="640080" y="548640"/>
            <a:ext cx="2651760" cy="517176"/>
          </a:xfrm>
          <a:prstGeom prst="rect">
            <a:avLst/>
          </a:prstGeom>
        </p:spPr>
      </p:pic>
      <p:sp>
        <p:nvSpPr>
          <p:cNvPr id="3" name="Text 0"/>
          <p:cNvSpPr/>
          <p:nvPr/>
        </p:nvSpPr>
        <p:spPr>
          <a:xfrm>
            <a:off x="658368" y="1691640"/>
            <a:ext cx="10515600" cy="548640"/>
          </a:xfrm>
          <a:prstGeom prst="rect">
            <a:avLst/>
          </a:prstGeom>
          <a:noFill/>
          <a:ln/>
        </p:spPr>
        <p:txBody>
          <a:bodyPr wrap="square" lIns="0" tIns="0" rIns="0" bIns="0" rtlCol="0" anchor="ctr"/>
          <a:lstStyle/>
          <a:p>
            <a:pPr marL="0" indent="0">
              <a:buNone/>
            </a:pPr>
            <a:r>
              <a:rPr lang="en-US" sz="2600" b="1" dirty="0">
                <a:solidFill>
                  <a:srgbClr val="1E578D"/>
                </a:solidFill>
                <a:latin typeface="Bookman Old Style" pitchFamily="34" charset="0"/>
                <a:ea typeface="Bookman Old Style" pitchFamily="34" charset="-122"/>
                <a:cs typeface="Bookman Old Style" pitchFamily="34" charset="-120"/>
              </a:rPr>
              <a:t>Real SAP data. Honest models. Deployed on HANA.</a:t>
            </a:r>
            <a:endParaRPr lang="en-US" sz="2600" dirty="0"/>
          </a:p>
        </p:txBody>
      </p:sp>
      <p:sp>
        <p:nvSpPr>
          <p:cNvPr id="4" name="Text 1"/>
          <p:cNvSpPr/>
          <p:nvPr/>
        </p:nvSpPr>
        <p:spPr>
          <a:xfrm>
            <a:off x="685800" y="2331720"/>
            <a:ext cx="10058400" cy="457200"/>
          </a:xfrm>
          <a:prstGeom prst="rect">
            <a:avLst/>
          </a:prstGeom>
          <a:noFill/>
          <a:ln/>
        </p:spPr>
        <p:txBody>
          <a:bodyPr wrap="square" lIns="0" tIns="0" rIns="0" bIns="0" rtlCol="0" anchor="ctr"/>
          <a:lstStyle/>
          <a:p>
            <a:pPr marL="0" indent="0">
              <a:buNone/>
            </a:pPr>
            <a:r>
              <a:rPr lang="en-US" sz="1500" dirty="0">
                <a:solidFill>
                  <a:srgbClr val="54657E"/>
                </a:solidFill>
                <a:latin typeface="Calibri" pitchFamily="34" charset="0"/>
                <a:ea typeface="Calibri" pitchFamily="34" charset="-122"/>
                <a:cs typeface="Calibri" pitchFamily="34" charset="-120"/>
              </a:rPr>
              <a:t>A working retail AI application today — and a BTP + BDC + mobile path into SAP’s Autonomous ERP story.</a:t>
            </a:r>
            <a:endParaRPr lang="en-US" sz="1500" dirty="0"/>
          </a:p>
        </p:txBody>
      </p:sp>
      <p:sp>
        <p:nvSpPr>
          <p:cNvPr id="5" name="Text 2"/>
          <p:cNvSpPr/>
          <p:nvPr/>
        </p:nvSpPr>
        <p:spPr>
          <a:xfrm>
            <a:off x="685800" y="3063240"/>
            <a:ext cx="5486400" cy="548640"/>
          </a:xfrm>
          <a:prstGeom prst="rect">
            <a:avLst/>
          </a:prstGeom>
          <a:noFill/>
          <a:ln/>
        </p:spPr>
        <p:txBody>
          <a:bodyPr wrap="square" lIns="0" tIns="0" rIns="0" bIns="0" rtlCol="0" anchor="ctr"/>
          <a:lstStyle/>
          <a:p>
            <a:pPr marL="0" indent="0">
              <a:buNone/>
            </a:pPr>
            <a:r>
              <a:rPr lang="en-US" sz="3400" b="1" dirty="0">
                <a:solidFill>
                  <a:srgbClr val="10294A"/>
                </a:solidFill>
                <a:latin typeface="Bookman Old Style" pitchFamily="34" charset="0"/>
                <a:ea typeface="Bookman Old Style" pitchFamily="34" charset="-122"/>
                <a:cs typeface="Bookman Old Style" pitchFamily="34" charset="-120"/>
              </a:rPr>
              <a:t>Thank you</a:t>
            </a:r>
            <a:endParaRPr lang="en-US" sz="3400" dirty="0"/>
          </a:p>
        </p:txBody>
      </p:sp>
      <p:sp>
        <p:nvSpPr>
          <p:cNvPr id="6" name="Shape 3"/>
          <p:cNvSpPr/>
          <p:nvPr/>
        </p:nvSpPr>
        <p:spPr>
          <a:xfrm>
            <a:off x="713232" y="3703320"/>
            <a:ext cx="1280160" cy="45720"/>
          </a:xfrm>
          <a:prstGeom prst="rect">
            <a:avLst/>
          </a:prstGeom>
          <a:solidFill>
            <a:srgbClr val="DE0024"/>
          </a:solidFill>
          <a:ln/>
        </p:spPr>
        <p:txBody>
          <a:bodyPr/>
          <a:lstStyle/>
          <a:p>
            <a:endParaRPr lang="en-US"/>
          </a:p>
        </p:txBody>
      </p:sp>
      <p:sp>
        <p:nvSpPr>
          <p:cNvPr id="7" name="Text 4"/>
          <p:cNvSpPr/>
          <p:nvPr/>
        </p:nvSpPr>
        <p:spPr>
          <a:xfrm>
            <a:off x="713232" y="3886200"/>
            <a:ext cx="8229600" cy="365760"/>
          </a:xfrm>
          <a:prstGeom prst="rect">
            <a:avLst/>
          </a:prstGeom>
          <a:noFill/>
          <a:ln/>
        </p:spPr>
        <p:txBody>
          <a:bodyPr wrap="square" lIns="0" tIns="0" rIns="0" bIns="0" rtlCol="0" anchor="ctr"/>
          <a:lstStyle/>
          <a:p>
            <a:pPr marL="0" indent="0">
              <a:buNone/>
            </a:pPr>
            <a:r>
              <a:rPr lang="en-US" sz="1500" b="1" dirty="0">
                <a:solidFill>
                  <a:srgbClr val="10294A"/>
                </a:solidFill>
                <a:latin typeface="Calibri" pitchFamily="34" charset="0"/>
                <a:ea typeface="Calibri" pitchFamily="34" charset="-122"/>
                <a:cs typeface="Calibri" pitchFamily="34" charset="-120"/>
              </a:rPr>
              <a:t>Contact us    </a:t>
            </a:r>
            <a:r>
              <a:rPr lang="en-US" sz="1500" dirty="0">
                <a:solidFill>
                  <a:srgbClr val="1E578D"/>
                </a:solidFill>
                <a:latin typeface="Calibri" pitchFamily="34" charset="0"/>
                <a:ea typeface="Calibri" pitchFamily="34" charset="-122"/>
                <a:cs typeface="Calibri" pitchFamily="34" charset="-120"/>
              </a:rPr>
              <a:t>info@msitekus.com</a:t>
            </a:r>
            <a:endParaRPr lang="en-US" sz="1500" dirty="0"/>
          </a:p>
        </p:txBody>
      </p:sp>
      <p:sp>
        <p:nvSpPr>
          <p:cNvPr id="8" name="Text 5"/>
          <p:cNvSpPr/>
          <p:nvPr/>
        </p:nvSpPr>
        <p:spPr>
          <a:xfrm>
            <a:off x="713232" y="4297680"/>
            <a:ext cx="10058400" cy="320040"/>
          </a:xfrm>
          <a:prstGeom prst="rect">
            <a:avLst/>
          </a:prstGeom>
          <a:noFill/>
          <a:ln/>
        </p:spPr>
        <p:txBody>
          <a:bodyPr wrap="square" lIns="0" tIns="0" rIns="0" bIns="0" rtlCol="0" anchor="ctr"/>
          <a:lstStyle/>
          <a:p>
            <a:pPr marL="0" indent="0">
              <a:buNone/>
            </a:pPr>
            <a:r>
              <a:rPr lang="en-US" sz="1200" dirty="0">
                <a:solidFill>
                  <a:srgbClr val="54657E"/>
                </a:solidFill>
                <a:latin typeface="Calibri" pitchFamily="34" charset="0"/>
                <a:ea typeface="Calibri" pitchFamily="34" charset="-122"/>
                <a:cs typeface="Calibri" pitchFamily="34" charset="-120"/>
              </a:rPr>
              <a:t>MSITEK</a:t>
            </a:r>
            <a:endParaRPr lang="en-US" sz="1200" dirty="0"/>
          </a:p>
        </p:txBody>
      </p:sp>
      <p:pic>
        <p:nvPicPr>
          <p:cNvPr id="9" name="Image 1" descr="/home/claude/thanks_crop.jpg"/>
          <p:cNvPicPr>
            <a:picLocks noChangeAspect="1"/>
          </p:cNvPicPr>
          <p:nvPr/>
        </p:nvPicPr>
        <p:blipFill>
          <a:blip r:embed="rId4"/>
          <a:stretch>
            <a:fillRect/>
          </a:stretch>
        </p:blipFill>
        <p:spPr>
          <a:xfrm>
            <a:off x="0" y="4892040"/>
            <a:ext cx="12191695" cy="1965960"/>
          </a:xfrm>
          <a:prstGeom prst="rect">
            <a:avLst/>
          </a:prstGeom>
        </p:spPr>
      </p:pic>
      <p:sp>
        <p:nvSpPr>
          <p:cNvPr id="10" name="Shape 6"/>
          <p:cNvSpPr/>
          <p:nvPr/>
        </p:nvSpPr>
        <p:spPr>
          <a:xfrm>
            <a:off x="0" y="4855464"/>
            <a:ext cx="12191695" cy="54864"/>
          </a:xfrm>
          <a:prstGeom prst="rect">
            <a:avLst/>
          </a:prstGeom>
          <a:solidFill>
            <a:srgbClr val="1E578D"/>
          </a:solidFill>
          <a:ln/>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3F7FB"/>
        </a:solidFill>
        <a:effectLst/>
      </p:bgPr>
    </p:bg>
    <p:spTree>
      <p:nvGrpSpPr>
        <p:cNvPr id="1" name=""/>
        <p:cNvGrpSpPr/>
        <p:nvPr/>
      </p:nvGrpSpPr>
      <p:grpSpPr>
        <a:xfrm>
          <a:off x="0" y="0"/>
          <a:ext cx="0" cy="0"/>
          <a:chOff x="0" y="0"/>
          <a:chExt cx="0" cy="0"/>
        </a:xfrm>
      </p:grpSpPr>
      <p:sp>
        <p:nvSpPr>
          <p:cNvPr id="101" name="Text 102"/>
          <p:cNvSpPr/>
          <p:nvPr/>
        </p:nvSpPr>
        <p:spPr>
          <a:xfrm>
            <a:off x="685800" y="502920"/>
            <a:ext cx="7315200" cy="274320"/>
          </a:xfrm>
          <a:prstGeom prst="rect">
            <a:avLst/>
          </a:prstGeom>
          <a:noFill/>
          <a:ln/>
        </p:spPr>
        <p:txBody>
          <a:bodyPr wrap="square" lIns="0" tIns="0" rIns="0" bIns="0" rtlCol="0" anchor="ctr"/>
          <a:lstStyle/>
          <a:p>
            <a:pPr marL="0" indent="0">
              <a:buNone/>
            </a:pPr>
            <a:r>
              <a:rPr lang="en-US" sz="1200" b="1" kern="0" spc="300" dirty="0">
                <a:solidFill>
                  <a:srgbClr val="1E578D"/>
                </a:solidFill>
                <a:latin typeface="Calibri" pitchFamily="34" charset="0"/>
                <a:ea typeface="Calibri" pitchFamily="34" charset="-122"/>
                <a:cs typeface="Calibri" pitchFamily="34" charset="-120"/>
              </a:rPr>
              <a:t>SCOPE</a:t>
            </a:r>
          </a:p>
        </p:txBody>
      </p:sp>
      <p:sp>
        <p:nvSpPr>
          <p:cNvPr id="103" name="Text 104"/>
          <p:cNvSpPr/>
          <p:nvPr/>
        </p:nvSpPr>
        <p:spPr>
          <a:xfrm>
            <a:off x="658368" y="795528"/>
            <a:ext cx="10789920" cy="548640"/>
          </a:xfrm>
          <a:prstGeom prst="rect">
            <a:avLst/>
          </a:prstGeom>
          <a:noFill/>
          <a:ln/>
        </p:spPr>
        <p:txBody>
          <a:bodyPr wrap="square" lIns="0" tIns="0" rIns="0" bIns="0" rtlCol="0" anchor="ctr"/>
          <a:lstStyle/>
          <a:p>
            <a:pPr marL="0" indent="0">
              <a:buNone/>
            </a:pPr>
            <a:r>
              <a:rPr lang="en-US" sz="3000" b="1" kern="0" dirty="0">
                <a:solidFill>
                  <a:srgbClr val="10294A"/>
                </a:solidFill>
                <a:latin typeface="Bookman Old Style" pitchFamily="34" charset="0"/>
                <a:ea typeface="Bookman Old Style" pitchFamily="34" charset="-122"/>
                <a:cs typeface="Bookman Old Style" pitchFamily="34" charset="-120"/>
              </a:rPr>
              <a:t>Everything that was asked for is running</a:t>
            </a:r>
          </a:p>
        </p:txBody>
      </p:sp>
      <p:sp>
        <p:nvSpPr>
          <p:cNvPr id="105" name="Text 106"/>
          <p:cNvSpPr/>
          <p:nvPr/>
        </p:nvSpPr>
        <p:spPr>
          <a:xfrm>
            <a:off x="685800" y="1417320"/>
            <a:ext cx="10820400" cy="402336"/>
          </a:xfrm>
          <a:prstGeom prst="rect">
            <a:avLst/>
          </a:prstGeom>
          <a:noFill/>
          <a:ln/>
        </p:spPr>
        <p:txBody>
          <a:bodyPr wrap="square" lIns="0" tIns="0" rIns="0" bIns="0" rtlCol="0" anchor="t"/>
          <a:lstStyle/>
          <a:p>
            <a:pPr marL="0" indent="0">
              <a:lnSpc>
                <a:spcPts val="1700"/>
              </a:lnSpc>
              <a:buNone/>
            </a:pPr>
            <a:r>
              <a:rPr lang="en-US" sz="1250" b="0" kern="0" dirty="0">
                <a:solidFill>
                  <a:srgbClr val="54657E"/>
                </a:solidFill>
                <a:latin typeface="Calibri" pitchFamily="34" charset="0"/>
                <a:ea typeface="Calibri" pitchFamily="34" charset="-122"/>
                <a:cs typeface="Calibri" pitchFamily="34" charset="-120"/>
              </a:rPr>
              <a:t>The brief was specific. This is that list, item by item, against what is live today — nothing on the right is a mock-up.</a:t>
            </a:r>
          </a:p>
        </p:txBody>
      </p:sp>
      <p:sp>
        <p:nvSpPr>
          <p:cNvPr id="107" name="Shape 108"/>
          <p:cNvSpPr/>
          <p:nvPr/>
        </p:nvSpPr>
        <p:spPr>
          <a:xfrm>
            <a:off x="685800" y="1965960"/>
            <a:ext cx="5273040" cy="3200400"/>
          </a:xfrm>
          <a:prstGeom prst="roundRect">
            <a:avLst>
              <a:gd name="adj" fmla="val 383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109" name="Text 110"/>
          <p:cNvSpPr/>
          <p:nvPr/>
        </p:nvSpPr>
        <p:spPr>
          <a:xfrm>
            <a:off x="978408" y="2240280"/>
            <a:ext cx="4687824" cy="228600"/>
          </a:xfrm>
          <a:prstGeom prst="rect">
            <a:avLst/>
          </a:prstGeom>
          <a:noFill/>
          <a:ln/>
        </p:spPr>
        <p:txBody>
          <a:bodyPr wrap="square" lIns="0" tIns="0" rIns="0" bIns="0" rtlCol="0" anchor="t"/>
          <a:lstStyle/>
          <a:p>
            <a:pPr marL="0" indent="0">
              <a:buNone/>
            </a:pPr>
            <a:r>
              <a:rPr lang="en-US" sz="1000" b="1" kern="0" spc="300" dirty="0">
                <a:solidFill>
                  <a:srgbClr val="1E578D"/>
                </a:solidFill>
                <a:latin typeface="Calibri" pitchFamily="34" charset="0"/>
                <a:ea typeface="Calibri" pitchFamily="34" charset="-122"/>
                <a:cs typeface="Calibri" pitchFamily="34" charset="-120"/>
              </a:rPr>
              <a:t>THE BRIEF</a:t>
            </a:r>
          </a:p>
        </p:txBody>
      </p:sp>
      <p:sp>
        <p:nvSpPr>
          <p:cNvPr id="111" name="Text 112"/>
          <p:cNvSpPr/>
          <p:nvPr/>
        </p:nvSpPr>
        <p:spPr>
          <a:xfrm>
            <a:off x="978408" y="2514600"/>
            <a:ext cx="4687824" cy="320040"/>
          </a:xfrm>
          <a:prstGeom prst="rect">
            <a:avLst/>
          </a:prstGeom>
          <a:noFill/>
          <a:ln/>
        </p:spPr>
        <p:txBody>
          <a:bodyPr wrap="square" lIns="0" tIns="0" rIns="0" bIns="0" rtlCol="0" anchor="t"/>
          <a:lstStyle/>
          <a:p>
            <a:pPr marL="0" indent="0">
              <a:buNone/>
            </a:pPr>
            <a:r>
              <a:rPr lang="en-US" sz="1550" b="1" kern="0" dirty="0">
                <a:solidFill>
                  <a:srgbClr val="10294A"/>
                </a:solidFill>
                <a:latin typeface="Calibri" pitchFamily="34" charset="0"/>
                <a:ea typeface="Calibri" pitchFamily="34" charset="-122"/>
                <a:cs typeface="Calibri" pitchFamily="34" charset="-120"/>
              </a:rPr>
              <a:t>What we were asked to do</a:t>
            </a:r>
          </a:p>
        </p:txBody>
      </p:sp>
      <p:sp>
        <p:nvSpPr>
          <p:cNvPr id="113" name="Shape 114"/>
          <p:cNvSpPr/>
          <p:nvPr/>
        </p:nvSpPr>
        <p:spPr>
          <a:xfrm>
            <a:off x="978408" y="2994660"/>
            <a:ext cx="91440" cy="91440"/>
          </a:xfrm>
          <a:prstGeom prst="ellipse">
            <a:avLst/>
          </a:prstGeom>
          <a:solidFill>
            <a:srgbClr val="1E578D"/>
          </a:solidFill>
          <a:ln/>
        </p:spPr>
        <p:txBody>
          <a:bodyPr/>
          <a:lstStyle/>
          <a:p>
            <a:endParaRPr lang="en-US"/>
          </a:p>
        </p:txBody>
      </p:sp>
      <p:sp>
        <p:nvSpPr>
          <p:cNvPr id="115" name="Text 116"/>
          <p:cNvSpPr/>
          <p:nvPr/>
        </p:nvSpPr>
        <p:spPr>
          <a:xfrm>
            <a:off x="1152144" y="2926080"/>
            <a:ext cx="4514088" cy="320040"/>
          </a:xfrm>
          <a:prstGeom prst="rect">
            <a:avLst/>
          </a:prstGeom>
          <a:noFill/>
          <a:ln/>
        </p:spPr>
        <p:txBody>
          <a:bodyPr wrap="square" lIns="0" tIns="0" rIns="0" bIns="0" rtlCol="0" anchor="ctr"/>
          <a:lstStyle/>
          <a:p>
            <a:pPr marL="0" indent="0">
              <a:lnSpc>
                <a:spcPts val="1350"/>
              </a:lnSpc>
              <a:buNone/>
            </a:pPr>
            <a:r>
              <a:rPr lang="en-US" sz="1100" b="0" kern="0" dirty="0">
                <a:solidFill>
                  <a:srgbClr val="54657E"/>
                </a:solidFill>
                <a:latin typeface="Calibri" pitchFamily="34" charset="0"/>
                <a:ea typeface="Calibri" pitchFamily="34" charset="-122"/>
                <a:cs typeface="Calibri" pitchFamily="34" charset="-120"/>
              </a:rPr>
              <a:t>Take the SAP Customer Checkout export as the starting point</a:t>
            </a:r>
          </a:p>
        </p:txBody>
      </p:sp>
      <p:sp>
        <p:nvSpPr>
          <p:cNvPr id="117" name="Shape 118"/>
          <p:cNvSpPr/>
          <p:nvPr/>
        </p:nvSpPr>
        <p:spPr>
          <a:xfrm>
            <a:off x="978408" y="3351276"/>
            <a:ext cx="91440" cy="91440"/>
          </a:xfrm>
          <a:prstGeom prst="ellipse">
            <a:avLst/>
          </a:prstGeom>
          <a:solidFill>
            <a:srgbClr val="1E578D"/>
          </a:solidFill>
          <a:ln/>
        </p:spPr>
        <p:txBody>
          <a:bodyPr/>
          <a:lstStyle/>
          <a:p>
            <a:endParaRPr lang="en-US"/>
          </a:p>
        </p:txBody>
      </p:sp>
      <p:sp>
        <p:nvSpPr>
          <p:cNvPr id="119" name="Text 120"/>
          <p:cNvSpPr/>
          <p:nvPr/>
        </p:nvSpPr>
        <p:spPr>
          <a:xfrm>
            <a:off x="1152144" y="3282696"/>
            <a:ext cx="4514088" cy="320040"/>
          </a:xfrm>
          <a:prstGeom prst="rect">
            <a:avLst/>
          </a:prstGeom>
          <a:noFill/>
          <a:ln/>
        </p:spPr>
        <p:txBody>
          <a:bodyPr wrap="square" lIns="0" tIns="0" rIns="0" bIns="0" rtlCol="0" anchor="ctr"/>
          <a:lstStyle/>
          <a:p>
            <a:pPr marL="0" indent="0">
              <a:lnSpc>
                <a:spcPts val="1350"/>
              </a:lnSpc>
              <a:buNone/>
            </a:pPr>
            <a:r>
              <a:rPr lang="en-US" sz="1100" b="0" kern="0" dirty="0">
                <a:solidFill>
                  <a:srgbClr val="54657E"/>
                </a:solidFill>
                <a:latin typeface="Calibri" pitchFamily="34" charset="0"/>
                <a:ea typeface="Calibri" pitchFamily="34" charset="-122"/>
                <a:cs typeface="Calibri" pitchFamily="34" charset="-120"/>
              </a:rPr>
              <a:t>Enrich the data rather than replace it</a:t>
            </a:r>
          </a:p>
        </p:txBody>
      </p:sp>
      <p:sp>
        <p:nvSpPr>
          <p:cNvPr id="121" name="Shape 122"/>
          <p:cNvSpPr/>
          <p:nvPr/>
        </p:nvSpPr>
        <p:spPr>
          <a:xfrm>
            <a:off x="978408" y="3707892"/>
            <a:ext cx="91440" cy="91440"/>
          </a:xfrm>
          <a:prstGeom prst="ellipse">
            <a:avLst/>
          </a:prstGeom>
          <a:solidFill>
            <a:srgbClr val="1E578D"/>
          </a:solidFill>
          <a:ln/>
        </p:spPr>
        <p:txBody>
          <a:bodyPr/>
          <a:lstStyle/>
          <a:p>
            <a:endParaRPr lang="en-US"/>
          </a:p>
        </p:txBody>
      </p:sp>
      <p:sp>
        <p:nvSpPr>
          <p:cNvPr id="123" name="Text 124"/>
          <p:cNvSpPr/>
          <p:nvPr/>
        </p:nvSpPr>
        <p:spPr>
          <a:xfrm>
            <a:off x="1152144" y="3639312"/>
            <a:ext cx="4514088" cy="320040"/>
          </a:xfrm>
          <a:prstGeom prst="rect">
            <a:avLst/>
          </a:prstGeom>
          <a:noFill/>
          <a:ln/>
        </p:spPr>
        <p:txBody>
          <a:bodyPr wrap="square" lIns="0" tIns="0" rIns="0" bIns="0" rtlCol="0" anchor="ctr"/>
          <a:lstStyle/>
          <a:p>
            <a:pPr marL="0" indent="0">
              <a:lnSpc>
                <a:spcPts val="1350"/>
              </a:lnSpc>
              <a:buNone/>
            </a:pPr>
            <a:r>
              <a:rPr lang="en-US" sz="1100" b="0" kern="0" dirty="0">
                <a:solidFill>
                  <a:srgbClr val="54657E"/>
                </a:solidFill>
                <a:latin typeface="Calibri" pitchFamily="34" charset="0"/>
                <a:ea typeface="Calibri" pitchFamily="34" charset="-122"/>
                <a:cs typeface="Calibri" pitchFamily="34" charset="-120"/>
              </a:rPr>
              <a:t>Invent our own retail scenarios worth demonstrating</a:t>
            </a:r>
          </a:p>
        </p:txBody>
      </p:sp>
      <p:sp>
        <p:nvSpPr>
          <p:cNvPr id="125" name="Shape 126"/>
          <p:cNvSpPr/>
          <p:nvPr/>
        </p:nvSpPr>
        <p:spPr>
          <a:xfrm>
            <a:off x="978408" y="4064508"/>
            <a:ext cx="91440" cy="91440"/>
          </a:xfrm>
          <a:prstGeom prst="ellipse">
            <a:avLst/>
          </a:prstGeom>
          <a:solidFill>
            <a:srgbClr val="1E578D"/>
          </a:solidFill>
          <a:ln/>
        </p:spPr>
        <p:txBody>
          <a:bodyPr/>
          <a:lstStyle/>
          <a:p>
            <a:endParaRPr lang="en-US"/>
          </a:p>
        </p:txBody>
      </p:sp>
      <p:sp>
        <p:nvSpPr>
          <p:cNvPr id="127" name="Text 128"/>
          <p:cNvSpPr/>
          <p:nvPr/>
        </p:nvSpPr>
        <p:spPr>
          <a:xfrm>
            <a:off x="1152144" y="3995928"/>
            <a:ext cx="4514088" cy="320040"/>
          </a:xfrm>
          <a:prstGeom prst="rect">
            <a:avLst/>
          </a:prstGeom>
          <a:noFill/>
          <a:ln/>
        </p:spPr>
        <p:txBody>
          <a:bodyPr wrap="square" lIns="0" tIns="0" rIns="0" bIns="0" rtlCol="0" anchor="ctr"/>
          <a:lstStyle/>
          <a:p>
            <a:pPr marL="0" indent="0">
              <a:lnSpc>
                <a:spcPts val="1350"/>
              </a:lnSpc>
              <a:buNone/>
            </a:pPr>
            <a:r>
              <a:rPr lang="en-US" sz="1100" b="0" kern="0" dirty="0">
                <a:solidFill>
                  <a:srgbClr val="54657E"/>
                </a:solidFill>
                <a:latin typeface="Calibri" pitchFamily="34" charset="0"/>
                <a:ea typeface="Calibri" pitchFamily="34" charset="-122"/>
                <a:cs typeface="Calibri" pitchFamily="34" charset="-120"/>
              </a:rPr>
              <a:t>Research what modern retail AI actually does, then build it</a:t>
            </a:r>
          </a:p>
        </p:txBody>
      </p:sp>
      <p:sp>
        <p:nvSpPr>
          <p:cNvPr id="129" name="Shape 130"/>
          <p:cNvSpPr/>
          <p:nvPr/>
        </p:nvSpPr>
        <p:spPr>
          <a:xfrm>
            <a:off x="978408" y="4421124"/>
            <a:ext cx="91440" cy="91440"/>
          </a:xfrm>
          <a:prstGeom prst="ellipse">
            <a:avLst/>
          </a:prstGeom>
          <a:solidFill>
            <a:srgbClr val="1E578D"/>
          </a:solidFill>
          <a:ln/>
        </p:spPr>
        <p:txBody>
          <a:bodyPr/>
          <a:lstStyle/>
          <a:p>
            <a:endParaRPr lang="en-US"/>
          </a:p>
        </p:txBody>
      </p:sp>
      <p:sp>
        <p:nvSpPr>
          <p:cNvPr id="131" name="Text 132"/>
          <p:cNvSpPr/>
          <p:nvPr/>
        </p:nvSpPr>
        <p:spPr>
          <a:xfrm>
            <a:off x="1152144" y="4352544"/>
            <a:ext cx="4514088" cy="320040"/>
          </a:xfrm>
          <a:prstGeom prst="rect">
            <a:avLst/>
          </a:prstGeom>
          <a:noFill/>
          <a:ln/>
        </p:spPr>
        <p:txBody>
          <a:bodyPr wrap="square" lIns="0" tIns="0" rIns="0" bIns="0" rtlCol="0" anchor="ctr"/>
          <a:lstStyle/>
          <a:p>
            <a:pPr marL="0" indent="0">
              <a:lnSpc>
                <a:spcPts val="1350"/>
              </a:lnSpc>
              <a:buNone/>
            </a:pPr>
            <a:r>
              <a:rPr lang="en-US" sz="1100" b="0" kern="0" dirty="0">
                <a:solidFill>
                  <a:srgbClr val="54657E"/>
                </a:solidFill>
                <a:latin typeface="Calibri" pitchFamily="34" charset="0"/>
                <a:ea typeface="Calibri" pitchFamily="34" charset="-122"/>
                <a:cs typeface="Calibri" pitchFamily="34" charset="-120"/>
              </a:rPr>
              <a:t>Load the result into SAP HANA Cloud</a:t>
            </a:r>
          </a:p>
        </p:txBody>
      </p:sp>
      <p:sp>
        <p:nvSpPr>
          <p:cNvPr id="133" name="Shape 134"/>
          <p:cNvSpPr/>
          <p:nvPr/>
        </p:nvSpPr>
        <p:spPr>
          <a:xfrm>
            <a:off x="978408" y="4777740"/>
            <a:ext cx="91440" cy="91440"/>
          </a:xfrm>
          <a:prstGeom prst="ellipse">
            <a:avLst/>
          </a:prstGeom>
          <a:solidFill>
            <a:srgbClr val="1E578D"/>
          </a:solidFill>
          <a:ln/>
        </p:spPr>
        <p:txBody>
          <a:bodyPr/>
          <a:lstStyle/>
          <a:p>
            <a:endParaRPr lang="en-US"/>
          </a:p>
        </p:txBody>
      </p:sp>
      <p:sp>
        <p:nvSpPr>
          <p:cNvPr id="135" name="Text 136"/>
          <p:cNvSpPr/>
          <p:nvPr/>
        </p:nvSpPr>
        <p:spPr>
          <a:xfrm>
            <a:off x="1152144" y="4709160"/>
            <a:ext cx="4514088" cy="320040"/>
          </a:xfrm>
          <a:prstGeom prst="rect">
            <a:avLst/>
          </a:prstGeom>
          <a:noFill/>
          <a:ln/>
        </p:spPr>
        <p:txBody>
          <a:bodyPr wrap="square" lIns="0" tIns="0" rIns="0" bIns="0" rtlCol="0" anchor="ctr"/>
          <a:lstStyle/>
          <a:p>
            <a:pPr marL="0" indent="0">
              <a:lnSpc>
                <a:spcPts val="1350"/>
              </a:lnSpc>
              <a:buNone/>
            </a:pPr>
            <a:r>
              <a:rPr lang="en-US" sz="1100" b="0" kern="0" dirty="0">
                <a:solidFill>
                  <a:srgbClr val="54657E"/>
                </a:solidFill>
                <a:latin typeface="Calibri" pitchFamily="34" charset="0"/>
                <a:ea typeface="Calibri" pitchFamily="34" charset="-122"/>
                <a:cs typeface="Calibri" pitchFamily="34" charset="-120"/>
              </a:rPr>
              <a:t>Put it behind SAP Fiori dashboards</a:t>
            </a:r>
          </a:p>
        </p:txBody>
      </p:sp>
      <p:sp>
        <p:nvSpPr>
          <p:cNvPr id="137" name="Shape 138"/>
          <p:cNvSpPr/>
          <p:nvPr/>
        </p:nvSpPr>
        <p:spPr>
          <a:xfrm>
            <a:off x="6233160" y="1965960"/>
            <a:ext cx="5273040" cy="3200400"/>
          </a:xfrm>
          <a:prstGeom prst="roundRect">
            <a:avLst>
              <a:gd name="adj" fmla="val 383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139" name="Text 140"/>
          <p:cNvSpPr/>
          <p:nvPr/>
        </p:nvSpPr>
        <p:spPr>
          <a:xfrm>
            <a:off x="6525768" y="2240280"/>
            <a:ext cx="4687824" cy="228600"/>
          </a:xfrm>
          <a:prstGeom prst="rect">
            <a:avLst/>
          </a:prstGeom>
          <a:noFill/>
          <a:ln/>
        </p:spPr>
        <p:txBody>
          <a:bodyPr wrap="square" lIns="0" tIns="0" rIns="0" bIns="0" rtlCol="0" anchor="t"/>
          <a:lstStyle/>
          <a:p>
            <a:pPr marL="0" indent="0">
              <a:buNone/>
            </a:pPr>
            <a:r>
              <a:rPr lang="en-US" sz="1000" b="1" kern="0" spc="300" dirty="0">
                <a:solidFill>
                  <a:srgbClr val="2E9B5B"/>
                </a:solidFill>
                <a:latin typeface="Calibri" pitchFamily="34" charset="0"/>
                <a:ea typeface="Calibri" pitchFamily="34" charset="-122"/>
                <a:cs typeface="Calibri" pitchFamily="34" charset="-120"/>
              </a:rPr>
              <a:t>DELIVERED</a:t>
            </a:r>
          </a:p>
        </p:txBody>
      </p:sp>
      <p:sp>
        <p:nvSpPr>
          <p:cNvPr id="141" name="Text 142"/>
          <p:cNvSpPr/>
          <p:nvPr/>
        </p:nvSpPr>
        <p:spPr>
          <a:xfrm>
            <a:off x="6525768" y="2514600"/>
            <a:ext cx="4687824" cy="320040"/>
          </a:xfrm>
          <a:prstGeom prst="rect">
            <a:avLst/>
          </a:prstGeom>
          <a:noFill/>
          <a:ln/>
        </p:spPr>
        <p:txBody>
          <a:bodyPr wrap="square" lIns="0" tIns="0" rIns="0" bIns="0" rtlCol="0" anchor="t"/>
          <a:lstStyle/>
          <a:p>
            <a:pPr marL="0" indent="0">
              <a:buNone/>
            </a:pPr>
            <a:r>
              <a:rPr lang="en-US" sz="1550" b="1" kern="0" dirty="0">
                <a:solidFill>
                  <a:srgbClr val="10294A"/>
                </a:solidFill>
                <a:latin typeface="Calibri" pitchFamily="34" charset="0"/>
                <a:ea typeface="Calibri" pitchFamily="34" charset="-122"/>
                <a:cs typeface="Calibri" pitchFamily="34" charset="-120"/>
              </a:rPr>
              <a:t>What is running today</a:t>
            </a:r>
          </a:p>
        </p:txBody>
      </p:sp>
      <p:sp>
        <p:nvSpPr>
          <p:cNvPr id="143" name="Shape 144"/>
          <p:cNvSpPr/>
          <p:nvPr/>
        </p:nvSpPr>
        <p:spPr>
          <a:xfrm>
            <a:off x="6525768" y="2994660"/>
            <a:ext cx="91440" cy="91440"/>
          </a:xfrm>
          <a:prstGeom prst="ellipse">
            <a:avLst/>
          </a:prstGeom>
          <a:solidFill>
            <a:srgbClr val="2E9B5B"/>
          </a:solidFill>
          <a:ln/>
        </p:spPr>
        <p:txBody>
          <a:bodyPr/>
          <a:lstStyle/>
          <a:p>
            <a:endParaRPr lang="en-US"/>
          </a:p>
        </p:txBody>
      </p:sp>
      <p:sp>
        <p:nvSpPr>
          <p:cNvPr id="145" name="Text 146"/>
          <p:cNvSpPr/>
          <p:nvPr/>
        </p:nvSpPr>
        <p:spPr>
          <a:xfrm>
            <a:off x="6699504" y="2926080"/>
            <a:ext cx="4514088" cy="320040"/>
          </a:xfrm>
          <a:prstGeom prst="rect">
            <a:avLst/>
          </a:prstGeom>
          <a:noFill/>
          <a:ln/>
        </p:spPr>
        <p:txBody>
          <a:bodyPr wrap="square" lIns="0" tIns="0" rIns="0" bIns="0" rtlCol="0" anchor="ctr"/>
          <a:lstStyle/>
          <a:p>
            <a:pPr marL="0" indent="0">
              <a:lnSpc>
                <a:spcPts val="1350"/>
              </a:lnSpc>
              <a:buNone/>
            </a:pPr>
            <a:r>
              <a:rPr lang="en-US" sz="1100" b="0" kern="0" dirty="0">
                <a:solidFill>
                  <a:srgbClr val="54657E"/>
                </a:solidFill>
                <a:latin typeface="Calibri" pitchFamily="34" charset="0"/>
                <a:ea typeface="Calibri" pitchFamily="34" charset="-122"/>
                <a:cs typeface="Calibri" pitchFamily="34" charset="-120"/>
              </a:rPr>
              <a:t>Two workbooks, 19 sheets, reconciled to SAP’s printed totals to the cent</a:t>
            </a:r>
          </a:p>
        </p:txBody>
      </p:sp>
      <p:sp>
        <p:nvSpPr>
          <p:cNvPr id="147" name="Shape 148"/>
          <p:cNvSpPr/>
          <p:nvPr/>
        </p:nvSpPr>
        <p:spPr>
          <a:xfrm>
            <a:off x="6525768" y="3351276"/>
            <a:ext cx="91440" cy="91440"/>
          </a:xfrm>
          <a:prstGeom prst="ellipse">
            <a:avLst/>
          </a:prstGeom>
          <a:solidFill>
            <a:srgbClr val="2E9B5B"/>
          </a:solidFill>
          <a:ln/>
        </p:spPr>
        <p:txBody>
          <a:bodyPr/>
          <a:lstStyle/>
          <a:p>
            <a:endParaRPr lang="en-US"/>
          </a:p>
        </p:txBody>
      </p:sp>
      <p:sp>
        <p:nvSpPr>
          <p:cNvPr id="149" name="Text 150"/>
          <p:cNvSpPr/>
          <p:nvPr/>
        </p:nvSpPr>
        <p:spPr>
          <a:xfrm>
            <a:off x="6699504" y="3282696"/>
            <a:ext cx="4514088" cy="320040"/>
          </a:xfrm>
          <a:prstGeom prst="rect">
            <a:avLst/>
          </a:prstGeom>
          <a:noFill/>
          <a:ln/>
        </p:spPr>
        <p:txBody>
          <a:bodyPr wrap="square" lIns="0" tIns="0" rIns="0" bIns="0" rtlCol="0" anchor="ctr"/>
          <a:lstStyle/>
          <a:p>
            <a:pPr marL="0" indent="0">
              <a:lnSpc>
                <a:spcPts val="1350"/>
              </a:lnSpc>
              <a:buNone/>
            </a:pPr>
            <a:r>
              <a:rPr lang="en-US" sz="1100" b="0" kern="0" dirty="0">
                <a:solidFill>
                  <a:srgbClr val="54657E"/>
                </a:solidFill>
                <a:latin typeface="Calibri" pitchFamily="34" charset="0"/>
                <a:ea typeface="Calibri" pitchFamily="34" charset="-122"/>
                <a:cs typeface="Calibri" pitchFamily="34" charset="-120"/>
              </a:rPr>
              <a:t>Walldorf keeps its real numbers; 15 model fields added, provenance on every row</a:t>
            </a:r>
          </a:p>
        </p:txBody>
      </p:sp>
      <p:sp>
        <p:nvSpPr>
          <p:cNvPr id="151" name="Shape 152"/>
          <p:cNvSpPr/>
          <p:nvPr/>
        </p:nvSpPr>
        <p:spPr>
          <a:xfrm>
            <a:off x="6525768" y="3707892"/>
            <a:ext cx="91440" cy="91440"/>
          </a:xfrm>
          <a:prstGeom prst="ellipse">
            <a:avLst/>
          </a:prstGeom>
          <a:solidFill>
            <a:srgbClr val="2E9B5B"/>
          </a:solidFill>
          <a:ln/>
        </p:spPr>
        <p:txBody>
          <a:bodyPr/>
          <a:lstStyle/>
          <a:p>
            <a:endParaRPr lang="en-US"/>
          </a:p>
        </p:txBody>
      </p:sp>
      <p:sp>
        <p:nvSpPr>
          <p:cNvPr id="153" name="Text 154"/>
          <p:cNvSpPr/>
          <p:nvPr/>
        </p:nvSpPr>
        <p:spPr>
          <a:xfrm>
            <a:off x="6699504" y="3639312"/>
            <a:ext cx="4514088" cy="320040"/>
          </a:xfrm>
          <a:prstGeom prst="rect">
            <a:avLst/>
          </a:prstGeom>
          <a:noFill/>
          <a:ln/>
        </p:spPr>
        <p:txBody>
          <a:bodyPr wrap="square" lIns="0" tIns="0" rIns="0" bIns="0" rtlCol="0" anchor="ctr"/>
          <a:lstStyle/>
          <a:p>
            <a:pPr marL="0" indent="0">
              <a:lnSpc>
                <a:spcPts val="1350"/>
              </a:lnSpc>
              <a:buNone/>
            </a:pPr>
            <a:r>
              <a:rPr lang="en-US" sz="1100" b="0" kern="0" dirty="0">
                <a:solidFill>
                  <a:srgbClr val="54657E"/>
                </a:solidFill>
                <a:latin typeface="Calibri" pitchFamily="34" charset="0"/>
                <a:ea typeface="Calibri" pitchFamily="34" charset="-122"/>
                <a:cs typeface="Calibri" pitchFamily="34" charset="-120"/>
              </a:rPr>
              <a:t>Seven scenario engines, all live, plus a ranked insight feed</a:t>
            </a:r>
          </a:p>
        </p:txBody>
      </p:sp>
      <p:sp>
        <p:nvSpPr>
          <p:cNvPr id="155" name="Shape 156"/>
          <p:cNvSpPr/>
          <p:nvPr/>
        </p:nvSpPr>
        <p:spPr>
          <a:xfrm>
            <a:off x="6525768" y="4064508"/>
            <a:ext cx="91440" cy="91440"/>
          </a:xfrm>
          <a:prstGeom prst="ellipse">
            <a:avLst/>
          </a:prstGeom>
          <a:solidFill>
            <a:srgbClr val="2E9B5B"/>
          </a:solidFill>
          <a:ln/>
        </p:spPr>
        <p:txBody>
          <a:bodyPr/>
          <a:lstStyle/>
          <a:p>
            <a:endParaRPr lang="en-US"/>
          </a:p>
        </p:txBody>
      </p:sp>
      <p:sp>
        <p:nvSpPr>
          <p:cNvPr id="157" name="Text 158"/>
          <p:cNvSpPr/>
          <p:nvPr/>
        </p:nvSpPr>
        <p:spPr>
          <a:xfrm>
            <a:off x="6699504" y="3995928"/>
            <a:ext cx="4514088" cy="320040"/>
          </a:xfrm>
          <a:prstGeom prst="rect">
            <a:avLst/>
          </a:prstGeom>
          <a:noFill/>
          <a:ln/>
        </p:spPr>
        <p:txBody>
          <a:bodyPr wrap="square" lIns="0" tIns="0" rIns="0" bIns="0" rtlCol="0" anchor="ctr"/>
          <a:lstStyle/>
          <a:p>
            <a:pPr marL="0" indent="0">
              <a:lnSpc>
                <a:spcPts val="1350"/>
              </a:lnSpc>
              <a:buNone/>
            </a:pPr>
            <a:r>
              <a:rPr lang="en-US" sz="1100" b="0" kern="0" dirty="0">
                <a:solidFill>
                  <a:srgbClr val="54657E"/>
                </a:solidFill>
                <a:latin typeface="Calibri" pitchFamily="34" charset="0"/>
                <a:ea typeface="Calibri" pitchFamily="34" charset="-122"/>
                <a:cs typeface="Calibri" pitchFamily="34" charset="-120"/>
              </a:rPr>
              <a:t>Checkout integrity, forecasting, replenishment, waste, affinity, offers, cold chain</a:t>
            </a:r>
          </a:p>
        </p:txBody>
      </p:sp>
      <p:sp>
        <p:nvSpPr>
          <p:cNvPr id="159" name="Shape 160"/>
          <p:cNvSpPr/>
          <p:nvPr/>
        </p:nvSpPr>
        <p:spPr>
          <a:xfrm>
            <a:off x="6525768" y="4421124"/>
            <a:ext cx="91440" cy="91440"/>
          </a:xfrm>
          <a:prstGeom prst="ellipse">
            <a:avLst/>
          </a:prstGeom>
          <a:solidFill>
            <a:srgbClr val="2E9B5B"/>
          </a:solidFill>
          <a:ln/>
        </p:spPr>
        <p:txBody>
          <a:bodyPr/>
          <a:lstStyle/>
          <a:p>
            <a:endParaRPr lang="en-US"/>
          </a:p>
        </p:txBody>
      </p:sp>
      <p:sp>
        <p:nvSpPr>
          <p:cNvPr id="161" name="Text 162"/>
          <p:cNvSpPr/>
          <p:nvPr/>
        </p:nvSpPr>
        <p:spPr>
          <a:xfrm>
            <a:off x="6699504" y="4352544"/>
            <a:ext cx="4514088" cy="320040"/>
          </a:xfrm>
          <a:prstGeom prst="rect">
            <a:avLst/>
          </a:prstGeom>
          <a:noFill/>
          <a:ln/>
        </p:spPr>
        <p:txBody>
          <a:bodyPr wrap="square" lIns="0" tIns="0" rIns="0" bIns="0" rtlCol="0" anchor="ctr"/>
          <a:lstStyle/>
          <a:p>
            <a:pPr marL="0" indent="0">
              <a:lnSpc>
                <a:spcPts val="1350"/>
              </a:lnSpc>
              <a:buNone/>
            </a:pPr>
            <a:r>
              <a:rPr lang="en-US" sz="1100" b="0" kern="0" dirty="0">
                <a:solidFill>
                  <a:srgbClr val="54657E"/>
                </a:solidFill>
                <a:latin typeface="Calibri" pitchFamily="34" charset="0"/>
                <a:ea typeface="Calibri" pitchFamily="34" charset="-122"/>
                <a:cs typeface="Calibri" pitchFamily="34" charset="-120"/>
              </a:rPr>
              <a:t>25 tables, 120,324 rows, 131 artifacts, zero warnings</a:t>
            </a:r>
          </a:p>
        </p:txBody>
      </p:sp>
      <p:sp>
        <p:nvSpPr>
          <p:cNvPr id="163" name="Shape 164"/>
          <p:cNvSpPr/>
          <p:nvPr/>
        </p:nvSpPr>
        <p:spPr>
          <a:xfrm>
            <a:off x="6525768" y="4777740"/>
            <a:ext cx="91440" cy="91440"/>
          </a:xfrm>
          <a:prstGeom prst="ellipse">
            <a:avLst/>
          </a:prstGeom>
          <a:solidFill>
            <a:srgbClr val="2E9B5B"/>
          </a:solidFill>
          <a:ln/>
        </p:spPr>
        <p:txBody>
          <a:bodyPr/>
          <a:lstStyle/>
          <a:p>
            <a:endParaRPr lang="en-US"/>
          </a:p>
        </p:txBody>
      </p:sp>
      <p:sp>
        <p:nvSpPr>
          <p:cNvPr id="165" name="Text 166"/>
          <p:cNvSpPr/>
          <p:nvPr/>
        </p:nvSpPr>
        <p:spPr>
          <a:xfrm>
            <a:off x="6699504" y="4709160"/>
            <a:ext cx="4514088" cy="320040"/>
          </a:xfrm>
          <a:prstGeom prst="rect">
            <a:avLst/>
          </a:prstGeom>
          <a:noFill/>
          <a:ln/>
        </p:spPr>
        <p:txBody>
          <a:bodyPr wrap="square" lIns="0" tIns="0" rIns="0" bIns="0" rtlCol="0" anchor="ctr"/>
          <a:lstStyle/>
          <a:p>
            <a:pPr marL="0" indent="0">
              <a:lnSpc>
                <a:spcPts val="1350"/>
              </a:lnSpc>
              <a:buNone/>
            </a:pPr>
            <a:r>
              <a:rPr lang="en-US" sz="1100" b="0" kern="0" dirty="0">
                <a:solidFill>
                  <a:srgbClr val="54657E"/>
                </a:solidFill>
                <a:latin typeface="Calibri" pitchFamily="34" charset="0"/>
                <a:ea typeface="Calibri" pitchFamily="34" charset="-122"/>
                <a:cs typeface="Calibri" pitchFamily="34" charset="-120"/>
              </a:rPr>
              <a:t>Eight Fiori elements apps, a Command Centre, a Workbench and an API Explorer</a:t>
            </a:r>
          </a:p>
        </p:txBody>
      </p:sp>
      <p:sp>
        <p:nvSpPr>
          <p:cNvPr id="167" name="Shape 168"/>
          <p:cNvSpPr/>
          <p:nvPr/>
        </p:nvSpPr>
        <p:spPr>
          <a:xfrm>
            <a:off x="685800" y="5395464"/>
            <a:ext cx="10820400" cy="566928"/>
          </a:xfrm>
          <a:prstGeom prst="roundRect">
            <a:avLst>
              <a:gd name="adj" fmla="val 3830"/>
            </a:avLst>
          </a:prstGeom>
          <a:solidFill>
            <a:srgbClr val="E9F1FB"/>
          </a:solidFill>
          <a:ln w="12700">
            <a:solidFill>
              <a:srgbClr val="D8E3F0"/>
            </a:solidFill>
            <a:prstDash val="solid"/>
          </a:ln>
        </p:spPr>
        <p:txBody>
          <a:bodyPr/>
          <a:lstStyle/>
          <a:p>
            <a:endParaRPr lang="en-US"/>
          </a:p>
        </p:txBody>
      </p:sp>
      <p:sp>
        <p:nvSpPr>
          <p:cNvPr id="169" name="Text 170"/>
          <p:cNvSpPr/>
          <p:nvPr/>
        </p:nvSpPr>
        <p:spPr>
          <a:xfrm>
            <a:off x="978408" y="5395464"/>
            <a:ext cx="10235184" cy="566928"/>
          </a:xfrm>
          <a:prstGeom prst="rect">
            <a:avLst/>
          </a:prstGeom>
          <a:noFill/>
          <a:ln/>
        </p:spPr>
        <p:txBody>
          <a:bodyPr wrap="square" lIns="0" tIns="0" rIns="0" bIns="0" rtlCol="0" anchor="ctr"/>
          <a:lstStyle/>
          <a:p>
            <a:pPr marL="0" indent="0">
              <a:buNone/>
            </a:pPr>
            <a:r>
              <a:rPr lang="en-US" sz="1200" b="0" kern="0" dirty="0">
                <a:solidFill>
                  <a:srgbClr val="54657E"/>
                </a:solidFill>
                <a:latin typeface="Calibri" pitchFamily="34" charset="0"/>
                <a:ea typeface="Calibri" pitchFamily="34" charset="-122"/>
                <a:cs typeface="Calibri" pitchFamily="34" charset="-120"/>
              </a:rPr>
              <a:t>The application, the pipeline and the documentation are complete and running. </a:t>
            </a:r>
            <a:r>
              <a:rPr lang="en-US" sz="1200" b="1" kern="0" dirty="0">
                <a:solidFill>
                  <a:srgbClr val="10294A"/>
                </a:solidFill>
                <a:latin typeface="Calibri" pitchFamily="34" charset="0"/>
                <a:ea typeface="Calibri" pitchFamily="34" charset="-122"/>
                <a:cs typeface="Calibri" pitchFamily="34" charset="-120"/>
              </a:rPr>
              <a:t>What comes next is direction, not development.</a:t>
            </a:r>
          </a:p>
        </p:txBody>
      </p:sp>
      <p:sp>
        <p:nvSpPr>
          <p:cNvPr id="171" name="Text 172"/>
          <p:cNvSpPr/>
          <p:nvPr/>
        </p:nvSpPr>
        <p:spPr>
          <a:xfrm>
            <a:off x="11414455" y="6400800"/>
            <a:ext cx="457200" cy="274320"/>
          </a:xfrm>
          <a:prstGeom prst="rect">
            <a:avLst/>
          </a:prstGeom>
          <a:noFill/>
          <a:ln/>
        </p:spPr>
        <p:txBody>
          <a:bodyPr wrap="square" lIns="0" tIns="0" rIns="0" bIns="0" rtlCol="0" anchor="ctr"/>
          <a:lstStyle/>
          <a:p>
            <a:pPr marL="0" indent="0" algn="r">
              <a:buNone/>
            </a:pPr>
            <a:r>
              <a:rPr lang="en-US" sz="900" b="0" kern="0" dirty="0">
                <a:solidFill>
                  <a:srgbClr val="A6B6CC"/>
                </a:solidFill>
                <a:latin typeface="Calibri" pitchFamily="34" charset="0"/>
                <a:ea typeface="Calibri" pitchFamily="34" charset="-122"/>
                <a:cs typeface="Calibri" pitchFamily="34" charset="-120"/>
              </a:rPr>
              <a:t>05</a:t>
            </a:r>
          </a:p>
        </p:txBody>
      </p:sp>
      <p:pic>
        <p:nvPicPr>
          <p:cNvPr id="173" name="Image 174" descr="preencoded.png"/>
          <p:cNvPicPr>
            <a:picLocks noChangeAspect="1"/>
          </p:cNvPicPr>
          <p:nvPr/>
        </p:nvPicPr>
        <p:blipFill>
          <a:blip r:embed="rId9"/>
          <a:stretch>
            <a:fillRect/>
          </a:stretch>
        </p:blipFill>
        <p:spPr>
          <a:xfrm>
            <a:off x="457200" y="6345936"/>
            <a:ext cx="1234440" cy="24075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3F7FB"/>
        </a:solidFill>
        <a:effectLst/>
      </p:bgPr>
    </p:bg>
    <p:spTree>
      <p:nvGrpSpPr>
        <p:cNvPr id="1" name=""/>
        <p:cNvGrpSpPr/>
        <p:nvPr/>
      </p:nvGrpSpPr>
      <p:grpSpPr>
        <a:xfrm>
          <a:off x="0" y="0"/>
          <a:ext cx="0" cy="0"/>
          <a:chOff x="0" y="0"/>
          <a:chExt cx="0" cy="0"/>
        </a:xfrm>
      </p:grpSpPr>
      <p:sp>
        <p:nvSpPr>
          <p:cNvPr id="175" name="Text 176"/>
          <p:cNvSpPr/>
          <p:nvPr/>
        </p:nvSpPr>
        <p:spPr>
          <a:xfrm>
            <a:off x="685800" y="502920"/>
            <a:ext cx="7315200" cy="274320"/>
          </a:xfrm>
          <a:prstGeom prst="rect">
            <a:avLst/>
          </a:prstGeom>
          <a:noFill/>
          <a:ln/>
        </p:spPr>
        <p:txBody>
          <a:bodyPr wrap="square" lIns="0" tIns="0" rIns="0" bIns="0" rtlCol="0" anchor="ctr"/>
          <a:lstStyle/>
          <a:p>
            <a:pPr marL="0" indent="0">
              <a:buNone/>
            </a:pPr>
            <a:r>
              <a:rPr lang="en-US" sz="1200" b="1" kern="0" spc="300" dirty="0">
                <a:solidFill>
                  <a:srgbClr val="1E578D"/>
                </a:solidFill>
                <a:latin typeface="Calibri" pitchFamily="34" charset="0"/>
                <a:ea typeface="Calibri" pitchFamily="34" charset="-122"/>
                <a:cs typeface="Calibri" pitchFamily="34" charset="-120"/>
              </a:rPr>
              <a:t>MODEL QUALITY · THE TRAP WE ALMOST FELL INTO</a:t>
            </a:r>
          </a:p>
        </p:txBody>
      </p:sp>
      <p:sp>
        <p:nvSpPr>
          <p:cNvPr id="177" name="Text 178"/>
          <p:cNvSpPr/>
          <p:nvPr/>
        </p:nvSpPr>
        <p:spPr>
          <a:xfrm>
            <a:off x="658368" y="795528"/>
            <a:ext cx="10789920" cy="548640"/>
          </a:xfrm>
          <a:prstGeom prst="rect">
            <a:avLst/>
          </a:prstGeom>
          <a:noFill/>
          <a:ln/>
        </p:spPr>
        <p:txBody>
          <a:bodyPr wrap="square" lIns="0" tIns="0" rIns="0" bIns="0" rtlCol="0" anchor="ctr"/>
          <a:lstStyle/>
          <a:p>
            <a:pPr marL="0" indent="0">
              <a:buNone/>
            </a:pPr>
            <a:r>
              <a:rPr lang="en-US" sz="3000" b="1" kern="0" dirty="0">
                <a:solidFill>
                  <a:srgbClr val="10294A"/>
                </a:solidFill>
                <a:latin typeface="Bookman Old Style" pitchFamily="34" charset="0"/>
                <a:ea typeface="Bookman Old Style" pitchFamily="34" charset="-122"/>
                <a:cs typeface="Bookman Old Style" pitchFamily="34" charset="-120"/>
              </a:rPr>
              <a:t>A model that scored 11% better was 14% worse</a:t>
            </a:r>
          </a:p>
        </p:txBody>
      </p:sp>
      <p:sp>
        <p:nvSpPr>
          <p:cNvPr id="179" name="Shape 180"/>
          <p:cNvSpPr/>
          <p:nvPr/>
        </p:nvSpPr>
        <p:spPr>
          <a:xfrm>
            <a:off x="685800" y="1554480"/>
            <a:ext cx="10820400" cy="1005840"/>
          </a:xfrm>
          <a:prstGeom prst="roundRect">
            <a:avLst>
              <a:gd name="adj" fmla="val 383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181" name="Text 182"/>
          <p:cNvSpPr/>
          <p:nvPr/>
        </p:nvSpPr>
        <p:spPr>
          <a:xfrm>
            <a:off x="1005840" y="1554480"/>
            <a:ext cx="10180320" cy="1005840"/>
          </a:xfrm>
          <a:prstGeom prst="rect">
            <a:avLst/>
          </a:prstGeom>
          <a:noFill/>
          <a:ln/>
        </p:spPr>
        <p:txBody>
          <a:bodyPr wrap="square" lIns="0" tIns="0" rIns="0" bIns="0" rtlCol="0" anchor="ctr"/>
          <a:lstStyle/>
          <a:p>
            <a:pPr marL="0" indent="0">
              <a:lnSpc>
                <a:spcPts val="1750"/>
              </a:lnSpc>
              <a:buNone/>
            </a:pPr>
            <a:r>
              <a:rPr lang="en-US" sz="1250" b="0" kern="0" dirty="0">
                <a:solidFill>
                  <a:srgbClr val="54657E"/>
                </a:solidFill>
                <a:latin typeface="Calibri" pitchFamily="34" charset="0"/>
                <a:ea typeface="Calibri" pitchFamily="34" charset="-122"/>
                <a:cs typeface="Calibri" pitchFamily="34" charset="-120"/>
              </a:rPr>
              <a:t>We trialled an intermittent-demand model for the SKU-hour grain. It improved the headline error metric by 11 per cent — while systematically under-forecasting real demand by 14 per cent. On paper it was the better model. In a store it would have emptied the shelves.</a:t>
            </a:r>
          </a:p>
        </p:txBody>
      </p:sp>
      <p:sp>
        <p:nvSpPr>
          <p:cNvPr id="183" name="Shape 184"/>
          <p:cNvSpPr/>
          <p:nvPr/>
        </p:nvSpPr>
        <p:spPr>
          <a:xfrm>
            <a:off x="685800" y="2743200"/>
            <a:ext cx="5273040" cy="2377440"/>
          </a:xfrm>
          <a:prstGeom prst="roundRect">
            <a:avLst>
              <a:gd name="adj" fmla="val 383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185" name="Shape 186"/>
          <p:cNvSpPr/>
          <p:nvPr/>
        </p:nvSpPr>
        <p:spPr>
          <a:xfrm>
            <a:off x="978408" y="3017520"/>
            <a:ext cx="566928" cy="566928"/>
          </a:xfrm>
          <a:prstGeom prst="ellipse">
            <a:avLst/>
          </a:prstGeom>
          <a:solidFill>
            <a:srgbClr val="EEF3FA"/>
          </a:solidFill>
          <a:ln/>
        </p:spPr>
        <p:txBody>
          <a:bodyPr/>
          <a:lstStyle/>
          <a:p>
            <a:endParaRPr lang="en-US"/>
          </a:p>
        </p:txBody>
      </p:sp>
      <p:pic>
        <p:nvPicPr>
          <p:cNvPr id="187" name="Image 188" descr="preencoded.png"/>
          <p:cNvPicPr>
            <a:picLocks noChangeAspect="1"/>
          </p:cNvPicPr>
          <p:nvPr/>
        </p:nvPicPr>
        <p:blipFill>
          <a:blip r:embed="rId3"/>
          <a:stretch>
            <a:fillRect/>
          </a:stretch>
        </p:blipFill>
        <p:spPr>
          <a:xfrm>
            <a:off x="1114471" y="3153583"/>
            <a:ext cx="294802" cy="294802"/>
          </a:xfrm>
          <a:prstGeom prst="rect">
            <a:avLst/>
          </a:prstGeom>
        </p:spPr>
      </p:pic>
      <p:sp>
        <p:nvSpPr>
          <p:cNvPr id="189" name="Text 190"/>
          <p:cNvSpPr/>
          <p:nvPr/>
        </p:nvSpPr>
        <p:spPr>
          <a:xfrm>
            <a:off x="978408" y="3703320"/>
            <a:ext cx="4687824" cy="320040"/>
          </a:xfrm>
          <a:prstGeom prst="rect">
            <a:avLst/>
          </a:prstGeom>
          <a:noFill/>
          <a:ln/>
        </p:spPr>
        <p:txBody>
          <a:bodyPr wrap="square" lIns="0" tIns="0" rIns="0" bIns="0" rtlCol="0" anchor="t"/>
          <a:lstStyle/>
          <a:p>
            <a:pPr marL="0" indent="0">
              <a:buNone/>
            </a:pPr>
            <a:r>
              <a:rPr lang="en-US" sz="1550" b="1" kern="0" dirty="0">
                <a:solidFill>
                  <a:srgbClr val="10294A"/>
                </a:solidFill>
                <a:latin typeface="Calibri" pitchFamily="34" charset="0"/>
                <a:ea typeface="Calibri" pitchFamily="34" charset="-122"/>
                <a:cs typeface="Calibri" pitchFamily="34" charset="-120"/>
              </a:rPr>
              <a:t>Why it happened</a:t>
            </a:r>
          </a:p>
        </p:txBody>
      </p:sp>
      <p:sp>
        <p:nvSpPr>
          <p:cNvPr id="191" name="Text 192"/>
          <p:cNvSpPr/>
          <p:nvPr/>
        </p:nvSpPr>
        <p:spPr>
          <a:xfrm>
            <a:off x="978408" y="4059936"/>
            <a:ext cx="4687824" cy="914400"/>
          </a:xfrm>
          <a:prstGeom prst="rect">
            <a:avLst/>
          </a:prstGeom>
          <a:noFill/>
          <a:ln/>
        </p:spPr>
        <p:txBody>
          <a:bodyPr wrap="square" lIns="0" tIns="0" rIns="0" bIns="0" rtlCol="0" anchor="t"/>
          <a:lstStyle/>
          <a:p>
            <a:pPr marL="0" indent="0">
              <a:lnSpc>
                <a:spcPts val="1500"/>
              </a:lnSpc>
              <a:buNone/>
            </a:pPr>
            <a:r>
              <a:rPr lang="en-US" sz="1150" b="0" kern="0" dirty="0">
                <a:solidFill>
                  <a:srgbClr val="54657E"/>
                </a:solidFill>
                <a:latin typeface="Calibri" pitchFamily="34" charset="0"/>
                <a:ea typeface="Calibri" pitchFamily="34" charset="-122"/>
                <a:cs typeface="Calibri" pitchFamily="34" charset="-120"/>
              </a:rPr>
              <a:t>At article-hour level demand is intermittent — mostly zeroes. A percentage-error metric is minimised by forecasting zero everywhere, so the model was winning by shrinking its predictions, not by predicting better.</a:t>
            </a:r>
          </a:p>
        </p:txBody>
      </p:sp>
      <p:sp>
        <p:nvSpPr>
          <p:cNvPr id="193" name="Shape 194"/>
          <p:cNvSpPr/>
          <p:nvPr/>
        </p:nvSpPr>
        <p:spPr>
          <a:xfrm>
            <a:off x="6233160" y="2743200"/>
            <a:ext cx="5273040" cy="2377440"/>
          </a:xfrm>
          <a:prstGeom prst="roundRect">
            <a:avLst>
              <a:gd name="adj" fmla="val 383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195" name="Shape 196"/>
          <p:cNvSpPr/>
          <p:nvPr/>
        </p:nvSpPr>
        <p:spPr>
          <a:xfrm>
            <a:off x="6525768" y="3017520"/>
            <a:ext cx="566928" cy="566928"/>
          </a:xfrm>
          <a:prstGeom prst="ellipse">
            <a:avLst/>
          </a:prstGeom>
          <a:solidFill>
            <a:srgbClr val="EEF3FA"/>
          </a:solidFill>
          <a:ln/>
        </p:spPr>
        <p:txBody>
          <a:bodyPr/>
          <a:lstStyle/>
          <a:p>
            <a:endParaRPr lang="en-US"/>
          </a:p>
        </p:txBody>
      </p:sp>
      <p:pic>
        <p:nvPicPr>
          <p:cNvPr id="197" name="Image 198" descr="preencoded.png"/>
          <p:cNvPicPr>
            <a:picLocks noChangeAspect="1"/>
          </p:cNvPicPr>
          <p:nvPr/>
        </p:nvPicPr>
        <p:blipFill>
          <a:blip r:embed="rId4"/>
          <a:stretch>
            <a:fillRect/>
          </a:stretch>
        </p:blipFill>
        <p:spPr>
          <a:xfrm>
            <a:off x="6661831" y="3153583"/>
            <a:ext cx="294802" cy="294802"/>
          </a:xfrm>
          <a:prstGeom prst="rect">
            <a:avLst/>
          </a:prstGeom>
        </p:spPr>
      </p:pic>
      <p:sp>
        <p:nvSpPr>
          <p:cNvPr id="199" name="Text 200"/>
          <p:cNvSpPr/>
          <p:nvPr/>
        </p:nvSpPr>
        <p:spPr>
          <a:xfrm>
            <a:off x="6525768" y="3703320"/>
            <a:ext cx="4687824" cy="320040"/>
          </a:xfrm>
          <a:prstGeom prst="rect">
            <a:avLst/>
          </a:prstGeom>
          <a:noFill/>
          <a:ln/>
        </p:spPr>
        <p:txBody>
          <a:bodyPr wrap="square" lIns="0" tIns="0" rIns="0" bIns="0" rtlCol="0" anchor="t"/>
          <a:lstStyle/>
          <a:p>
            <a:pPr marL="0" indent="0">
              <a:buNone/>
            </a:pPr>
            <a:r>
              <a:rPr lang="en-US" sz="1550" b="1" kern="0" dirty="0">
                <a:solidFill>
                  <a:srgbClr val="10294A"/>
                </a:solidFill>
                <a:latin typeface="Calibri" pitchFamily="34" charset="0"/>
                <a:ea typeface="Calibri" pitchFamily="34" charset="-122"/>
                <a:cs typeface="Calibri" pitchFamily="34" charset="-120"/>
              </a:rPr>
              <a:t>What we do instead</a:t>
            </a:r>
          </a:p>
        </p:txBody>
      </p:sp>
      <p:sp>
        <p:nvSpPr>
          <p:cNvPr id="201" name="Shape 202"/>
          <p:cNvSpPr/>
          <p:nvPr/>
        </p:nvSpPr>
        <p:spPr>
          <a:xfrm>
            <a:off x="6525768" y="4133088"/>
            <a:ext cx="73152" cy="73152"/>
          </a:xfrm>
          <a:prstGeom prst="ellipse">
            <a:avLst/>
          </a:prstGeom>
          <a:solidFill>
            <a:srgbClr val="2E9B5B"/>
          </a:solidFill>
          <a:ln/>
        </p:spPr>
        <p:txBody>
          <a:bodyPr/>
          <a:lstStyle/>
          <a:p>
            <a:endParaRPr lang="en-US"/>
          </a:p>
        </p:txBody>
      </p:sp>
      <p:sp>
        <p:nvSpPr>
          <p:cNvPr id="203" name="Text 204"/>
          <p:cNvSpPr/>
          <p:nvPr/>
        </p:nvSpPr>
        <p:spPr>
          <a:xfrm>
            <a:off x="6681216" y="4059936"/>
            <a:ext cx="4532376" cy="219456"/>
          </a:xfrm>
          <a:prstGeom prst="rect">
            <a:avLst/>
          </a:prstGeom>
          <a:noFill/>
          <a:ln/>
        </p:spPr>
        <p:txBody>
          <a:bodyPr wrap="square" lIns="0" tIns="0" rIns="0" bIns="0" rtlCol="0" anchor="ctr"/>
          <a:lstStyle/>
          <a:p>
            <a:pPr marL="0" indent="0">
              <a:buNone/>
            </a:pPr>
            <a:r>
              <a:rPr lang="en-US" sz="1100" b="0" kern="0" dirty="0">
                <a:solidFill>
                  <a:srgbClr val="54657E"/>
                </a:solidFill>
                <a:latin typeface="Calibri" pitchFamily="34" charset="0"/>
                <a:ea typeface="Calibri" pitchFamily="34" charset="-122"/>
                <a:cs typeface="Calibri" pitchFamily="34" charset="-120"/>
              </a:rPr>
              <a:t>Skill measured against a seasonal-naive benchmark</a:t>
            </a:r>
          </a:p>
        </p:txBody>
      </p:sp>
      <p:sp>
        <p:nvSpPr>
          <p:cNvPr id="205" name="Shape 206"/>
          <p:cNvSpPr/>
          <p:nvPr/>
        </p:nvSpPr>
        <p:spPr>
          <a:xfrm>
            <a:off x="6525768" y="4379976"/>
            <a:ext cx="73152" cy="73152"/>
          </a:xfrm>
          <a:prstGeom prst="ellipse">
            <a:avLst/>
          </a:prstGeom>
          <a:solidFill>
            <a:srgbClr val="2E9B5B"/>
          </a:solidFill>
          <a:ln/>
        </p:spPr>
        <p:txBody>
          <a:bodyPr/>
          <a:lstStyle/>
          <a:p>
            <a:endParaRPr lang="en-US"/>
          </a:p>
        </p:txBody>
      </p:sp>
      <p:sp>
        <p:nvSpPr>
          <p:cNvPr id="207" name="Text 208"/>
          <p:cNvSpPr/>
          <p:nvPr/>
        </p:nvSpPr>
        <p:spPr>
          <a:xfrm>
            <a:off x="6681216" y="4306824"/>
            <a:ext cx="4532376" cy="219456"/>
          </a:xfrm>
          <a:prstGeom prst="rect">
            <a:avLst/>
          </a:prstGeom>
          <a:noFill/>
          <a:ln/>
        </p:spPr>
        <p:txBody>
          <a:bodyPr wrap="square" lIns="0" tIns="0" rIns="0" bIns="0" rtlCol="0" anchor="ctr"/>
          <a:lstStyle/>
          <a:p>
            <a:pPr marL="0" indent="0">
              <a:buNone/>
            </a:pPr>
            <a:r>
              <a:rPr lang="en-US" sz="1100" b="0" kern="0" dirty="0">
                <a:solidFill>
                  <a:srgbClr val="54657E"/>
                </a:solidFill>
                <a:latin typeface="Calibri" pitchFamily="34" charset="0"/>
                <a:ea typeface="Calibri" pitchFamily="34" charset="-122"/>
                <a:cs typeface="Calibri" pitchFamily="34" charset="-120"/>
              </a:rPr>
              <a:t>Signed bias reported next to every error figure</a:t>
            </a:r>
          </a:p>
        </p:txBody>
      </p:sp>
      <p:sp>
        <p:nvSpPr>
          <p:cNvPr id="209" name="Shape 210"/>
          <p:cNvSpPr/>
          <p:nvPr/>
        </p:nvSpPr>
        <p:spPr>
          <a:xfrm>
            <a:off x="6525768" y="4626864"/>
            <a:ext cx="73152" cy="73152"/>
          </a:xfrm>
          <a:prstGeom prst="ellipse">
            <a:avLst/>
          </a:prstGeom>
          <a:solidFill>
            <a:srgbClr val="2E9B5B"/>
          </a:solidFill>
          <a:ln/>
        </p:spPr>
        <p:txBody>
          <a:bodyPr/>
          <a:lstStyle/>
          <a:p>
            <a:endParaRPr lang="en-US"/>
          </a:p>
        </p:txBody>
      </p:sp>
      <p:sp>
        <p:nvSpPr>
          <p:cNvPr id="211" name="Text 212"/>
          <p:cNvSpPr/>
          <p:nvPr/>
        </p:nvSpPr>
        <p:spPr>
          <a:xfrm>
            <a:off x="6681216" y="4553712"/>
            <a:ext cx="4532376" cy="219456"/>
          </a:xfrm>
          <a:prstGeom prst="rect">
            <a:avLst/>
          </a:prstGeom>
          <a:noFill/>
          <a:ln/>
        </p:spPr>
        <p:txBody>
          <a:bodyPr wrap="square" lIns="0" tIns="0" rIns="0" bIns="0" rtlCol="0" anchor="ctr"/>
          <a:lstStyle/>
          <a:p>
            <a:pPr marL="0" indent="0">
              <a:buNone/>
            </a:pPr>
            <a:r>
              <a:rPr lang="en-US" sz="1100" b="0" kern="0" dirty="0">
                <a:solidFill>
                  <a:srgbClr val="54657E"/>
                </a:solidFill>
                <a:latin typeface="Calibri" pitchFamily="34" charset="0"/>
                <a:ea typeface="Calibri" pitchFamily="34" charset="-122"/>
                <a:cs typeface="Calibri" pitchFamily="34" charset="-120"/>
              </a:rPr>
              <a:t>Backtested on a held-out window, never on training data</a:t>
            </a:r>
          </a:p>
        </p:txBody>
      </p:sp>
      <p:sp>
        <p:nvSpPr>
          <p:cNvPr id="213" name="Shape 214"/>
          <p:cNvSpPr/>
          <p:nvPr/>
        </p:nvSpPr>
        <p:spPr>
          <a:xfrm>
            <a:off x="6525768" y="4873752"/>
            <a:ext cx="73152" cy="73152"/>
          </a:xfrm>
          <a:prstGeom prst="ellipse">
            <a:avLst/>
          </a:prstGeom>
          <a:solidFill>
            <a:srgbClr val="2E9B5B"/>
          </a:solidFill>
          <a:ln/>
        </p:spPr>
        <p:txBody>
          <a:bodyPr/>
          <a:lstStyle/>
          <a:p>
            <a:endParaRPr lang="en-US"/>
          </a:p>
        </p:txBody>
      </p:sp>
      <p:sp>
        <p:nvSpPr>
          <p:cNvPr id="215" name="Text 216"/>
          <p:cNvSpPr/>
          <p:nvPr/>
        </p:nvSpPr>
        <p:spPr>
          <a:xfrm>
            <a:off x="6681216" y="4800600"/>
            <a:ext cx="4532376" cy="219456"/>
          </a:xfrm>
          <a:prstGeom prst="rect">
            <a:avLst/>
          </a:prstGeom>
          <a:noFill/>
          <a:ln/>
        </p:spPr>
        <p:txBody>
          <a:bodyPr wrap="square" lIns="0" tIns="0" rIns="0" bIns="0" rtlCol="0" anchor="ctr"/>
          <a:lstStyle/>
          <a:p>
            <a:pPr marL="0" indent="0">
              <a:buNone/>
            </a:pPr>
            <a:r>
              <a:rPr lang="en-US" sz="1100" b="0" kern="0" dirty="0">
                <a:solidFill>
                  <a:srgbClr val="54657E"/>
                </a:solidFill>
                <a:latin typeface="Calibri" pitchFamily="34" charset="0"/>
                <a:ea typeface="Calibri" pitchFamily="34" charset="-122"/>
                <a:cs typeface="Calibri" pitchFamily="34" charset="-120"/>
              </a:rPr>
              <a:t>Store-day accuracy quoted, not the flattering grain</a:t>
            </a:r>
          </a:p>
        </p:txBody>
      </p:sp>
      <p:sp>
        <p:nvSpPr>
          <p:cNvPr id="217" name="Shape 218"/>
          <p:cNvSpPr/>
          <p:nvPr/>
        </p:nvSpPr>
        <p:spPr>
          <a:xfrm>
            <a:off x="685800" y="5395464"/>
            <a:ext cx="10820400" cy="566928"/>
          </a:xfrm>
          <a:prstGeom prst="roundRect">
            <a:avLst>
              <a:gd name="adj" fmla="val 3830"/>
            </a:avLst>
          </a:prstGeom>
          <a:solidFill>
            <a:srgbClr val="E9F1FB"/>
          </a:solidFill>
          <a:ln w="12700">
            <a:solidFill>
              <a:srgbClr val="D8E3F0"/>
            </a:solidFill>
            <a:prstDash val="solid"/>
          </a:ln>
        </p:spPr>
        <p:txBody>
          <a:bodyPr/>
          <a:lstStyle/>
          <a:p>
            <a:endParaRPr lang="en-US"/>
          </a:p>
        </p:txBody>
      </p:sp>
      <p:sp>
        <p:nvSpPr>
          <p:cNvPr id="219" name="Text 220"/>
          <p:cNvSpPr/>
          <p:nvPr/>
        </p:nvSpPr>
        <p:spPr>
          <a:xfrm>
            <a:off x="978408" y="5395464"/>
            <a:ext cx="10235184" cy="566928"/>
          </a:xfrm>
          <a:prstGeom prst="rect">
            <a:avLst/>
          </a:prstGeom>
          <a:noFill/>
          <a:ln/>
        </p:spPr>
        <p:txBody>
          <a:bodyPr wrap="square" lIns="0" tIns="0" rIns="0" bIns="0" rtlCol="0" anchor="ctr"/>
          <a:lstStyle/>
          <a:p>
            <a:pPr marL="0" indent="0">
              <a:buNone/>
            </a:pPr>
            <a:r>
              <a:rPr lang="en-US" sz="1200" b="1" kern="0" dirty="0">
                <a:solidFill>
                  <a:srgbClr val="10294A"/>
                </a:solidFill>
                <a:latin typeface="Calibri" pitchFamily="34" charset="0"/>
                <a:ea typeface="Calibri" pitchFamily="34" charset="-122"/>
                <a:cs typeface="Calibri" pitchFamily="34" charset="-120"/>
              </a:rPr>
              <a:t>We would rather bring a customer a defensible number than a flattering one. </a:t>
            </a:r>
            <a:r>
              <a:rPr lang="en-US" sz="1200" b="0" kern="0" dirty="0">
                <a:solidFill>
                  <a:srgbClr val="54657E"/>
                </a:solidFill>
                <a:latin typeface="Calibri" pitchFamily="34" charset="0"/>
                <a:ea typeface="Calibri" pitchFamily="34" charset="-122"/>
                <a:cs typeface="Calibri" pitchFamily="34" charset="-120"/>
              </a:rPr>
              <a:t>That principle is why the 186% figure is on the previous slide at all.</a:t>
            </a:r>
          </a:p>
        </p:txBody>
      </p:sp>
      <p:sp>
        <p:nvSpPr>
          <p:cNvPr id="221" name="Text 222"/>
          <p:cNvSpPr/>
          <p:nvPr/>
        </p:nvSpPr>
        <p:spPr>
          <a:xfrm>
            <a:off x="11414455" y="6400800"/>
            <a:ext cx="457200" cy="274320"/>
          </a:xfrm>
          <a:prstGeom prst="rect">
            <a:avLst/>
          </a:prstGeom>
          <a:noFill/>
          <a:ln/>
        </p:spPr>
        <p:txBody>
          <a:bodyPr wrap="square" lIns="0" tIns="0" rIns="0" bIns="0" rtlCol="0" anchor="ctr"/>
          <a:lstStyle/>
          <a:p>
            <a:pPr marL="0" indent="0" algn="r">
              <a:buNone/>
            </a:pPr>
            <a:r>
              <a:rPr lang="en-US" sz="900" b="0" kern="0" dirty="0">
                <a:solidFill>
                  <a:srgbClr val="A6B6CC"/>
                </a:solidFill>
                <a:latin typeface="Calibri" pitchFamily="34" charset="0"/>
                <a:ea typeface="Calibri" pitchFamily="34" charset="-122"/>
                <a:cs typeface="Calibri" pitchFamily="34" charset="-120"/>
              </a:rPr>
              <a:t>16</a:t>
            </a:r>
          </a:p>
        </p:txBody>
      </p:sp>
      <p:pic>
        <p:nvPicPr>
          <p:cNvPr id="223" name="Image 224" descr="preencoded.png"/>
          <p:cNvPicPr>
            <a:picLocks noChangeAspect="1"/>
          </p:cNvPicPr>
          <p:nvPr/>
        </p:nvPicPr>
        <p:blipFill>
          <a:blip r:embed="rId9"/>
          <a:stretch>
            <a:fillRect/>
          </a:stretch>
        </p:blipFill>
        <p:spPr>
          <a:xfrm>
            <a:off x="457200" y="6345936"/>
            <a:ext cx="1234440" cy="24075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3F7FB"/>
        </a:solidFill>
        <a:effectLst/>
      </p:bgPr>
    </p:bg>
    <p:spTree>
      <p:nvGrpSpPr>
        <p:cNvPr id="1" name=""/>
        <p:cNvGrpSpPr/>
        <p:nvPr/>
      </p:nvGrpSpPr>
      <p:grpSpPr>
        <a:xfrm>
          <a:off x="0" y="0"/>
          <a:ext cx="0" cy="0"/>
          <a:chOff x="0" y="0"/>
          <a:chExt cx="0" cy="0"/>
        </a:xfrm>
      </p:grpSpPr>
      <p:sp>
        <p:nvSpPr>
          <p:cNvPr id="225" name="Text 226"/>
          <p:cNvSpPr/>
          <p:nvPr/>
        </p:nvSpPr>
        <p:spPr>
          <a:xfrm>
            <a:off x="685800" y="502920"/>
            <a:ext cx="7315200" cy="274320"/>
          </a:xfrm>
          <a:prstGeom prst="rect">
            <a:avLst/>
          </a:prstGeom>
          <a:noFill/>
          <a:ln/>
        </p:spPr>
        <p:txBody>
          <a:bodyPr wrap="square" lIns="0" tIns="0" rIns="0" bIns="0" rtlCol="0" anchor="ctr"/>
          <a:lstStyle/>
          <a:p>
            <a:pPr marL="0" indent="0">
              <a:buNone/>
            </a:pPr>
            <a:r>
              <a:rPr lang="en-US" sz="1200" b="1" kern="0" spc="300" dirty="0">
                <a:solidFill>
                  <a:srgbClr val="1E578D"/>
                </a:solidFill>
                <a:latin typeface="Calibri" pitchFamily="34" charset="0"/>
                <a:ea typeface="Calibri" pitchFamily="34" charset="-122"/>
                <a:cs typeface="Calibri" pitchFamily="34" charset="-120"/>
              </a:rPr>
              <a:t>ROADMAP · WHAT WE WOULD PUBLISH</a:t>
            </a:r>
          </a:p>
        </p:txBody>
      </p:sp>
      <p:sp>
        <p:nvSpPr>
          <p:cNvPr id="227" name="Text 228"/>
          <p:cNvSpPr/>
          <p:nvPr/>
        </p:nvSpPr>
        <p:spPr>
          <a:xfrm>
            <a:off x="658368" y="795528"/>
            <a:ext cx="10789920" cy="548640"/>
          </a:xfrm>
          <a:prstGeom prst="rect">
            <a:avLst/>
          </a:prstGeom>
          <a:noFill/>
          <a:ln/>
        </p:spPr>
        <p:txBody>
          <a:bodyPr wrap="square" lIns="0" tIns="0" rIns="0" bIns="0" rtlCol="0" anchor="ctr"/>
          <a:lstStyle/>
          <a:p>
            <a:pPr marL="0" indent="0">
              <a:buNone/>
            </a:pPr>
            <a:r>
              <a:rPr lang="en-US" sz="3000" b="1" kern="0" dirty="0">
                <a:solidFill>
                  <a:srgbClr val="10294A"/>
                </a:solidFill>
                <a:latin typeface="Bookman Old Style" pitchFamily="34" charset="0"/>
                <a:ea typeface="Bookman Old Style" pitchFamily="34" charset="-122"/>
                <a:cs typeface="Bookman Old Style" pitchFamily="34" charset="-120"/>
              </a:rPr>
              <a:t>Our 120,324 rows already map to data products</a:t>
            </a:r>
          </a:p>
        </p:txBody>
      </p:sp>
      <p:sp>
        <p:nvSpPr>
          <p:cNvPr id="229" name="Text 230"/>
          <p:cNvSpPr/>
          <p:nvPr/>
        </p:nvSpPr>
        <p:spPr>
          <a:xfrm>
            <a:off x="685800" y="1417320"/>
            <a:ext cx="10820400" cy="402336"/>
          </a:xfrm>
          <a:prstGeom prst="rect">
            <a:avLst/>
          </a:prstGeom>
          <a:noFill/>
          <a:ln/>
        </p:spPr>
        <p:txBody>
          <a:bodyPr wrap="square" lIns="0" tIns="0" rIns="0" bIns="0" rtlCol="0" anchor="t"/>
          <a:lstStyle/>
          <a:p>
            <a:pPr marL="0" indent="0">
              <a:lnSpc>
                <a:spcPts val="1700"/>
              </a:lnSpc>
              <a:buNone/>
            </a:pPr>
            <a:r>
              <a:rPr lang="en-US" sz="1250" b="0" kern="0" dirty="0">
                <a:solidFill>
                  <a:srgbClr val="54657E"/>
                </a:solidFill>
                <a:latin typeface="Calibri" pitchFamily="34" charset="0"/>
                <a:ea typeface="Calibri" pitchFamily="34" charset="-122"/>
                <a:cs typeface="Calibri" pitchFamily="34" charset="-120"/>
              </a:rPr>
              <a:t>No restructuring needed. The model we built groups into four data product families — which is the practical test of whether a landscape is ready for SAP Business Data Cloud.</a:t>
            </a:r>
          </a:p>
        </p:txBody>
      </p:sp>
      <p:sp>
        <p:nvSpPr>
          <p:cNvPr id="231" name="Shape 232"/>
          <p:cNvSpPr/>
          <p:nvPr/>
        </p:nvSpPr>
        <p:spPr>
          <a:xfrm>
            <a:off x="685800" y="2377440"/>
            <a:ext cx="2533650" cy="2286000"/>
          </a:xfrm>
          <a:prstGeom prst="roundRect">
            <a:avLst>
              <a:gd name="adj" fmla="val 383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233" name="Text 234"/>
          <p:cNvSpPr/>
          <p:nvPr/>
        </p:nvSpPr>
        <p:spPr>
          <a:xfrm>
            <a:off x="914400" y="2624328"/>
            <a:ext cx="2076450" cy="219456"/>
          </a:xfrm>
          <a:prstGeom prst="rect">
            <a:avLst/>
          </a:prstGeom>
          <a:noFill/>
          <a:ln/>
        </p:spPr>
        <p:txBody>
          <a:bodyPr wrap="square" lIns="0" tIns="0" rIns="0" bIns="0" rtlCol="0" anchor="t"/>
          <a:lstStyle/>
          <a:p>
            <a:pPr marL="0" indent="0">
              <a:buNone/>
            </a:pPr>
            <a:r>
              <a:rPr lang="en-US" sz="900" b="1" kern="0" spc="200" dirty="0">
                <a:solidFill>
                  <a:srgbClr val="1E578D"/>
                </a:solidFill>
                <a:latin typeface="Calibri" pitchFamily="34" charset="0"/>
                <a:ea typeface="Calibri" pitchFamily="34" charset="-122"/>
                <a:cs typeface="Calibri" pitchFamily="34" charset="-120"/>
              </a:rPr>
              <a:t>ROWS</a:t>
            </a:r>
          </a:p>
        </p:txBody>
      </p:sp>
      <p:sp>
        <p:nvSpPr>
          <p:cNvPr id="235" name="Text 236"/>
          <p:cNvSpPr/>
          <p:nvPr/>
        </p:nvSpPr>
        <p:spPr>
          <a:xfrm>
            <a:off x="914400" y="2843784"/>
            <a:ext cx="2076450" cy="640080"/>
          </a:xfrm>
          <a:prstGeom prst="rect">
            <a:avLst/>
          </a:prstGeom>
          <a:noFill/>
          <a:ln/>
        </p:spPr>
        <p:txBody>
          <a:bodyPr wrap="square" lIns="0" tIns="0" rIns="0" bIns="0" rtlCol="0" anchor="t"/>
          <a:lstStyle/>
          <a:p>
            <a:pPr marL="0" indent="0">
              <a:buNone/>
            </a:pPr>
            <a:r>
              <a:rPr lang="en-US" sz="3200" b="1" kern="0" dirty="0">
                <a:solidFill>
                  <a:srgbClr val="10294A"/>
                </a:solidFill>
                <a:latin typeface="Bookman Old Style" pitchFamily="34" charset="0"/>
                <a:ea typeface="Bookman Old Style" pitchFamily="34" charset="-122"/>
                <a:cs typeface="Bookman Old Style" pitchFamily="34" charset="-120"/>
              </a:rPr>
              <a:t>925</a:t>
            </a:r>
          </a:p>
        </p:txBody>
      </p:sp>
      <p:sp>
        <p:nvSpPr>
          <p:cNvPr id="237" name="Text 238"/>
          <p:cNvSpPr/>
          <p:nvPr/>
        </p:nvSpPr>
        <p:spPr>
          <a:xfrm>
            <a:off x="914400" y="3529584"/>
            <a:ext cx="2076450" cy="292608"/>
          </a:xfrm>
          <a:prstGeom prst="rect">
            <a:avLst/>
          </a:prstGeom>
          <a:noFill/>
          <a:ln/>
        </p:spPr>
        <p:txBody>
          <a:bodyPr wrap="square" lIns="0" tIns="0" rIns="0" bIns="0" rtlCol="0" anchor="t"/>
          <a:lstStyle/>
          <a:p>
            <a:pPr marL="0" indent="0">
              <a:buNone/>
            </a:pPr>
            <a:r>
              <a:rPr lang="en-US" sz="1400" b="1" kern="0" dirty="0">
                <a:solidFill>
                  <a:srgbClr val="10294A"/>
                </a:solidFill>
                <a:latin typeface="Calibri" pitchFamily="34" charset="0"/>
                <a:ea typeface="Calibri" pitchFamily="34" charset="-122"/>
                <a:cs typeface="Calibri" pitchFamily="34" charset="-120"/>
              </a:rPr>
              <a:t>Retail master data</a:t>
            </a:r>
          </a:p>
        </p:txBody>
      </p:sp>
      <p:sp>
        <p:nvSpPr>
          <p:cNvPr id="239" name="Text 240"/>
          <p:cNvSpPr/>
          <p:nvPr/>
        </p:nvSpPr>
        <p:spPr>
          <a:xfrm>
            <a:off x="914400" y="3858768"/>
            <a:ext cx="2076450" cy="685800"/>
          </a:xfrm>
          <a:prstGeom prst="rect">
            <a:avLst/>
          </a:prstGeom>
          <a:noFill/>
          <a:ln/>
        </p:spPr>
        <p:txBody>
          <a:bodyPr wrap="square" lIns="0" tIns="0" rIns="0" bIns="0" rtlCol="0" anchor="t"/>
          <a:lstStyle/>
          <a:p>
            <a:pPr marL="0" indent="0">
              <a:lnSpc>
                <a:spcPts val="1450"/>
              </a:lnSpc>
              <a:buNone/>
            </a:pPr>
            <a:r>
              <a:rPr lang="en-US" sz="1100" b="0" kern="0" dirty="0">
                <a:solidFill>
                  <a:srgbClr val="54657E"/>
                </a:solidFill>
                <a:latin typeface="Calibri" pitchFamily="34" charset="0"/>
                <a:ea typeface="Calibri" pitchFamily="34" charset="-122"/>
                <a:cs typeface="Calibri" pitchFamily="34" charset="-120"/>
              </a:rPr>
              <a:t>Articles, stores, suppliers, terminals, employees</a:t>
            </a:r>
          </a:p>
        </p:txBody>
      </p:sp>
      <p:sp>
        <p:nvSpPr>
          <p:cNvPr id="241" name="Shape 242"/>
          <p:cNvSpPr/>
          <p:nvPr/>
        </p:nvSpPr>
        <p:spPr>
          <a:xfrm>
            <a:off x="3448050" y="2377440"/>
            <a:ext cx="2533650" cy="2286000"/>
          </a:xfrm>
          <a:prstGeom prst="roundRect">
            <a:avLst>
              <a:gd name="adj" fmla="val 383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243" name="Text 244"/>
          <p:cNvSpPr/>
          <p:nvPr/>
        </p:nvSpPr>
        <p:spPr>
          <a:xfrm>
            <a:off x="3676650" y="2624328"/>
            <a:ext cx="2076450" cy="219456"/>
          </a:xfrm>
          <a:prstGeom prst="rect">
            <a:avLst/>
          </a:prstGeom>
          <a:noFill/>
          <a:ln/>
        </p:spPr>
        <p:txBody>
          <a:bodyPr wrap="square" lIns="0" tIns="0" rIns="0" bIns="0" rtlCol="0" anchor="t"/>
          <a:lstStyle/>
          <a:p>
            <a:pPr marL="0" indent="0">
              <a:buNone/>
            </a:pPr>
            <a:r>
              <a:rPr lang="en-US" sz="900" b="1" kern="0" spc="200" dirty="0">
                <a:solidFill>
                  <a:srgbClr val="0F8A8A"/>
                </a:solidFill>
                <a:latin typeface="Calibri" pitchFamily="34" charset="0"/>
                <a:ea typeface="Calibri" pitchFamily="34" charset="-122"/>
                <a:cs typeface="Calibri" pitchFamily="34" charset="-120"/>
              </a:rPr>
              <a:t>ROWS</a:t>
            </a:r>
          </a:p>
        </p:txBody>
      </p:sp>
      <p:sp>
        <p:nvSpPr>
          <p:cNvPr id="245" name="Text 246"/>
          <p:cNvSpPr/>
          <p:nvPr/>
        </p:nvSpPr>
        <p:spPr>
          <a:xfrm>
            <a:off x="3676650" y="2843784"/>
            <a:ext cx="2076450" cy="640080"/>
          </a:xfrm>
          <a:prstGeom prst="rect">
            <a:avLst/>
          </a:prstGeom>
          <a:noFill/>
          <a:ln/>
        </p:spPr>
        <p:txBody>
          <a:bodyPr wrap="square" lIns="0" tIns="0" rIns="0" bIns="0" rtlCol="0" anchor="t"/>
          <a:lstStyle/>
          <a:p>
            <a:pPr marL="0" indent="0">
              <a:buNone/>
            </a:pPr>
            <a:r>
              <a:rPr lang="en-US" sz="3200" b="1" kern="0" dirty="0">
                <a:solidFill>
                  <a:srgbClr val="10294A"/>
                </a:solidFill>
                <a:latin typeface="Bookman Old Style" pitchFamily="34" charset="0"/>
                <a:ea typeface="Bookman Old Style" pitchFamily="34" charset="-122"/>
                <a:cs typeface="Bookman Old Style" pitchFamily="34" charset="-120"/>
              </a:rPr>
              <a:t>57,651</a:t>
            </a:r>
          </a:p>
        </p:txBody>
      </p:sp>
      <p:sp>
        <p:nvSpPr>
          <p:cNvPr id="247" name="Text 248"/>
          <p:cNvSpPr/>
          <p:nvPr/>
        </p:nvSpPr>
        <p:spPr>
          <a:xfrm>
            <a:off x="3676650" y="3529584"/>
            <a:ext cx="2076450" cy="292608"/>
          </a:xfrm>
          <a:prstGeom prst="rect">
            <a:avLst/>
          </a:prstGeom>
          <a:noFill/>
          <a:ln/>
        </p:spPr>
        <p:txBody>
          <a:bodyPr wrap="square" lIns="0" tIns="0" rIns="0" bIns="0" rtlCol="0" anchor="t"/>
          <a:lstStyle/>
          <a:p>
            <a:pPr marL="0" indent="0">
              <a:buNone/>
            </a:pPr>
            <a:r>
              <a:rPr lang="en-US" sz="1400" b="1" kern="0" dirty="0">
                <a:solidFill>
                  <a:srgbClr val="10294A"/>
                </a:solidFill>
                <a:latin typeface="Calibri" pitchFamily="34" charset="0"/>
                <a:ea typeface="Calibri" pitchFamily="34" charset="-122"/>
                <a:cs typeface="Calibri" pitchFamily="34" charset="-120"/>
              </a:rPr>
              <a:t>POS transactions</a:t>
            </a:r>
          </a:p>
        </p:txBody>
      </p:sp>
      <p:sp>
        <p:nvSpPr>
          <p:cNvPr id="249" name="Text 250"/>
          <p:cNvSpPr/>
          <p:nvPr/>
        </p:nvSpPr>
        <p:spPr>
          <a:xfrm>
            <a:off x="3676650" y="3858768"/>
            <a:ext cx="2076450" cy="685800"/>
          </a:xfrm>
          <a:prstGeom prst="rect">
            <a:avLst/>
          </a:prstGeom>
          <a:noFill/>
          <a:ln/>
        </p:spPr>
        <p:txBody>
          <a:bodyPr wrap="square" lIns="0" tIns="0" rIns="0" bIns="0" rtlCol="0" anchor="t"/>
          <a:lstStyle/>
          <a:p>
            <a:pPr marL="0" indent="0">
              <a:lnSpc>
                <a:spcPts val="1450"/>
              </a:lnSpc>
              <a:buNone/>
            </a:pPr>
            <a:r>
              <a:rPr lang="en-US" sz="1100" b="0" kern="0" dirty="0">
                <a:solidFill>
                  <a:srgbClr val="54657E"/>
                </a:solidFill>
                <a:latin typeface="Calibri" pitchFamily="34" charset="0"/>
                <a:ea typeface="Calibri" pitchFamily="34" charset="-122"/>
                <a:cs typeface="Calibri" pitchFamily="34" charset="-120"/>
              </a:rPr>
              <a:t>Receipts, line items, payments, cancellations, returns</a:t>
            </a:r>
          </a:p>
        </p:txBody>
      </p:sp>
      <p:sp>
        <p:nvSpPr>
          <p:cNvPr id="251" name="Shape 252"/>
          <p:cNvSpPr/>
          <p:nvPr/>
        </p:nvSpPr>
        <p:spPr>
          <a:xfrm>
            <a:off x="6210300" y="2377440"/>
            <a:ext cx="2533650" cy="2286000"/>
          </a:xfrm>
          <a:prstGeom prst="roundRect">
            <a:avLst>
              <a:gd name="adj" fmla="val 383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253" name="Text 254"/>
          <p:cNvSpPr/>
          <p:nvPr/>
        </p:nvSpPr>
        <p:spPr>
          <a:xfrm>
            <a:off x="6438900" y="2624328"/>
            <a:ext cx="2076450" cy="219456"/>
          </a:xfrm>
          <a:prstGeom prst="rect">
            <a:avLst/>
          </a:prstGeom>
          <a:noFill/>
          <a:ln/>
        </p:spPr>
        <p:txBody>
          <a:bodyPr wrap="square" lIns="0" tIns="0" rIns="0" bIns="0" rtlCol="0" anchor="t"/>
          <a:lstStyle/>
          <a:p>
            <a:pPr marL="0" indent="0">
              <a:buNone/>
            </a:pPr>
            <a:r>
              <a:rPr lang="en-US" sz="900" b="1" kern="0" spc="200" dirty="0">
                <a:solidFill>
                  <a:srgbClr val="183A61"/>
                </a:solidFill>
                <a:latin typeface="Calibri" pitchFamily="34" charset="0"/>
                <a:ea typeface="Calibri" pitchFamily="34" charset="-122"/>
                <a:cs typeface="Calibri" pitchFamily="34" charset="-120"/>
              </a:rPr>
              <a:t>ROWS</a:t>
            </a:r>
          </a:p>
        </p:txBody>
      </p:sp>
      <p:sp>
        <p:nvSpPr>
          <p:cNvPr id="255" name="Text 256"/>
          <p:cNvSpPr/>
          <p:nvPr/>
        </p:nvSpPr>
        <p:spPr>
          <a:xfrm>
            <a:off x="6438900" y="2843784"/>
            <a:ext cx="2076450" cy="640080"/>
          </a:xfrm>
          <a:prstGeom prst="rect">
            <a:avLst/>
          </a:prstGeom>
          <a:noFill/>
          <a:ln/>
        </p:spPr>
        <p:txBody>
          <a:bodyPr wrap="square" lIns="0" tIns="0" rIns="0" bIns="0" rtlCol="0" anchor="t"/>
          <a:lstStyle/>
          <a:p>
            <a:pPr marL="0" indent="0">
              <a:buNone/>
            </a:pPr>
            <a:r>
              <a:rPr lang="en-US" sz="3200" b="1" kern="0" dirty="0">
                <a:solidFill>
                  <a:srgbClr val="10294A"/>
                </a:solidFill>
                <a:latin typeface="Bookman Old Style" pitchFamily="34" charset="0"/>
                <a:ea typeface="Bookman Old Style" pitchFamily="34" charset="-122"/>
                <a:cs typeface="Bookman Old Style" pitchFamily="34" charset="-120"/>
              </a:rPr>
              <a:t>57,717</a:t>
            </a:r>
          </a:p>
        </p:txBody>
      </p:sp>
      <p:sp>
        <p:nvSpPr>
          <p:cNvPr id="257" name="Text 258"/>
          <p:cNvSpPr/>
          <p:nvPr/>
        </p:nvSpPr>
        <p:spPr>
          <a:xfrm>
            <a:off x="6438900" y="3529584"/>
            <a:ext cx="2076450" cy="292608"/>
          </a:xfrm>
          <a:prstGeom prst="rect">
            <a:avLst/>
          </a:prstGeom>
          <a:noFill/>
          <a:ln/>
        </p:spPr>
        <p:txBody>
          <a:bodyPr wrap="square" lIns="0" tIns="0" rIns="0" bIns="0" rtlCol="0" anchor="t"/>
          <a:lstStyle/>
          <a:p>
            <a:pPr marL="0" indent="0">
              <a:buNone/>
            </a:pPr>
            <a:r>
              <a:rPr lang="en-US" sz="1400" b="1" kern="0" dirty="0">
                <a:solidFill>
                  <a:srgbClr val="10294A"/>
                </a:solidFill>
                <a:latin typeface="Calibri" pitchFamily="34" charset="0"/>
                <a:ea typeface="Calibri" pitchFamily="34" charset="-122"/>
                <a:cs typeface="Calibri" pitchFamily="34" charset="-120"/>
              </a:rPr>
              <a:t>Operational signals</a:t>
            </a:r>
          </a:p>
        </p:txBody>
      </p:sp>
      <p:sp>
        <p:nvSpPr>
          <p:cNvPr id="259" name="Text 260"/>
          <p:cNvSpPr/>
          <p:nvPr/>
        </p:nvSpPr>
        <p:spPr>
          <a:xfrm>
            <a:off x="6438900" y="3858768"/>
            <a:ext cx="2076450" cy="685800"/>
          </a:xfrm>
          <a:prstGeom prst="rect">
            <a:avLst/>
          </a:prstGeom>
          <a:noFill/>
          <a:ln/>
        </p:spPr>
        <p:txBody>
          <a:bodyPr wrap="square" lIns="0" tIns="0" rIns="0" bIns="0" rtlCol="0" anchor="t"/>
          <a:lstStyle/>
          <a:p>
            <a:pPr marL="0" indent="0">
              <a:lnSpc>
                <a:spcPts val="1450"/>
              </a:lnSpc>
              <a:buNone/>
            </a:pPr>
            <a:r>
              <a:rPr lang="en-US" sz="1100" b="0" kern="0" dirty="0">
                <a:solidFill>
                  <a:srgbClr val="54657E"/>
                </a:solidFill>
                <a:latin typeface="Calibri" pitchFamily="34" charset="0"/>
                <a:ea typeface="Calibri" pitchFamily="34" charset="-122"/>
                <a:cs typeface="Calibri" pitchFamily="34" charset="-120"/>
              </a:rPr>
              <a:t>Hourly sales, inventory, footfall, shelf and chiller sensors</a:t>
            </a:r>
          </a:p>
        </p:txBody>
      </p:sp>
      <p:sp>
        <p:nvSpPr>
          <p:cNvPr id="261" name="Shape 262"/>
          <p:cNvSpPr/>
          <p:nvPr/>
        </p:nvSpPr>
        <p:spPr>
          <a:xfrm>
            <a:off x="8972550" y="2377440"/>
            <a:ext cx="2533650" cy="2286000"/>
          </a:xfrm>
          <a:prstGeom prst="roundRect">
            <a:avLst>
              <a:gd name="adj" fmla="val 383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263" name="Text 264"/>
          <p:cNvSpPr/>
          <p:nvPr/>
        </p:nvSpPr>
        <p:spPr>
          <a:xfrm>
            <a:off x="9201150" y="2624328"/>
            <a:ext cx="2076450" cy="219456"/>
          </a:xfrm>
          <a:prstGeom prst="rect">
            <a:avLst/>
          </a:prstGeom>
          <a:noFill/>
          <a:ln/>
        </p:spPr>
        <p:txBody>
          <a:bodyPr wrap="square" lIns="0" tIns="0" rIns="0" bIns="0" rtlCol="0" anchor="t"/>
          <a:lstStyle/>
          <a:p>
            <a:pPr marL="0" indent="0">
              <a:buNone/>
            </a:pPr>
            <a:r>
              <a:rPr lang="en-US" sz="900" b="1" kern="0" spc="200" dirty="0">
                <a:solidFill>
                  <a:srgbClr val="2E9B5B"/>
                </a:solidFill>
                <a:latin typeface="Calibri" pitchFamily="34" charset="0"/>
                <a:ea typeface="Calibri" pitchFamily="34" charset="-122"/>
                <a:cs typeface="Calibri" pitchFamily="34" charset="-120"/>
              </a:rPr>
              <a:t>ROWS</a:t>
            </a:r>
          </a:p>
        </p:txBody>
      </p:sp>
      <p:sp>
        <p:nvSpPr>
          <p:cNvPr id="265" name="Text 266"/>
          <p:cNvSpPr/>
          <p:nvPr/>
        </p:nvSpPr>
        <p:spPr>
          <a:xfrm>
            <a:off x="9201150" y="2843784"/>
            <a:ext cx="2076450" cy="640080"/>
          </a:xfrm>
          <a:prstGeom prst="rect">
            <a:avLst/>
          </a:prstGeom>
          <a:noFill/>
          <a:ln/>
        </p:spPr>
        <p:txBody>
          <a:bodyPr wrap="square" lIns="0" tIns="0" rIns="0" bIns="0" rtlCol="0" anchor="t"/>
          <a:lstStyle/>
          <a:p>
            <a:pPr marL="0" indent="0">
              <a:buNone/>
            </a:pPr>
            <a:r>
              <a:rPr lang="en-US" sz="3200" b="1" kern="0" dirty="0">
                <a:solidFill>
                  <a:srgbClr val="10294A"/>
                </a:solidFill>
                <a:latin typeface="Bookman Old Style" pitchFamily="34" charset="0"/>
                <a:ea typeface="Bookman Old Style" pitchFamily="34" charset="-122"/>
                <a:cs typeface="Bookman Old Style" pitchFamily="34" charset="-120"/>
              </a:rPr>
              <a:t>4,031</a:t>
            </a:r>
          </a:p>
        </p:txBody>
      </p:sp>
      <p:sp>
        <p:nvSpPr>
          <p:cNvPr id="267" name="Text 268"/>
          <p:cNvSpPr/>
          <p:nvPr/>
        </p:nvSpPr>
        <p:spPr>
          <a:xfrm>
            <a:off x="9201150" y="3529584"/>
            <a:ext cx="2076450" cy="292608"/>
          </a:xfrm>
          <a:prstGeom prst="rect">
            <a:avLst/>
          </a:prstGeom>
          <a:noFill/>
          <a:ln/>
        </p:spPr>
        <p:txBody>
          <a:bodyPr wrap="square" lIns="0" tIns="0" rIns="0" bIns="0" rtlCol="0" anchor="t"/>
          <a:lstStyle/>
          <a:p>
            <a:pPr marL="0" indent="0">
              <a:buNone/>
            </a:pPr>
            <a:r>
              <a:rPr lang="en-US" sz="1400" b="1" kern="0" dirty="0">
                <a:solidFill>
                  <a:srgbClr val="10294A"/>
                </a:solidFill>
                <a:latin typeface="Calibri" pitchFamily="34" charset="0"/>
                <a:ea typeface="Calibri" pitchFamily="34" charset="-122"/>
                <a:cs typeface="Calibri" pitchFamily="34" charset="-120"/>
              </a:rPr>
              <a:t>AI outputs</a:t>
            </a:r>
          </a:p>
        </p:txBody>
      </p:sp>
      <p:sp>
        <p:nvSpPr>
          <p:cNvPr id="269" name="Text 270"/>
          <p:cNvSpPr/>
          <p:nvPr/>
        </p:nvSpPr>
        <p:spPr>
          <a:xfrm>
            <a:off x="9201150" y="3858768"/>
            <a:ext cx="2076450" cy="685800"/>
          </a:xfrm>
          <a:prstGeom prst="rect">
            <a:avLst/>
          </a:prstGeom>
          <a:noFill/>
          <a:ln/>
        </p:spPr>
        <p:txBody>
          <a:bodyPr wrap="square" lIns="0" tIns="0" rIns="0" bIns="0" rtlCol="0" anchor="t"/>
          <a:lstStyle/>
          <a:p>
            <a:pPr marL="0" indent="0">
              <a:lnSpc>
                <a:spcPts val="1450"/>
              </a:lnSpc>
              <a:buNone/>
            </a:pPr>
            <a:r>
              <a:rPr lang="en-US" sz="1100" b="0" kern="0" dirty="0">
                <a:solidFill>
                  <a:srgbClr val="54657E"/>
                </a:solidFill>
                <a:latin typeface="Calibri" pitchFamily="34" charset="0"/>
                <a:ea typeface="Calibri" pitchFamily="34" charset="-122"/>
                <a:cs typeface="Calibri" pitchFamily="34" charset="-120"/>
              </a:rPr>
              <a:t>Alerts, forecasts, tasks, offers — published back, not locked in</a:t>
            </a:r>
          </a:p>
        </p:txBody>
      </p:sp>
      <p:sp>
        <p:nvSpPr>
          <p:cNvPr id="271" name="Shape 272"/>
          <p:cNvSpPr/>
          <p:nvPr/>
        </p:nvSpPr>
        <p:spPr>
          <a:xfrm>
            <a:off x="685800" y="5029200"/>
            <a:ext cx="10820400" cy="933120"/>
          </a:xfrm>
          <a:prstGeom prst="roundRect">
            <a:avLst>
              <a:gd name="adj" fmla="val 3830"/>
            </a:avLst>
          </a:prstGeom>
          <a:solidFill>
            <a:srgbClr val="E9F1FB"/>
          </a:solidFill>
          <a:ln w="12700">
            <a:solidFill>
              <a:srgbClr val="D8E3F0"/>
            </a:solidFill>
            <a:prstDash val="solid"/>
          </a:ln>
        </p:spPr>
        <p:txBody>
          <a:bodyPr/>
          <a:lstStyle/>
          <a:p>
            <a:endParaRPr lang="en-US"/>
          </a:p>
        </p:txBody>
      </p:sp>
      <p:sp>
        <p:nvSpPr>
          <p:cNvPr id="273" name="Text 274"/>
          <p:cNvSpPr/>
          <p:nvPr/>
        </p:nvSpPr>
        <p:spPr>
          <a:xfrm>
            <a:off x="978408" y="5029200"/>
            <a:ext cx="10235184" cy="933120"/>
          </a:xfrm>
          <a:prstGeom prst="rect">
            <a:avLst/>
          </a:prstGeom>
          <a:noFill/>
          <a:ln/>
        </p:spPr>
        <p:txBody>
          <a:bodyPr wrap="square" lIns="0" tIns="0" rIns="0" bIns="0" rtlCol="0" anchor="ctr"/>
          <a:lstStyle/>
          <a:p>
            <a:pPr marL="0" indent="0">
              <a:lnSpc>
                <a:spcPts val="1700"/>
              </a:lnSpc>
              <a:buNone/>
            </a:pPr>
            <a:r>
              <a:rPr lang="en-US" sz="1200" b="1" kern="0" dirty="0">
                <a:solidFill>
                  <a:srgbClr val="10294A"/>
                </a:solidFill>
                <a:latin typeface="Calibri" pitchFamily="34" charset="0"/>
                <a:ea typeface="Calibri" pitchFamily="34" charset="-122"/>
                <a:cs typeface="Calibri" pitchFamily="34" charset="-120"/>
              </a:rPr>
              <a:t>The part worth demonstrating is the fourth box. </a:t>
            </a:r>
            <a:r>
              <a:rPr lang="en-US" sz="1200" b="0" kern="0" dirty="0">
                <a:solidFill>
                  <a:srgbClr val="54657E"/>
                </a:solidFill>
                <a:latin typeface="Calibri" pitchFamily="34" charset="0"/>
                <a:ea typeface="Calibri" pitchFamily="34" charset="-122"/>
                <a:cs typeface="Calibri" pitchFamily="34" charset="-120"/>
              </a:rPr>
              <a:t>Publishing the AI output back into BDC as a data product shows the fabric working in both directions — harmonised data in, scored insight out, available to any other consumer on the tenant.</a:t>
            </a:r>
          </a:p>
        </p:txBody>
      </p:sp>
      <p:sp>
        <p:nvSpPr>
          <p:cNvPr id="275" name="Text 276"/>
          <p:cNvSpPr/>
          <p:nvPr/>
        </p:nvSpPr>
        <p:spPr>
          <a:xfrm>
            <a:off x="11414455" y="6400800"/>
            <a:ext cx="457200" cy="274320"/>
          </a:xfrm>
          <a:prstGeom prst="rect">
            <a:avLst/>
          </a:prstGeom>
          <a:noFill/>
          <a:ln/>
        </p:spPr>
        <p:txBody>
          <a:bodyPr wrap="square" lIns="0" tIns="0" rIns="0" bIns="0" rtlCol="0" anchor="ctr"/>
          <a:lstStyle/>
          <a:p>
            <a:pPr marL="0" indent="0" algn="r">
              <a:buNone/>
            </a:pPr>
            <a:r>
              <a:rPr lang="en-US" sz="900" b="0" kern="0" dirty="0">
                <a:solidFill>
                  <a:srgbClr val="A6B6CC"/>
                </a:solidFill>
                <a:latin typeface="Calibri" pitchFamily="34" charset="0"/>
                <a:ea typeface="Calibri" pitchFamily="34" charset="-122"/>
                <a:cs typeface="Calibri" pitchFamily="34" charset="-120"/>
              </a:rPr>
              <a:t>19</a:t>
            </a:r>
          </a:p>
        </p:txBody>
      </p:sp>
      <p:pic>
        <p:nvPicPr>
          <p:cNvPr id="277" name="Image 278" descr="preencoded.png"/>
          <p:cNvPicPr>
            <a:picLocks noChangeAspect="1"/>
          </p:cNvPicPr>
          <p:nvPr/>
        </p:nvPicPr>
        <p:blipFill>
          <a:blip r:embed="rId9"/>
          <a:stretch>
            <a:fillRect/>
          </a:stretch>
        </p:blipFill>
        <p:spPr>
          <a:xfrm>
            <a:off x="457200" y="6345936"/>
            <a:ext cx="1234440" cy="24075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3F7FB"/>
        </a:solidFill>
        <a:effectLst/>
      </p:bgPr>
    </p:bg>
    <p:spTree>
      <p:nvGrpSpPr>
        <p:cNvPr id="1" name=""/>
        <p:cNvGrpSpPr/>
        <p:nvPr/>
      </p:nvGrpSpPr>
      <p:grpSpPr>
        <a:xfrm>
          <a:off x="0" y="0"/>
          <a:ext cx="0" cy="0"/>
          <a:chOff x="0" y="0"/>
          <a:chExt cx="0" cy="0"/>
        </a:xfrm>
      </p:grpSpPr>
      <p:sp>
        <p:nvSpPr>
          <p:cNvPr id="279" name="Text 280"/>
          <p:cNvSpPr/>
          <p:nvPr/>
        </p:nvSpPr>
        <p:spPr>
          <a:xfrm>
            <a:off x="685800" y="502920"/>
            <a:ext cx="7315200" cy="274320"/>
          </a:xfrm>
          <a:prstGeom prst="rect">
            <a:avLst/>
          </a:prstGeom>
          <a:noFill/>
          <a:ln/>
        </p:spPr>
        <p:txBody>
          <a:bodyPr wrap="square" lIns="0" tIns="0" rIns="0" bIns="0" rtlCol="0" anchor="ctr"/>
          <a:lstStyle/>
          <a:p>
            <a:pPr marL="0" indent="0">
              <a:buNone/>
            </a:pPr>
            <a:r>
              <a:rPr lang="en-US" sz="1200" b="1" kern="0" spc="300" dirty="0">
                <a:solidFill>
                  <a:srgbClr val="1E578D"/>
                </a:solidFill>
                <a:latin typeface="Calibri" pitchFamily="34" charset="0"/>
                <a:ea typeface="Calibri" pitchFamily="34" charset="-122"/>
                <a:cs typeface="Calibri" pitchFamily="34" charset="-120"/>
              </a:rPr>
              <a:t>WHAT WE’D LIKE FROM YOU</a:t>
            </a:r>
          </a:p>
        </p:txBody>
      </p:sp>
      <p:sp>
        <p:nvSpPr>
          <p:cNvPr id="281" name="Text 282"/>
          <p:cNvSpPr/>
          <p:nvPr/>
        </p:nvSpPr>
        <p:spPr>
          <a:xfrm>
            <a:off x="658368" y="795528"/>
            <a:ext cx="10789920" cy="548640"/>
          </a:xfrm>
          <a:prstGeom prst="rect">
            <a:avLst/>
          </a:prstGeom>
          <a:noFill/>
          <a:ln/>
        </p:spPr>
        <p:txBody>
          <a:bodyPr wrap="square" lIns="0" tIns="0" rIns="0" bIns="0" rtlCol="0" anchor="ctr"/>
          <a:lstStyle/>
          <a:p>
            <a:pPr marL="0" indent="0">
              <a:buNone/>
            </a:pPr>
            <a:r>
              <a:rPr lang="en-US" sz="3000" b="1" kern="0" dirty="0">
                <a:solidFill>
                  <a:srgbClr val="10294A"/>
                </a:solidFill>
                <a:latin typeface="Bookman Old Style" pitchFamily="34" charset="0"/>
                <a:ea typeface="Bookman Old Style" pitchFamily="34" charset="-122"/>
                <a:cs typeface="Bookman Old Style" pitchFamily="34" charset="-120"/>
              </a:rPr>
              <a:t>Four things that unblock the next stage</a:t>
            </a:r>
          </a:p>
        </p:txBody>
      </p:sp>
      <p:sp>
        <p:nvSpPr>
          <p:cNvPr id="283" name="Shape 284"/>
          <p:cNvSpPr/>
          <p:nvPr/>
        </p:nvSpPr>
        <p:spPr>
          <a:xfrm>
            <a:off x="685800" y="1783080"/>
            <a:ext cx="10820400" cy="749808"/>
          </a:xfrm>
          <a:prstGeom prst="roundRect">
            <a:avLst>
              <a:gd name="adj" fmla="val 383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285" name="Text 286"/>
          <p:cNvSpPr/>
          <p:nvPr/>
        </p:nvSpPr>
        <p:spPr>
          <a:xfrm>
            <a:off x="914400" y="1783080"/>
            <a:ext cx="800100" cy="749808"/>
          </a:xfrm>
          <a:prstGeom prst="rect">
            <a:avLst/>
          </a:prstGeom>
          <a:noFill/>
          <a:ln/>
        </p:spPr>
        <p:txBody>
          <a:bodyPr wrap="square" lIns="0" tIns="0" rIns="0" bIns="0" rtlCol="0" anchor="ctr"/>
          <a:lstStyle/>
          <a:p>
            <a:pPr marL="0" indent="0">
              <a:buNone/>
            </a:pPr>
            <a:r>
              <a:rPr lang="en-US" sz="2600" b="1" kern="0" dirty="0">
                <a:solidFill>
                  <a:srgbClr val="D6E4F2"/>
                </a:solidFill>
                <a:latin typeface="Bookman Old Style" pitchFamily="34" charset="0"/>
                <a:ea typeface="Bookman Old Style" pitchFamily="34" charset="-122"/>
                <a:cs typeface="Bookman Old Style" pitchFamily="34" charset="-120"/>
              </a:rPr>
              <a:t>01</a:t>
            </a:r>
          </a:p>
        </p:txBody>
      </p:sp>
      <p:sp>
        <p:nvSpPr>
          <p:cNvPr id="287" name="Shape 288"/>
          <p:cNvSpPr/>
          <p:nvPr/>
        </p:nvSpPr>
        <p:spPr>
          <a:xfrm>
            <a:off x="1783080" y="1874520"/>
            <a:ext cx="566928" cy="566928"/>
          </a:xfrm>
          <a:prstGeom prst="ellipse">
            <a:avLst/>
          </a:prstGeom>
          <a:solidFill>
            <a:srgbClr val="EEF3FA"/>
          </a:solidFill>
          <a:ln/>
        </p:spPr>
        <p:txBody>
          <a:bodyPr/>
          <a:lstStyle/>
          <a:p>
            <a:endParaRPr lang="en-US"/>
          </a:p>
        </p:txBody>
      </p:sp>
      <p:pic>
        <p:nvPicPr>
          <p:cNvPr id="289" name="Image 290" descr="preencoded.png"/>
          <p:cNvPicPr>
            <a:picLocks noChangeAspect="1"/>
          </p:cNvPicPr>
          <p:nvPr/>
        </p:nvPicPr>
        <p:blipFill>
          <a:blip r:embed="rId3"/>
          <a:stretch>
            <a:fillRect/>
          </a:stretch>
        </p:blipFill>
        <p:spPr>
          <a:xfrm>
            <a:off x="1919143" y="2010583"/>
            <a:ext cx="294802" cy="294802"/>
          </a:xfrm>
          <a:prstGeom prst="rect">
            <a:avLst/>
          </a:prstGeom>
        </p:spPr>
      </p:pic>
      <p:sp>
        <p:nvSpPr>
          <p:cNvPr id="291" name="Text 292"/>
          <p:cNvSpPr/>
          <p:nvPr/>
        </p:nvSpPr>
        <p:spPr>
          <a:xfrm>
            <a:off x="2560320" y="1920240"/>
            <a:ext cx="8229600" cy="320040"/>
          </a:xfrm>
          <a:prstGeom prst="rect">
            <a:avLst/>
          </a:prstGeom>
          <a:noFill/>
          <a:ln/>
        </p:spPr>
        <p:txBody>
          <a:bodyPr wrap="square" lIns="0" tIns="0" rIns="0" bIns="0" rtlCol="0" anchor="t"/>
          <a:lstStyle/>
          <a:p>
            <a:pPr marL="0" indent="0">
              <a:buNone/>
            </a:pPr>
            <a:r>
              <a:rPr lang="en-US" sz="1550" b="1" kern="0" dirty="0">
                <a:solidFill>
                  <a:srgbClr val="10294A"/>
                </a:solidFill>
                <a:latin typeface="Calibri" pitchFamily="34" charset="0"/>
                <a:ea typeface="Calibri" pitchFamily="34" charset="-122"/>
                <a:cs typeface="Calibri" pitchFamily="34" charset="-120"/>
              </a:rPr>
              <a:t>Feedback on the seven scenarios</a:t>
            </a:r>
          </a:p>
        </p:txBody>
      </p:sp>
      <p:sp>
        <p:nvSpPr>
          <p:cNvPr id="293" name="Text 294"/>
          <p:cNvSpPr/>
          <p:nvPr/>
        </p:nvSpPr>
        <p:spPr>
          <a:xfrm>
            <a:off x="2560320" y="2231136"/>
            <a:ext cx="8686800" cy="246888"/>
          </a:xfrm>
          <a:prstGeom prst="rect">
            <a:avLst/>
          </a:prstGeom>
          <a:noFill/>
          <a:ln/>
        </p:spPr>
        <p:txBody>
          <a:bodyPr wrap="square" lIns="0" tIns="0" rIns="0" bIns="0" rtlCol="0" anchor="t"/>
          <a:lstStyle/>
          <a:p>
            <a:pPr marL="0" indent="0">
              <a:buNone/>
            </a:pPr>
            <a:r>
              <a:rPr lang="en-US" sz="1150" b="0" kern="0" dirty="0">
                <a:solidFill>
                  <a:srgbClr val="54657E"/>
                </a:solidFill>
                <a:latin typeface="Calibri" pitchFamily="34" charset="0"/>
                <a:ea typeface="Calibri" pitchFamily="34" charset="-122"/>
                <a:cs typeface="Calibri" pitchFamily="34" charset="-120"/>
              </a:rPr>
              <a:t>Which matter most for S.Mart, S.Market and S.Fashion — and what is missing.</a:t>
            </a:r>
          </a:p>
        </p:txBody>
      </p:sp>
      <p:sp>
        <p:nvSpPr>
          <p:cNvPr id="295" name="Shape 296"/>
          <p:cNvSpPr/>
          <p:nvPr/>
        </p:nvSpPr>
        <p:spPr>
          <a:xfrm>
            <a:off x="685800" y="2670048"/>
            <a:ext cx="10820400" cy="749808"/>
          </a:xfrm>
          <a:prstGeom prst="roundRect">
            <a:avLst>
              <a:gd name="adj" fmla="val 383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297" name="Text 298"/>
          <p:cNvSpPr/>
          <p:nvPr/>
        </p:nvSpPr>
        <p:spPr>
          <a:xfrm>
            <a:off x="914400" y="2670048"/>
            <a:ext cx="800100" cy="749808"/>
          </a:xfrm>
          <a:prstGeom prst="rect">
            <a:avLst/>
          </a:prstGeom>
          <a:noFill/>
          <a:ln/>
        </p:spPr>
        <p:txBody>
          <a:bodyPr wrap="square" lIns="0" tIns="0" rIns="0" bIns="0" rtlCol="0" anchor="ctr"/>
          <a:lstStyle/>
          <a:p>
            <a:pPr marL="0" indent="0">
              <a:buNone/>
            </a:pPr>
            <a:r>
              <a:rPr lang="en-US" sz="2600" b="1" kern="0" dirty="0">
                <a:solidFill>
                  <a:srgbClr val="D6E4F2"/>
                </a:solidFill>
                <a:latin typeface="Bookman Old Style" pitchFamily="34" charset="0"/>
                <a:ea typeface="Bookman Old Style" pitchFamily="34" charset="-122"/>
                <a:cs typeface="Bookman Old Style" pitchFamily="34" charset="-120"/>
              </a:rPr>
              <a:t>02</a:t>
            </a:r>
          </a:p>
        </p:txBody>
      </p:sp>
      <p:sp>
        <p:nvSpPr>
          <p:cNvPr id="299" name="Shape 300"/>
          <p:cNvSpPr/>
          <p:nvPr/>
        </p:nvSpPr>
        <p:spPr>
          <a:xfrm>
            <a:off x="1783080" y="2761488"/>
            <a:ext cx="566928" cy="566928"/>
          </a:xfrm>
          <a:prstGeom prst="ellipse">
            <a:avLst/>
          </a:prstGeom>
          <a:solidFill>
            <a:srgbClr val="EEF3FA"/>
          </a:solidFill>
          <a:ln/>
        </p:spPr>
        <p:txBody>
          <a:bodyPr/>
          <a:lstStyle/>
          <a:p>
            <a:endParaRPr lang="en-US"/>
          </a:p>
        </p:txBody>
      </p:sp>
      <p:pic>
        <p:nvPicPr>
          <p:cNvPr id="301" name="Image 302" descr="preencoded.png"/>
          <p:cNvPicPr>
            <a:picLocks noChangeAspect="1"/>
          </p:cNvPicPr>
          <p:nvPr/>
        </p:nvPicPr>
        <p:blipFill>
          <a:blip r:embed="rId4"/>
          <a:stretch>
            <a:fillRect/>
          </a:stretch>
        </p:blipFill>
        <p:spPr>
          <a:xfrm>
            <a:off x="1919143" y="2897551"/>
            <a:ext cx="294802" cy="294802"/>
          </a:xfrm>
          <a:prstGeom prst="rect">
            <a:avLst/>
          </a:prstGeom>
        </p:spPr>
      </p:pic>
      <p:sp>
        <p:nvSpPr>
          <p:cNvPr id="303" name="Text 304"/>
          <p:cNvSpPr/>
          <p:nvPr/>
        </p:nvSpPr>
        <p:spPr>
          <a:xfrm>
            <a:off x="2560320" y="2807208"/>
            <a:ext cx="8229600" cy="320040"/>
          </a:xfrm>
          <a:prstGeom prst="rect">
            <a:avLst/>
          </a:prstGeom>
          <a:noFill/>
          <a:ln/>
        </p:spPr>
        <p:txBody>
          <a:bodyPr wrap="square" lIns="0" tIns="0" rIns="0" bIns="0" rtlCol="0" anchor="t"/>
          <a:lstStyle/>
          <a:p>
            <a:pPr marL="0" indent="0">
              <a:buNone/>
            </a:pPr>
            <a:r>
              <a:rPr lang="en-US" sz="1550" b="1" kern="0" dirty="0">
                <a:solidFill>
                  <a:srgbClr val="10294A"/>
                </a:solidFill>
                <a:latin typeface="Calibri" pitchFamily="34" charset="0"/>
                <a:ea typeface="Calibri" pitchFamily="34" charset="-122"/>
                <a:cs typeface="Calibri" pitchFamily="34" charset="-120"/>
              </a:rPr>
              <a:t>A view on the BDC direction</a:t>
            </a:r>
          </a:p>
        </p:txBody>
      </p:sp>
      <p:sp>
        <p:nvSpPr>
          <p:cNvPr id="305" name="Text 306"/>
          <p:cNvSpPr/>
          <p:nvPr/>
        </p:nvSpPr>
        <p:spPr>
          <a:xfrm>
            <a:off x="2560320" y="3118104"/>
            <a:ext cx="8686800" cy="246888"/>
          </a:xfrm>
          <a:prstGeom prst="rect">
            <a:avLst/>
          </a:prstGeom>
          <a:noFill/>
          <a:ln/>
        </p:spPr>
        <p:txBody>
          <a:bodyPr wrap="square" lIns="0" tIns="0" rIns="0" bIns="0" rtlCol="0" anchor="t"/>
          <a:lstStyle/>
          <a:p>
            <a:pPr marL="0" indent="0">
              <a:buNone/>
            </a:pPr>
            <a:r>
              <a:rPr lang="en-US" sz="1150" b="0" kern="0" dirty="0">
                <a:solidFill>
                  <a:srgbClr val="54657E"/>
                </a:solidFill>
                <a:latin typeface="Calibri" pitchFamily="34" charset="0"/>
                <a:ea typeface="Calibri" pitchFamily="34" charset="-122"/>
                <a:cs typeface="Calibri" pitchFamily="34" charset="-120"/>
              </a:rPr>
              <a:t>Whether to build custom retail data products or start from the standard catalogue.</a:t>
            </a:r>
          </a:p>
        </p:txBody>
      </p:sp>
      <p:sp>
        <p:nvSpPr>
          <p:cNvPr id="307" name="Shape 308"/>
          <p:cNvSpPr/>
          <p:nvPr/>
        </p:nvSpPr>
        <p:spPr>
          <a:xfrm>
            <a:off x="685800" y="3557016"/>
            <a:ext cx="10820400" cy="749808"/>
          </a:xfrm>
          <a:prstGeom prst="roundRect">
            <a:avLst>
              <a:gd name="adj" fmla="val 383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309" name="Text 310"/>
          <p:cNvSpPr/>
          <p:nvPr/>
        </p:nvSpPr>
        <p:spPr>
          <a:xfrm>
            <a:off x="914400" y="3557016"/>
            <a:ext cx="800100" cy="749808"/>
          </a:xfrm>
          <a:prstGeom prst="rect">
            <a:avLst/>
          </a:prstGeom>
          <a:noFill/>
          <a:ln/>
        </p:spPr>
        <p:txBody>
          <a:bodyPr wrap="square" lIns="0" tIns="0" rIns="0" bIns="0" rtlCol="0" anchor="ctr"/>
          <a:lstStyle/>
          <a:p>
            <a:pPr marL="0" indent="0">
              <a:buNone/>
            </a:pPr>
            <a:r>
              <a:rPr lang="en-US" sz="2600" b="1" kern="0" dirty="0">
                <a:solidFill>
                  <a:srgbClr val="D6E4F2"/>
                </a:solidFill>
                <a:latin typeface="Bookman Old Style" pitchFamily="34" charset="0"/>
                <a:ea typeface="Bookman Old Style" pitchFamily="34" charset="-122"/>
                <a:cs typeface="Bookman Old Style" pitchFamily="34" charset="-120"/>
              </a:rPr>
              <a:t>03</a:t>
            </a:r>
          </a:p>
        </p:txBody>
      </p:sp>
      <p:sp>
        <p:nvSpPr>
          <p:cNvPr id="311" name="Shape 312"/>
          <p:cNvSpPr/>
          <p:nvPr/>
        </p:nvSpPr>
        <p:spPr>
          <a:xfrm>
            <a:off x="1783080" y="3648456"/>
            <a:ext cx="566928" cy="566928"/>
          </a:xfrm>
          <a:prstGeom prst="ellipse">
            <a:avLst/>
          </a:prstGeom>
          <a:solidFill>
            <a:srgbClr val="EEF3FA"/>
          </a:solidFill>
          <a:ln/>
        </p:spPr>
        <p:txBody>
          <a:bodyPr/>
          <a:lstStyle/>
          <a:p>
            <a:endParaRPr lang="en-US"/>
          </a:p>
        </p:txBody>
      </p:sp>
      <p:pic>
        <p:nvPicPr>
          <p:cNvPr id="313" name="Image 314" descr="preencoded.png"/>
          <p:cNvPicPr>
            <a:picLocks noChangeAspect="1"/>
          </p:cNvPicPr>
          <p:nvPr/>
        </p:nvPicPr>
        <p:blipFill>
          <a:blip r:embed="rId5"/>
          <a:stretch>
            <a:fillRect/>
          </a:stretch>
        </p:blipFill>
        <p:spPr>
          <a:xfrm>
            <a:off x="1919143" y="3784519"/>
            <a:ext cx="294802" cy="294802"/>
          </a:xfrm>
          <a:prstGeom prst="rect">
            <a:avLst/>
          </a:prstGeom>
        </p:spPr>
      </p:pic>
      <p:sp>
        <p:nvSpPr>
          <p:cNvPr id="315" name="Text 316"/>
          <p:cNvSpPr/>
          <p:nvPr/>
        </p:nvSpPr>
        <p:spPr>
          <a:xfrm>
            <a:off x="2560320" y="3694176"/>
            <a:ext cx="8229600" cy="320040"/>
          </a:xfrm>
          <a:prstGeom prst="rect">
            <a:avLst/>
          </a:prstGeom>
          <a:noFill/>
          <a:ln/>
        </p:spPr>
        <p:txBody>
          <a:bodyPr wrap="square" lIns="0" tIns="0" rIns="0" bIns="0" rtlCol="0" anchor="t"/>
          <a:lstStyle/>
          <a:p>
            <a:pPr marL="0" indent="0">
              <a:buNone/>
            </a:pPr>
            <a:r>
              <a:rPr lang="en-US" sz="1550" b="1" kern="0" dirty="0">
                <a:solidFill>
                  <a:srgbClr val="10294A"/>
                </a:solidFill>
                <a:latin typeface="Calibri" pitchFamily="34" charset="0"/>
                <a:ea typeface="Calibri" pitchFamily="34" charset="-122"/>
                <a:cs typeface="Calibri" pitchFamily="34" charset="-120"/>
              </a:rPr>
              <a:t>A BDC entitlement to work against</a:t>
            </a:r>
          </a:p>
        </p:txBody>
      </p:sp>
      <p:sp>
        <p:nvSpPr>
          <p:cNvPr id="317" name="Text 318"/>
          <p:cNvSpPr/>
          <p:nvPr/>
        </p:nvSpPr>
        <p:spPr>
          <a:xfrm>
            <a:off x="2560320" y="4005072"/>
            <a:ext cx="8686800" cy="246888"/>
          </a:xfrm>
          <a:prstGeom prst="rect">
            <a:avLst/>
          </a:prstGeom>
          <a:noFill/>
          <a:ln/>
        </p:spPr>
        <p:txBody>
          <a:bodyPr wrap="square" lIns="0" tIns="0" rIns="0" bIns="0" rtlCol="0" anchor="t"/>
          <a:lstStyle/>
          <a:p>
            <a:pPr marL="0" indent="0">
              <a:buNone/>
            </a:pPr>
            <a:r>
              <a:rPr lang="en-US" sz="1150" b="0" kern="0" dirty="0">
                <a:solidFill>
                  <a:srgbClr val="54657E"/>
                </a:solidFill>
                <a:latin typeface="Calibri" pitchFamily="34" charset="0"/>
                <a:ea typeface="Calibri" pitchFamily="34" charset="-122"/>
                <a:cs typeface="Calibri" pitchFamily="34" charset="-120"/>
              </a:rPr>
              <a:t>Nothing in the BDC architecture is validated until it runs on a real tenant.</a:t>
            </a:r>
          </a:p>
        </p:txBody>
      </p:sp>
      <p:sp>
        <p:nvSpPr>
          <p:cNvPr id="319" name="Shape 320"/>
          <p:cNvSpPr/>
          <p:nvPr/>
        </p:nvSpPr>
        <p:spPr>
          <a:xfrm>
            <a:off x="685800" y="4443984"/>
            <a:ext cx="10820400" cy="749808"/>
          </a:xfrm>
          <a:prstGeom prst="roundRect">
            <a:avLst>
              <a:gd name="adj" fmla="val 3830"/>
            </a:avLst>
          </a:prstGeom>
          <a:solidFill>
            <a:srgbClr val="FFFFFF"/>
          </a:solidFill>
          <a:ln w="12700">
            <a:solidFill>
              <a:srgbClr val="D8E3F0"/>
            </a:solidFill>
            <a:prstDash val="solid"/>
          </a:ln>
          <a:effectLst>
            <a:outerShdw blurRad="88900" dist="25400" dir="5400000" algn="bl" rotWithShape="0">
              <a:srgbClr val="10294A">
                <a:alpha val="12000"/>
              </a:srgbClr>
            </a:outerShdw>
          </a:effectLst>
        </p:spPr>
        <p:txBody>
          <a:bodyPr/>
          <a:lstStyle/>
          <a:p>
            <a:endParaRPr lang="en-US"/>
          </a:p>
        </p:txBody>
      </p:sp>
      <p:sp>
        <p:nvSpPr>
          <p:cNvPr id="321" name="Text 322"/>
          <p:cNvSpPr/>
          <p:nvPr/>
        </p:nvSpPr>
        <p:spPr>
          <a:xfrm>
            <a:off x="914400" y="4443984"/>
            <a:ext cx="800100" cy="749808"/>
          </a:xfrm>
          <a:prstGeom prst="rect">
            <a:avLst/>
          </a:prstGeom>
          <a:noFill/>
          <a:ln/>
        </p:spPr>
        <p:txBody>
          <a:bodyPr wrap="square" lIns="0" tIns="0" rIns="0" bIns="0" rtlCol="0" anchor="ctr"/>
          <a:lstStyle/>
          <a:p>
            <a:pPr marL="0" indent="0">
              <a:buNone/>
            </a:pPr>
            <a:r>
              <a:rPr lang="en-US" sz="2600" b="1" kern="0" dirty="0">
                <a:solidFill>
                  <a:srgbClr val="D6E4F2"/>
                </a:solidFill>
                <a:latin typeface="Bookman Old Style" pitchFamily="34" charset="0"/>
                <a:ea typeface="Bookman Old Style" pitchFamily="34" charset="-122"/>
                <a:cs typeface="Bookman Old Style" pitchFamily="34" charset="-120"/>
              </a:rPr>
              <a:t>04</a:t>
            </a:r>
          </a:p>
        </p:txBody>
      </p:sp>
      <p:sp>
        <p:nvSpPr>
          <p:cNvPr id="323" name="Shape 324"/>
          <p:cNvSpPr/>
          <p:nvPr/>
        </p:nvSpPr>
        <p:spPr>
          <a:xfrm>
            <a:off x="1783080" y="4535424"/>
            <a:ext cx="566928" cy="566928"/>
          </a:xfrm>
          <a:prstGeom prst="ellipse">
            <a:avLst/>
          </a:prstGeom>
          <a:solidFill>
            <a:srgbClr val="EEF3FA"/>
          </a:solidFill>
          <a:ln/>
        </p:spPr>
        <p:txBody>
          <a:bodyPr/>
          <a:lstStyle/>
          <a:p>
            <a:endParaRPr lang="en-US"/>
          </a:p>
        </p:txBody>
      </p:sp>
      <p:pic>
        <p:nvPicPr>
          <p:cNvPr id="325" name="Image 326" descr="preencoded.png"/>
          <p:cNvPicPr>
            <a:picLocks noChangeAspect="1"/>
          </p:cNvPicPr>
          <p:nvPr/>
        </p:nvPicPr>
        <p:blipFill>
          <a:blip r:embed="rId6"/>
          <a:stretch>
            <a:fillRect/>
          </a:stretch>
        </p:blipFill>
        <p:spPr>
          <a:xfrm>
            <a:off x="1919143" y="4671487"/>
            <a:ext cx="294802" cy="294802"/>
          </a:xfrm>
          <a:prstGeom prst="rect">
            <a:avLst/>
          </a:prstGeom>
        </p:spPr>
      </p:pic>
      <p:sp>
        <p:nvSpPr>
          <p:cNvPr id="327" name="Text 328"/>
          <p:cNvSpPr/>
          <p:nvPr/>
        </p:nvSpPr>
        <p:spPr>
          <a:xfrm>
            <a:off x="2560320" y="4581144"/>
            <a:ext cx="8229600" cy="320040"/>
          </a:xfrm>
          <a:prstGeom prst="rect">
            <a:avLst/>
          </a:prstGeom>
          <a:noFill/>
          <a:ln/>
        </p:spPr>
        <p:txBody>
          <a:bodyPr wrap="square" lIns="0" tIns="0" rIns="0" bIns="0" rtlCol="0" anchor="t"/>
          <a:lstStyle/>
          <a:p>
            <a:pPr marL="0" indent="0">
              <a:buNone/>
            </a:pPr>
            <a:r>
              <a:rPr lang="en-US" sz="1550" b="1" kern="0" dirty="0">
                <a:solidFill>
                  <a:srgbClr val="10294A"/>
                </a:solidFill>
                <a:latin typeface="Calibri" pitchFamily="34" charset="0"/>
                <a:ea typeface="Calibri" pitchFamily="34" charset="-122"/>
                <a:cs typeface="Calibri" pitchFamily="34" charset="-120"/>
              </a:rPr>
              <a:t>A second, non-SAP data source</a:t>
            </a:r>
          </a:p>
        </p:txBody>
      </p:sp>
      <p:sp>
        <p:nvSpPr>
          <p:cNvPr id="329" name="Text 330"/>
          <p:cNvSpPr/>
          <p:nvPr/>
        </p:nvSpPr>
        <p:spPr>
          <a:xfrm>
            <a:off x="2560320" y="4892040"/>
            <a:ext cx="8686800" cy="246888"/>
          </a:xfrm>
          <a:prstGeom prst="rect">
            <a:avLst/>
          </a:prstGeom>
          <a:noFill/>
          <a:ln/>
        </p:spPr>
        <p:txBody>
          <a:bodyPr wrap="square" lIns="0" tIns="0" rIns="0" bIns="0" rtlCol="0" anchor="t"/>
          <a:lstStyle/>
          <a:p>
            <a:pPr marL="0" indent="0">
              <a:buNone/>
            </a:pPr>
            <a:r>
              <a:rPr lang="en-US" sz="1150" b="0" kern="0" dirty="0">
                <a:solidFill>
                  <a:srgbClr val="54657E"/>
                </a:solidFill>
                <a:latin typeface="Calibri" pitchFamily="34" charset="0"/>
                <a:ea typeface="Calibri" pitchFamily="34" charset="-122"/>
                <a:cs typeface="Calibri" pitchFamily="34" charset="-120"/>
              </a:rPr>
              <a:t>Harmonisation cannot be shown with one source. A loyalty or supplier feed would do.</a:t>
            </a:r>
          </a:p>
        </p:txBody>
      </p:sp>
      <p:sp>
        <p:nvSpPr>
          <p:cNvPr id="331" name="Shape 332"/>
          <p:cNvSpPr/>
          <p:nvPr/>
        </p:nvSpPr>
        <p:spPr>
          <a:xfrm>
            <a:off x="685800" y="5303520"/>
            <a:ext cx="10820400" cy="640080"/>
          </a:xfrm>
          <a:prstGeom prst="roundRect">
            <a:avLst>
              <a:gd name="adj" fmla="val 3830"/>
            </a:avLst>
          </a:prstGeom>
          <a:solidFill>
            <a:srgbClr val="E9F1FB"/>
          </a:solidFill>
          <a:ln w="12700">
            <a:solidFill>
              <a:srgbClr val="D8E3F0"/>
            </a:solidFill>
            <a:prstDash val="solid"/>
          </a:ln>
        </p:spPr>
        <p:txBody>
          <a:bodyPr/>
          <a:lstStyle/>
          <a:p>
            <a:endParaRPr lang="en-US"/>
          </a:p>
        </p:txBody>
      </p:sp>
      <p:sp>
        <p:nvSpPr>
          <p:cNvPr id="333" name="Text 334"/>
          <p:cNvSpPr/>
          <p:nvPr/>
        </p:nvSpPr>
        <p:spPr>
          <a:xfrm>
            <a:off x="978408" y="5303520"/>
            <a:ext cx="10235184" cy="640080"/>
          </a:xfrm>
          <a:prstGeom prst="rect">
            <a:avLst/>
          </a:prstGeom>
          <a:noFill/>
          <a:ln/>
        </p:spPr>
        <p:txBody>
          <a:bodyPr wrap="square" lIns="0" tIns="0" rIns="0" bIns="0" rtlCol="0" anchor="ctr"/>
          <a:lstStyle/>
          <a:p>
            <a:pPr marL="0" indent="0">
              <a:buNone/>
            </a:pPr>
            <a:r>
              <a:rPr lang="en-US" sz="1200" b="1" kern="0" dirty="0">
                <a:solidFill>
                  <a:srgbClr val="10294A"/>
                </a:solidFill>
                <a:latin typeface="Calibri" pitchFamily="34" charset="0"/>
                <a:ea typeface="Calibri" pitchFamily="34" charset="-122"/>
                <a:cs typeface="Calibri" pitchFamily="34" charset="-120"/>
              </a:rPr>
              <a:t>We are not asking for scope. </a:t>
            </a:r>
            <a:r>
              <a:rPr lang="en-US" sz="1200" b="0" kern="0" dirty="0">
                <a:solidFill>
                  <a:srgbClr val="54657E"/>
                </a:solidFill>
                <a:latin typeface="Calibri" pitchFamily="34" charset="0"/>
                <a:ea typeface="Calibri" pitchFamily="34" charset="-122"/>
                <a:cs typeface="Calibri" pitchFamily="34" charset="-120"/>
              </a:rPr>
              <a:t>We are asking for the two inputs — a tenant and a second source — that turn the BDC slide from an architecture into a demo.</a:t>
            </a:r>
          </a:p>
        </p:txBody>
      </p:sp>
      <p:sp>
        <p:nvSpPr>
          <p:cNvPr id="335" name="Text 336"/>
          <p:cNvSpPr/>
          <p:nvPr/>
        </p:nvSpPr>
        <p:spPr>
          <a:xfrm>
            <a:off x="11414455" y="6400800"/>
            <a:ext cx="457200" cy="274320"/>
          </a:xfrm>
          <a:prstGeom prst="rect">
            <a:avLst/>
          </a:prstGeom>
          <a:noFill/>
          <a:ln/>
        </p:spPr>
        <p:txBody>
          <a:bodyPr wrap="square" lIns="0" tIns="0" rIns="0" bIns="0" rtlCol="0" anchor="ctr"/>
          <a:lstStyle/>
          <a:p>
            <a:pPr marL="0" indent="0" algn="r">
              <a:buNone/>
            </a:pPr>
            <a:r>
              <a:rPr lang="en-US" sz="900" b="0" kern="0" dirty="0">
                <a:solidFill>
                  <a:srgbClr val="A6B6CC"/>
                </a:solidFill>
                <a:latin typeface="Calibri" pitchFamily="34" charset="0"/>
                <a:ea typeface="Calibri" pitchFamily="34" charset="-122"/>
                <a:cs typeface="Calibri" pitchFamily="34" charset="-120"/>
              </a:rPr>
              <a:t>24</a:t>
            </a:r>
          </a:p>
        </p:txBody>
      </p:sp>
      <p:pic>
        <p:nvPicPr>
          <p:cNvPr id="337" name="Image 338" descr="preencoded.png"/>
          <p:cNvPicPr>
            <a:picLocks noChangeAspect="1"/>
          </p:cNvPicPr>
          <p:nvPr/>
        </p:nvPicPr>
        <p:blipFill>
          <a:blip r:embed="rId9"/>
          <a:stretch>
            <a:fillRect/>
          </a:stretch>
        </p:blipFill>
        <p:spPr>
          <a:xfrm>
            <a:off x="457200" y="6345936"/>
            <a:ext cx="1234440" cy="24075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4438</Words>
  <Application>Microsoft Macintosh PowerPoint</Application>
  <PresentationFormat>Widescreen</PresentationFormat>
  <Paragraphs>393</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Bookman Old Style</vt:lpstr>
      <vt:lpstr>Calibri</vt:lpstr>
      <vt:lpstr>Consolas</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MSITEK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Retail AI</dc:title>
  <dc:subject>PptxGenJS Presentation</dc:subject>
  <dc:creator>MSITEK</dc:creator>
  <cp:lastModifiedBy>Divyansh Maurya</cp:lastModifiedBy>
  <cp:revision>3</cp:revision>
  <dcterms:created xsi:type="dcterms:W3CDTF">2026-08-12T05:29:54Z</dcterms:created>
  <dcterms:modified xsi:type="dcterms:W3CDTF">2026-08-12T06:13:39Z</dcterms:modified>
</cp:coreProperties>
</file>